
<file path=[Content_Types].xml><?xml version="1.0" encoding="utf-8"?>
<Types xmlns="http://schemas.openxmlformats.org/package/2006/content-types">
  <Default Extension="rels" ContentType="application/vnd.openxmlformats-package.relationships+xml"/>
  <Default Extension="xml" ContentType="application/xml"/>
  <Override PartName="/docProps/core.xml" ContentType="application/vnd.openxmlformats-package.core-properties+xml"/>
  <Default Extension="jpeg" ContentType="image/jpeg"/>
  <Default Extension="png" ContentType="image/png"/>
  <Override PartName="/ppt/presentation.xml" ContentType="application/vnd.openxmlformats-officedocument.presentationml.presentation.main+xml"/>
  <Override PartName="/ppt/slideMasters/slideMaster.xml" ContentType="application/vnd.openxmlformats-officedocument.presentationml.slideMaster+xml"/>
  <Override PartName="/ppt/slideLayouts/slideLayout.xml" ContentType="application/vnd.openxmlformats-officedocument.presentationml.slideLayout+xml"/>
  <Override PartName="/ppt/theme/theme.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Types>
</file>

<file path=_rels/.rels>&#65279;<?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p="http://schemas.openxmlformats.org/presentationml/2006/main" xmlns:a="http://schemas.openxmlformats.org/drawingml/2006/main" xmlns:r="http://schemas.openxmlformats.org/officeDocument/2006/relationships">
  <p:sldMasterIdLst>
    <p:sldMasterId id="2147483648" r:id="rId1"/>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x="7772400" cy="10058400"/>
  <p:notesSz cx="6858000" cy="9144000"/>
</p:presentation>
</file>

<file path=ppt/presProps.xml><?xml version="1.0" encoding="utf-8"?>
<p:presentationPr xmlns:p="http://schemas.openxmlformats.org/presentationml/2006/main" xmlns:a="http://schemas.openxmlformats.org/drawingml/2006/main" xmlns:r="http://schemas.openxmlformats.org/officeDocument/2006/relationships">
</p:presentationPr>
</file>

<file path=ppt/tableStyles.xml><?xml version="1.0" encoding="utf-8"?>
<a:tblStyleLst xmlns:a="http://schemas.openxmlformats.org/drawingml/2006/main" def="{5C22544A-7EE6-4342-B048-85BDC9FD1C3A}">
</a:tblStyleLst>
</file>

<file path=ppt/_rels/presentation.xml.rels>&#65279;<?xml version="1.0" encoding="UTF-8" standalone="yes"?>
<Relationships xmlns="http://schemas.openxmlformats.org/package/2006/relationships"><Relationship Id="rId1" Type="http://schemas.openxmlformats.org/officeDocument/2006/relationships/slideMaster" Target="slideMasters/slideMaster.xml"/><Relationship Id="rId2" Type="http://schemas.openxmlformats.org/officeDocument/2006/relationships/theme" Target="theme/theme.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s>
</file>

<file path=ppt/slideLayouts/_rels/slideLayout.xml.rels>&#65279;<?xml version="1.0" encoding="UTF-8" standalone="yes"?>
<Relationships xmlns="http://schemas.openxmlformats.org/package/2006/relationships"><Relationship Id="rId1" Type="http://schemas.openxmlformats.org/officeDocument/2006/relationships/slideMaster" Target="../slideMasters/slideMaster.xml"/></Relationships>
</file>

<file path=ppt/slideLayouts/slideLayout.xml><?xml version="1.0" encoding="utf-8"?>
<p:sldLayout xmlns:p="http://schemas.openxmlformats.org/presentationml/2006/main" xmlns:a="http://schemas.openxmlformats.org/drawingml/2006/main" xmlns:r="http://schemas.openxmlformats.org/officeDocument/2006/relationships">
  <p:cSld>
    <p:spTree>
      <p:nvGrpSpPr>
        <p:cNvPr id="1" name=""/>
        <p:cNvGrpSpPr/>
        <p:nvPr/>
      </p:nvGrpSpPr>
      <p:grpSpPr/>
    </p:spTree>
  </p:cSld>
  <p:clrMapOvr>
    <a:masterClrMapping/>
  </p:clrMapOvr>
</p:sldLayout>
</file>

<file path=ppt/slideMasters/_rels/slideMaster.xml.rels>&#65279;<?xml version="1.0" encoding="UTF-8" standalone="yes"?>
<Relationships xmlns="http://schemas.openxmlformats.org/package/2006/relationships"><Relationship Id="rId1" Type="http://schemas.openxmlformats.org/officeDocument/2006/relationships/slideLayout" Target="../slideLayouts/slideLayout.xml"/><Relationship Id="rId2" Type="http://schemas.openxmlformats.org/officeDocument/2006/relationships/theme" Target="../theme/theme.xml"/></Relationships>
</file>

<file path=ppt/slideMasters/slideMaster.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&#65279;<?xml version="1.0" encoding="UTF-8" standalone="yes"?>
<Relationships xmlns="http://schemas.openxmlformats.org/package/2006/relationships"><Relationship Id="rPictId0" Type="http://schemas.openxmlformats.org/officeDocument/2006/relationships/image" Target="../media/image1.jpeg"/><Relationship Id="rPictId1" Type="http://schemas.openxmlformats.org/officeDocument/2006/relationships/image" Target="../media/image2.jpeg"/><Relationship Id="rId1" Type="http://schemas.openxmlformats.org/officeDocument/2006/relationships/slideLayout" Target="../slideLayouts/slideLayout.xml"/><Relationship Id="rLinkId0" Type="http://schemas.openxmlformats.org/officeDocument/2006/relationships/hyperlink" Target="mailto:gabrabdo908@gmail.com" TargetMode="External"/><Relationship Id="rLinkId1" Type="http://schemas.openxmlformats.org/officeDocument/2006/relationships/hyperlink" Target="mailto:mohamedesam157953@gmail.com" TargetMode="External"/><Relationship Id="rLinkId2" Type="http://schemas.openxmlformats.org/officeDocument/2006/relationships/hyperlink" Target="mailto:askr3556@gmail.com" TargetMode="External"/></Relationships>
</file>

<file path=ppt/slides/_rels/slide2.xml.rels>&#65279;<?xml version="1.0" encoding="UTF-8" standalone="yes"?>
<Relationships xmlns="http://schemas.openxmlformats.org/package/2006/relationships"><Relationship Id="rId1" Type="http://schemas.openxmlformats.org/officeDocument/2006/relationships/slideLayout" Target="../slideLayouts/slideLayout.xml"/></Relationships>
</file>

<file path=ppt/slides/_rels/slide3.xml.rels>&#65279;<?xml version="1.0" encoding="UTF-8" standalone="yes"?>
<Relationships xmlns="http://schemas.openxmlformats.org/package/2006/relationships"><Relationship Id="rId1" Type="http://schemas.openxmlformats.org/officeDocument/2006/relationships/slideLayout" Target="../slideLayouts/slideLayout.xml"/></Relationships>
</file>

<file path=ppt/slides/_rels/slide4.xml.rels>&#65279;<?xml version="1.0" encoding="UTF-8" standalone="yes"?>
<Relationships xmlns="http://schemas.openxmlformats.org/package/2006/relationships"><Relationship Id="rId1" Type="http://schemas.openxmlformats.org/officeDocument/2006/relationships/slideLayout" Target="../slideLayouts/slideLayout.xml"/></Relationships>
</file>

<file path=ppt/slides/_rels/slide5.xml.rels>&#65279;<?xml version="1.0" encoding="UTF-8" standalone="yes"?>
<Relationships xmlns="http://schemas.openxmlformats.org/package/2006/relationships"><Relationship Id="rId1" Type="http://schemas.openxmlformats.org/officeDocument/2006/relationships/slideLayout" Target="../slideLayouts/slideLayout.xml"/></Relationships>
</file>

<file path=ppt/slides/_rels/slide6.xml.rels>&#65279;<?xml version="1.0" encoding="UTF-8" standalone="yes"?>
<Relationships xmlns="http://schemas.openxmlformats.org/package/2006/relationships"><Relationship Id="rId1" Type="http://schemas.openxmlformats.org/officeDocument/2006/relationships/slideLayout" Target="../slideLayouts/slideLayout.xml"/></Relationships>
</file>

<file path=ppt/slides/_rels/slide7.xml.rels>&#65279;<?xml version="1.0" encoding="UTF-8" standalone="yes"?>
<Relationships xmlns="http://schemas.openxmlformats.org/package/2006/relationships"><Relationship Id="rId1" Type="http://schemas.openxmlformats.org/officeDocument/2006/relationships/slideLayout" Target="../slideLayouts/slideLayout.xml"/></Relationships>
</file>

<file path=ppt/slides/_rels/slide8.xml.rels>&#65279;<?xml version="1.0" encoding="UTF-8" standalone="yes"?>
<Relationships xmlns="http://schemas.openxmlformats.org/package/2006/relationships"><Relationship Id="rPictId0" Type="http://schemas.openxmlformats.org/officeDocument/2006/relationships/image" Target="../media/image3.jpeg"/><Relationship Id="rPictId1" Type="http://schemas.openxmlformats.org/officeDocument/2006/relationships/image" Target="../media/image4.jpeg"/><Relationship Id="rPictId2" Type="http://schemas.openxmlformats.org/officeDocument/2006/relationships/image" Target="../media/image5.jpeg"/><Relationship Id="rPictId3" Type="http://schemas.openxmlformats.org/officeDocument/2006/relationships/image" Target="../media/image6.jpeg"/><Relationship Id="rId1" Type="http://schemas.openxmlformats.org/officeDocument/2006/relationships/slideLayout" Target="../slideLayouts/slideLayout.xml"/></Relationships>
</file>

<file path=ppt/slides/_rels/slide9.xml.rels>&#65279;<?xml version="1.0" encoding="UTF-8" standalone="yes"?>
<Relationships xmlns="http://schemas.openxmlformats.org/package/2006/relationships"><Relationship Id="rPictId0" Type="http://schemas.openxmlformats.org/officeDocument/2006/relationships/image" Target="../media/image7.jpeg"/><Relationship Id="rId1" Type="http://schemas.openxmlformats.org/officeDocument/2006/relationships/slideLayout" Target="../slideLayouts/slideLayout.xml"/><Relationship Id="rLinkId0" Type="http://schemas.openxmlformats.org/officeDocument/2006/relationships/hyperlink" Target="https://football-players-76986.bubbleapps.io/version-test" TargetMode="External"/></Relationships>
</file>

<file path=ppt/slides/_rels/slide10.xml.rels>&#65279;<?xml version="1.0" encoding="UTF-8" standalone="yes"?>
<Relationships xmlns="http://schemas.openxmlformats.org/package/2006/relationships"><Relationship Id="rId1" Type="http://schemas.openxmlformats.org/officeDocument/2006/relationships/slideLayout" Target="../slideLayouts/slideLayout.xml"/></Relationships>
</file>

<file path=ppt/slides/_rels/slide11.xml.rels>&#65279;<?xml version="1.0" encoding="UTF-8" standalone="yes"?>
<Relationships xmlns="http://schemas.openxmlformats.org/package/2006/relationships"><Relationship Id="rId1" Type="http://schemas.openxmlformats.org/officeDocument/2006/relationships/slideLayout" Target="../slideLayouts/slideLayout.xml"/></Relationships>
</file>

<file path=ppt/slides/_rels/slide12.xml.rels>&#65279;<?xml version="1.0" encoding="UTF-8" standalone="yes"?>
<Relationships xmlns="http://schemas.openxmlformats.org/package/2006/relationships"><Relationship Id="rId1" Type="http://schemas.openxmlformats.org/officeDocument/2006/relationships/slideLayout" Target="../slideLayouts/slideLayout.xml"/></Relationships>
</file>

<file path=ppt/slides/_rels/slide13.xml.rels>&#65279;<?xml version="1.0" encoding="UTF-8" standalone="yes"?>
<Relationships xmlns="http://schemas.openxmlformats.org/package/2006/relationships"><Relationship Id="rId1" Type="http://schemas.openxmlformats.org/officeDocument/2006/relationships/slideLayout" Target="../slideLayouts/slideLayout.xml"/></Relationships>
</file>

<file path=ppt/slides/_rels/slide14.xml.rels>&#65279;<?xml version="1.0" encoding="UTF-8" standalone="yes"?>
<Relationships xmlns="http://schemas.openxmlformats.org/package/2006/relationships"><Relationship Id="rId1" Type="http://schemas.openxmlformats.org/officeDocument/2006/relationships/slideLayout" Target="../slideLayouts/slideLayout.xml"/></Relationships>
</file>

<file path=ppt/slides/_rels/slide15.xml.rels>&#65279;<?xml version="1.0" encoding="UTF-8" standalone="yes"?>
<Relationships xmlns="http://schemas.openxmlformats.org/package/2006/relationships"><Relationship Id="rId1" Type="http://schemas.openxmlformats.org/officeDocument/2006/relationships/slideLayout" Target="../slideLayouts/slideLayout.xml"/></Relationships>
</file>

<file path=ppt/slides/_rels/slide16.xml.rels>&#65279;<?xml version="1.0" encoding="UTF-8" standalone="yes"?>
<Relationships xmlns="http://schemas.openxmlformats.org/package/2006/relationships"><Relationship Id="rId1" Type="http://schemas.openxmlformats.org/officeDocument/2006/relationships/slideLayout" Target="../slideLayouts/slideLayout.xml"/></Relationships>
</file>

<file path=ppt/slides/_rels/slide17.xml.rels>&#65279;<?xml version="1.0" encoding="UTF-8" standalone="yes"?>
<Relationships xmlns="http://schemas.openxmlformats.org/package/2006/relationships"><Relationship Id="rId1" Type="http://schemas.openxmlformats.org/officeDocument/2006/relationships/slideLayout" Target="../slideLayouts/slideLayout.xml"/></Relationships>
</file>

<file path=ppt/slides/_rels/slide18.xml.rels>&#65279;<?xml version="1.0" encoding="UTF-8" standalone="yes"?>
<Relationships xmlns="http://schemas.openxmlformats.org/package/2006/relationships"><Relationship Id="rId1" Type="http://schemas.openxmlformats.org/officeDocument/2006/relationships/slideLayout" Target="../slideLayouts/slideLayout.xml"/></Relationships>
</file>

<file path=ppt/slides/_rels/slide19.xml.rels>&#65279;<?xml version="1.0" encoding="UTF-8" standalone="yes"?>
<Relationships xmlns="http://schemas.openxmlformats.org/package/2006/relationships"><Relationship Id="rId1" Type="http://schemas.openxmlformats.org/officeDocument/2006/relationships/slideLayout" Target="../slideLayouts/slideLayout.xml"/></Relationships>
</file>

<file path=ppt/slides/_rels/slide20.xml.rels>&#65279;<?xml version="1.0" encoding="UTF-8" standalone="yes"?>
<Relationships xmlns="http://schemas.openxmlformats.org/package/2006/relationships"><Relationship Id="rId1" Type="http://schemas.openxmlformats.org/officeDocument/2006/relationships/slideLayout" Target="../slideLayouts/slideLayout.xml"/></Relationships>
</file>

<file path=ppt/slides/_rels/slide21.xml.rels>&#65279;<?xml version="1.0" encoding="UTF-8" standalone="yes"?>
<Relationships xmlns="http://schemas.openxmlformats.org/package/2006/relationships"><Relationship Id="rId1" Type="http://schemas.openxmlformats.org/officeDocument/2006/relationships/slideLayout" Target="../slideLayouts/slideLayout.xml"/></Relationships>
</file>

<file path=ppt/slides/_rels/slide22.xml.rels>&#65279;<?xml version="1.0" encoding="UTF-8" standalone="yes"?>
<Relationships xmlns="http://schemas.openxmlformats.org/package/2006/relationships"><Relationship Id="rId1" Type="http://schemas.openxmlformats.org/officeDocument/2006/relationships/slideLayout" Target="../slideLayouts/slideLayout.xml"/></Relationships>
</file>

<file path=ppt/slides/_rels/slide23.xml.rels>&#65279;<?xml version="1.0" encoding="UTF-8" standalone="yes"?>
<Relationships xmlns="http://schemas.openxmlformats.org/package/2006/relationships"><Relationship Id="rPictId0" Type="http://schemas.openxmlformats.org/officeDocument/2006/relationships/image" Target="../media/image8.jpeg"/><Relationship Id="rId1" Type="http://schemas.openxmlformats.org/officeDocument/2006/relationships/slideLayout" Target="../slideLayouts/slideLayout.xml"/></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pic>
        <p:nvPicPr>
          <p:cNvPr id="2" name=""/>
          <p:cNvPicPr>
            <a:picLocks noChangeAspect="1"/>
          </p:cNvPicPr>
          <p:nvPr/>
        </p:nvPicPr>
        <p:blipFill>
          <a:blip r:embed="rPictId0"/>
          <a:stretch>
            <a:fillRect/>
          </a:stretch>
        </p:blipFill>
        <p:spPr>
          <a:xfrm>
            <a:off x="515112" y="1051560"/>
            <a:ext cx="841248" cy="1060704"/>
          </a:xfrm>
          <a:prstGeom prst="rect">
            <a:avLst/>
          </a:prstGeom>
        </p:spPr>
      </p:pic>
      <p:pic>
        <p:nvPicPr>
          <p:cNvPr id="3" name=""/>
          <p:cNvPicPr>
            <a:picLocks noChangeAspect="1"/>
          </p:cNvPicPr>
          <p:nvPr/>
        </p:nvPicPr>
        <p:blipFill>
          <a:blip r:embed="rPictId1"/>
          <a:stretch>
            <a:fillRect/>
          </a:stretch>
        </p:blipFill>
        <p:spPr>
          <a:xfrm>
            <a:off x="6178296" y="920496"/>
            <a:ext cx="1200912" cy="1289304"/>
          </a:xfrm>
          <a:prstGeom prst="rect">
            <a:avLst/>
          </a:prstGeom>
        </p:spPr>
      </p:pic>
      <p:sp>
        <p:nvSpPr>
          <p:cNvPr id="4" name=""/>
          <p:cNvSpPr/>
          <p:nvPr/>
        </p:nvSpPr>
        <p:spPr>
          <a:xfrm>
            <a:off x="1642872" y="1252728"/>
            <a:ext cx="4492752" cy="600456"/>
          </a:xfrm>
          <a:prstGeom prst="rect">
            <a:avLst/>
          </a:prstGeom>
        </p:spPr>
        <p:txBody>
          <a:bodyPr lIns="0" tIns="0" rIns="0" bIns="0">
            <a:noAutofit/>
          </a:bodyPr>
          <a:p>
            <a:pPr indent="0">
              <a:spcAft>
                <a:spcPts val="1050"/>
              </a:spcAft>
            </a:pPr>
            <a:r>
              <a:rPr lang="en-US" b="1" sz="1700">
                <a:latin typeface="Calibri"/>
              </a:rPr>
              <a:t>Faculty of computers and artificial intelligence</a:t>
            </a:r>
          </a:p>
          <a:p>
            <a:pPr algn="ctr" indent="0"/>
            <a:r>
              <a:rPr lang="en-US" b="1" sz="1700">
                <a:latin typeface="Calibri"/>
              </a:rPr>
              <a:t>Cairo university</a:t>
            </a:r>
          </a:p>
        </p:txBody>
      </p:sp>
      <p:sp>
        <p:nvSpPr>
          <p:cNvPr id="5" name=""/>
          <p:cNvSpPr/>
          <p:nvPr/>
        </p:nvSpPr>
        <p:spPr>
          <a:xfrm>
            <a:off x="3371088" y="2377440"/>
            <a:ext cx="1024128" cy="192024"/>
          </a:xfrm>
          <a:prstGeom prst="rect">
            <a:avLst/>
          </a:prstGeom>
        </p:spPr>
        <p:txBody>
          <a:bodyPr lIns="0" tIns="0" rIns="0" bIns="0" wrap="none">
            <a:noAutofit/>
          </a:bodyPr>
          <a:p>
            <a:pPr indent="0">
              <a:spcAft>
                <a:spcPts val="1050"/>
              </a:spcAft>
            </a:pPr>
            <a:r>
              <a:rPr lang="en-US" b="1" sz="1300">
                <a:latin typeface="Calibri"/>
              </a:rPr>
              <a:t>Assignment 1</a:t>
            </a:r>
          </a:p>
        </p:txBody>
      </p:sp>
      <p:sp>
        <p:nvSpPr>
          <p:cNvPr id="6" name=""/>
          <p:cNvSpPr/>
          <p:nvPr/>
        </p:nvSpPr>
        <p:spPr>
          <a:xfrm>
            <a:off x="3236976" y="2727960"/>
            <a:ext cx="1298448" cy="192024"/>
          </a:xfrm>
          <a:prstGeom prst="rect">
            <a:avLst/>
          </a:prstGeom>
        </p:spPr>
        <p:txBody>
          <a:bodyPr lIns="0" tIns="0" rIns="0" bIns="0" wrap="none">
            <a:noAutofit/>
          </a:bodyPr>
          <a:p>
            <a:pPr indent="0">
              <a:spcBef>
                <a:spcPts val="1050"/>
              </a:spcBef>
              <a:spcAft>
                <a:spcPts val="2730"/>
              </a:spcAft>
            </a:pPr>
            <a:r>
              <a:rPr lang="en-US" b="1" sz="1300">
                <a:latin typeface="Calibri"/>
              </a:rPr>
              <a:t>Part 1 - task (1,2)</a:t>
            </a:r>
          </a:p>
        </p:txBody>
      </p:sp>
      <p:sp>
        <p:nvSpPr>
          <p:cNvPr id="7" name=""/>
          <p:cNvSpPr/>
          <p:nvPr/>
        </p:nvSpPr>
        <p:spPr>
          <a:xfrm>
            <a:off x="902208" y="3386328"/>
            <a:ext cx="3447288" cy="874776"/>
          </a:xfrm>
          <a:prstGeom prst="rect">
            <a:avLst/>
          </a:prstGeom>
        </p:spPr>
        <p:txBody>
          <a:bodyPr lIns="0" tIns="0" rIns="0" bIns="0">
            <a:noAutofit/>
          </a:bodyPr>
          <a:p>
            <a:pPr algn="just" indent="0">
              <a:lnSpc>
                <a:spcPts val="2664"/>
              </a:lnSpc>
              <a:spcBef>
                <a:spcPts val="2730"/>
              </a:spcBef>
            </a:pPr>
            <a:r>
              <a:rPr lang="en-US" b="1" sz="1600">
                <a:latin typeface="Calibri"/>
              </a:rPr>
              <a:t>CS251    :- </a:t>
            </a:r>
            <a:r>
              <a:rPr lang="en-US" sz="1200">
                <a:latin typeface="Calibri"/>
              </a:rPr>
              <a:t>Introduction to Software Engineering</a:t>
            </a:r>
          </a:p>
          <a:p>
            <a:pPr algn="just" indent="0">
              <a:lnSpc>
                <a:spcPts val="2664"/>
              </a:lnSpc>
            </a:pPr>
            <a:r>
              <a:rPr lang="en-US" b="1" sz="1600">
                <a:latin typeface="Calibri"/>
              </a:rPr>
              <a:t>Section :- </a:t>
            </a:r>
            <a:r>
              <a:rPr lang="en-US" sz="1200">
                <a:latin typeface="Calibri"/>
              </a:rPr>
              <a:t>S(23,24)</a:t>
            </a:r>
          </a:p>
          <a:p>
            <a:pPr algn="just" indent="0">
              <a:lnSpc>
                <a:spcPts val="2664"/>
              </a:lnSpc>
              <a:spcAft>
                <a:spcPts val="2730"/>
              </a:spcAft>
            </a:pPr>
            <a:r>
              <a:rPr lang="en-US" b="1" sz="1600">
                <a:latin typeface="Calibri"/>
              </a:rPr>
              <a:t>Course Instructors: </a:t>
            </a:r>
            <a:r>
              <a:rPr lang="en-US" sz="1200">
                <a:latin typeface="Calibri"/>
              </a:rPr>
              <a:t>Dr. Mohammad Ei-Ramiy.</a:t>
            </a:r>
          </a:p>
        </p:txBody>
      </p:sp>
      <p:graphicFrame>
        <p:nvGraphicFramePr>
          <p:cNvPr id="8" name=""/>
          <p:cNvGraphicFramePr>
            <a:graphicFrameLocks noGrp="1"/>
          </p:cNvGraphicFramePr>
          <p:nvPr/>
        </p:nvGraphicFramePr>
        <p:xfrm>
          <a:off x="911352" y="4724400"/>
          <a:ext cx="5209032" cy="2045208"/>
        </p:xfrm>
        <a:graphic>
          <a:graphicData uri="http://schemas.openxmlformats.org/drawingml/2006/table">
            <a:tbl>
              <a:tblPr/>
              <a:tblGrid>
                <a:gridCol w="1203960"/>
                <a:gridCol w="914400"/>
                <a:gridCol w="3090672"/>
              </a:tblGrid>
              <a:tr h="441960">
                <a:tc>
                  <a:txBody>
                    <a:bodyPr lIns="0" tIns="0" rIns="0" bIns="0">
                      <a:noAutofit/>
                    </a:bodyPr>
                    <a:p>
                      <a:pPr indent="0">
                        <a:spcAft>
                          <a:spcPts val="420"/>
                        </a:spcAft>
                      </a:pPr>
                      <a:r>
                        <a:rPr lang="en-US" b="1" sz="1300">
                          <a:latin typeface="Calibri"/>
                        </a:rPr>
                        <a:t>Team</a:t>
                      </a:r>
                    </a:p>
                    <a:p>
                      <a:pPr indent="0"/>
                      <a:r>
                        <a:rPr lang="en-US" b="1" sz="1300">
                          <a:latin typeface="Calibri"/>
                        </a:rPr>
                        <a:t>Members</a:t>
                      </a:r>
                    </a:p>
                  </a:txBody>
                  <a:tcPr marL="0" marR="0" marT="0" marB="0" anchor="b"/>
                </a:tc>
                <a:tc>
                  <a:txBody>
                    <a:bodyPr lIns="0" tIns="0" rIns="0" bIns="0">
                      <a:noAutofit/>
                    </a:bodyPr>
                    <a:p>
                      <a:pPr indent="0"/>
                      <a:r>
                        <a:rPr lang="en-US" b="1" sz="1300">
                          <a:latin typeface="Calibri"/>
                        </a:rPr>
                        <a:t>ID's</a:t>
                      </a:r>
                    </a:p>
                  </a:txBody>
                  <a:tcPr marL="0" marR="0" marT="0" marB="0"/>
                </a:tc>
                <a:tc>
                  <a:txBody>
                    <a:bodyPr lIns="0" tIns="0" rIns="0" bIns="0">
                      <a:noAutofit/>
                    </a:bodyPr>
                    <a:p>
                      <a:pPr indent="0"/>
                      <a:r>
                        <a:rPr lang="en-US" b="1" sz="1300">
                          <a:latin typeface="Calibri"/>
                        </a:rPr>
                        <a:t>Emails</a:t>
                      </a:r>
                    </a:p>
                  </a:txBody>
                  <a:tcPr marL="0" marR="0" marT="0" marB="0"/>
                </a:tc>
              </a:tr>
              <a:tr h="381000">
                <a:tc>
                  <a:txBody>
                    <a:bodyPr lIns="0" tIns="0" rIns="0" bIns="0">
                      <a:noAutofit/>
                    </a:bodyPr>
                    <a:p>
                      <a:pPr indent="0">
                        <a:lnSpc>
                          <a:spcPts val="1464"/>
                        </a:lnSpc>
                      </a:pPr>
                      <a:r>
                        <a:rPr lang="en-US" sz="1200">
                          <a:latin typeface="Calibri"/>
                        </a:rPr>
                        <a:t>Abdelrahman Mohamed Gabr</a:t>
                      </a:r>
                    </a:p>
                  </a:txBody>
                  <a:tcPr marL="0" marR="0" marT="0" marB="0" anchor="b"/>
                </a:tc>
                <a:tc>
                  <a:txBody>
                    <a:bodyPr lIns="0" tIns="0" rIns="0" bIns="0">
                      <a:noAutofit/>
                    </a:bodyPr>
                    <a:p>
                      <a:pPr indent="0"/>
                      <a:r>
                        <a:rPr lang="en-US" sz="1200">
                          <a:latin typeface="Calibri"/>
                        </a:rPr>
                        <a:t>20231098</a:t>
                      </a:r>
                    </a:p>
                  </a:txBody>
                  <a:tcPr marL="0" marR="0" marT="0" marB="0"/>
                </a:tc>
                <a:tc>
                  <a:txBody>
                    <a:bodyPr lIns="0" tIns="0" rIns="0" bIns="0">
                      <a:noAutofit/>
                    </a:bodyPr>
                    <a:p>
                      <a:pPr indent="0"/>
                      <a:r>
                        <a:rPr lang="en-US" sz="1200">
                          <a:latin typeface="Calibri"/>
                          <a:hlinkClick r:id="rLinkId0"/>
                        </a:rPr>
                        <a:t>gabrabdo908@gmail.com</a:t>
                      </a:r>
                    </a:p>
                  </a:txBody>
                  <a:tcPr marL="0" marR="0" marT="0" marB="0"/>
                </a:tc>
              </a:tr>
              <a:tr h="563880">
                <a:tc>
                  <a:txBody>
                    <a:bodyPr lIns="0" tIns="0" rIns="0" bIns="0">
                      <a:noAutofit/>
                    </a:bodyPr>
                    <a:p>
                      <a:pPr indent="0">
                        <a:lnSpc>
                          <a:spcPts val="1464"/>
                        </a:lnSpc>
                      </a:pPr>
                      <a:r>
                        <a:rPr lang="en-US" sz="1200">
                          <a:latin typeface="Calibri"/>
                        </a:rPr>
                        <a:t>Mohamed</a:t>
                      </a:r>
                    </a:p>
                    <a:p>
                      <a:pPr indent="0">
                        <a:lnSpc>
                          <a:spcPts val="1464"/>
                        </a:lnSpc>
                      </a:pPr>
                      <a:r>
                        <a:rPr lang="en-US" sz="1200">
                          <a:latin typeface="Calibri"/>
                        </a:rPr>
                        <a:t>Essam</a:t>
                      </a:r>
                    </a:p>
                    <a:p>
                      <a:pPr indent="0">
                        <a:lnSpc>
                          <a:spcPts val="1464"/>
                        </a:lnSpc>
                      </a:pPr>
                      <a:r>
                        <a:rPr lang="en-US" sz="1200">
                          <a:latin typeface="Calibri"/>
                        </a:rPr>
                        <a:t>Abdelhamed</a:t>
                      </a:r>
                    </a:p>
                  </a:txBody>
                  <a:tcPr marL="0" marR="0" marT="0" marB="0" anchor="b"/>
                </a:tc>
                <a:tc>
                  <a:txBody>
                    <a:bodyPr lIns="0" tIns="0" rIns="0" bIns="0">
                      <a:noAutofit/>
                    </a:bodyPr>
                    <a:p>
                      <a:pPr indent="0"/>
                      <a:r>
                        <a:rPr lang="en-US" sz="1200">
                          <a:latin typeface="Calibri"/>
                        </a:rPr>
                        <a:t>20231147</a:t>
                      </a:r>
                    </a:p>
                  </a:txBody>
                  <a:tcPr marL="0" marR="0" marT="0" marB="0"/>
                </a:tc>
                <a:tc>
                  <a:txBody>
                    <a:bodyPr lIns="0" tIns="0" rIns="0" bIns="0">
                      <a:noAutofit/>
                    </a:bodyPr>
                    <a:p>
                      <a:pPr indent="0"/>
                      <a:r>
                        <a:rPr lang="en-US" sz="1200">
                          <a:latin typeface="Calibri"/>
                          <a:hlinkClick r:id="rLinkId1"/>
                        </a:rPr>
                        <a:t>mohamedesam157953@gmail.com</a:t>
                      </a:r>
                    </a:p>
                  </a:txBody>
                  <a:tcPr marL="0" marR="0" marT="0" marB="0"/>
                </a:tc>
              </a:tr>
              <a:tr h="658368">
                <a:tc>
                  <a:txBody>
                    <a:bodyPr lIns="0" tIns="0" rIns="0" bIns="0">
                      <a:noAutofit/>
                    </a:bodyPr>
                    <a:p>
                      <a:pPr indent="0">
                        <a:lnSpc>
                          <a:spcPts val="1464"/>
                        </a:lnSpc>
                      </a:pPr>
                      <a:r>
                        <a:rPr lang="en-US" sz="1200">
                          <a:latin typeface="Calibri"/>
                        </a:rPr>
                        <a:t>Mahmoud</a:t>
                      </a:r>
                    </a:p>
                    <a:p>
                      <a:pPr indent="0">
                        <a:lnSpc>
                          <a:spcPts val="1464"/>
                        </a:lnSpc>
                      </a:pPr>
                      <a:r>
                        <a:rPr lang="en-US" sz="1200">
                          <a:latin typeface="Calibri"/>
                        </a:rPr>
                        <a:t>Ibrahim</a:t>
                      </a:r>
                    </a:p>
                    <a:p>
                      <a:pPr indent="0">
                        <a:lnSpc>
                          <a:spcPts val="1464"/>
                        </a:lnSpc>
                      </a:pPr>
                      <a:r>
                        <a:rPr lang="en-US" sz="1200">
                          <a:latin typeface="Calibri"/>
                        </a:rPr>
                        <a:t>Mahmoud</a:t>
                      </a:r>
                    </a:p>
                  </a:txBody>
                  <a:tcPr marL="0" marR="0" marT="0" marB="0"/>
                </a:tc>
                <a:tc>
                  <a:txBody>
                    <a:bodyPr lIns="0" tIns="0" rIns="0" bIns="0">
                      <a:noAutofit/>
                    </a:bodyPr>
                    <a:p>
                      <a:pPr indent="0"/>
                      <a:r>
                        <a:rPr lang="en-US" sz="1200">
                          <a:latin typeface="Calibri"/>
                        </a:rPr>
                        <a:t>20231152</a:t>
                      </a:r>
                    </a:p>
                  </a:txBody>
                  <a:tcPr marL="0" marR="0" marT="0" marB="0"/>
                </a:tc>
                <a:tc>
                  <a:txBody>
                    <a:bodyPr lIns="0" tIns="0" rIns="0" bIns="0">
                      <a:noAutofit/>
                    </a:bodyPr>
                    <a:p>
                      <a:pPr indent="0"/>
                      <a:r>
                        <a:rPr lang="en-US" sz="1200">
                          <a:latin typeface="Calibri"/>
                          <a:hlinkClick r:id="rLinkId2"/>
                        </a:rPr>
                        <a:t>askr3556@gmail.com</a:t>
                      </a:r>
                    </a:p>
                  </a:txBody>
                  <a:tcPr marL="0" marR="0" marT="0" marB="0"/>
                </a:tc>
              </a:tr>
            </a:tbl>
          </a:graphicData>
        </a:graphic>
      </p:graphicFrame>
      <p:sp>
        <p:nvSpPr>
          <p:cNvPr id="9" name=""/>
          <p:cNvSpPr/>
          <p:nvPr/>
        </p:nvSpPr>
        <p:spPr>
          <a:xfrm>
            <a:off x="896112" y="7107936"/>
            <a:ext cx="2843784" cy="143256"/>
          </a:xfrm>
          <a:prstGeom prst="rect">
            <a:avLst/>
          </a:prstGeom>
        </p:spPr>
        <p:txBody>
          <a:bodyPr lIns="0" tIns="0" rIns="0" bIns="0" wrap="none">
            <a:noAutofit/>
          </a:bodyPr>
          <a:p>
            <a:pPr indent="0"/>
            <a:r>
              <a:rPr lang="en-US" b="1" sz="1300">
                <a:latin typeface="Calibri"/>
              </a:rPr>
              <a:t>Team leader</a:t>
            </a:r>
            <a:r>
              <a:rPr lang="en-US" sz="1200">
                <a:latin typeface="Calibri"/>
              </a:rPr>
              <a:t>:- Mohamed Essam Abdelhamed</a:t>
            </a:r>
          </a:p>
        </p:txBody>
      </p:sp>
      <p:sp>
        <p:nvSpPr>
          <p:cNvPr id="10" name=""/>
          <p:cNvSpPr/>
          <p:nvPr/>
        </p:nvSpPr>
        <p:spPr>
          <a:xfrm>
            <a:off x="905256" y="7424928"/>
            <a:ext cx="1956816" cy="143256"/>
          </a:xfrm>
          <a:prstGeom prst="rect">
            <a:avLst/>
          </a:prstGeom>
        </p:spPr>
        <p:txBody>
          <a:bodyPr lIns="0" tIns="0" rIns="0" bIns="0" wrap="none">
            <a:noAutofit/>
          </a:bodyPr>
          <a:p>
            <a:pPr algn="just" indent="0">
              <a:spcBef>
                <a:spcPts val="1050"/>
              </a:spcBef>
            </a:pPr>
            <a:r>
              <a:rPr lang="en-US" b="1" sz="1300">
                <a:latin typeface="Calibri"/>
              </a:rPr>
              <a:t>Leader number</a:t>
            </a:r>
            <a:r>
              <a:rPr lang="en-US" sz="1200">
                <a:latin typeface="Calibri"/>
              </a:rPr>
              <a:t>:- 01068399881</a:t>
            </a: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sp>
        <p:nvSpPr>
          <p:cNvPr id="2" name=""/>
          <p:cNvSpPr/>
          <p:nvPr/>
        </p:nvSpPr>
        <p:spPr>
          <a:xfrm>
            <a:off x="2944368" y="941832"/>
            <a:ext cx="1874520" cy="195072"/>
          </a:xfrm>
          <a:prstGeom prst="rect">
            <a:avLst/>
          </a:prstGeom>
        </p:spPr>
        <p:txBody>
          <a:bodyPr lIns="0" tIns="0" rIns="0" bIns="0" wrap="none">
            <a:noAutofit/>
          </a:bodyPr>
          <a:p>
            <a:pPr indent="0"/>
            <a:r>
              <a:rPr lang="en-US" b="1" u="sng" sz="1400">
                <a:latin typeface="Calibri"/>
              </a:rPr>
              <a:t>App 1 (Mohamed Essam)</a:t>
            </a:r>
          </a:p>
        </p:txBody>
      </p:sp>
      <p:sp>
        <p:nvSpPr>
          <p:cNvPr id="3" name=""/>
          <p:cNvSpPr/>
          <p:nvPr/>
        </p:nvSpPr>
        <p:spPr>
          <a:xfrm>
            <a:off x="902208" y="1295400"/>
            <a:ext cx="5910072" cy="7409688"/>
          </a:xfrm>
          <a:prstGeom prst="rect">
            <a:avLst/>
          </a:prstGeom>
        </p:spPr>
        <p:txBody>
          <a:bodyPr lIns="0" tIns="0" rIns="0" bIns="0">
            <a:noAutofit/>
          </a:bodyPr>
          <a:p>
            <a:pPr algn="just" indent="0">
              <a:spcAft>
                <a:spcPts val="1050"/>
              </a:spcAft>
            </a:pPr>
            <a:r>
              <a:rPr lang="en-US" sz="1200">
                <a:latin typeface="Calibri"/>
              </a:rPr>
              <a:t>1.    Main Idea</a:t>
            </a:r>
          </a:p>
          <a:p>
            <a:pPr algn="just" marL="241300" indent="0">
              <a:lnSpc>
                <a:spcPts val="1824"/>
              </a:lnSpc>
            </a:pPr>
            <a:r>
              <a:rPr lang="en-US" sz="1200">
                <a:latin typeface="Calibri"/>
              </a:rPr>
              <a:t>•    Text Processing &amp; Word Management:</a:t>
            </a:r>
          </a:p>
          <a:p>
            <a:pPr marL="482600" indent="0">
              <a:lnSpc>
                <a:spcPts val="1824"/>
              </a:lnSpc>
              <a:spcAft>
                <a:spcPts val="420"/>
              </a:spcAft>
            </a:pPr>
            <a:r>
              <a:rPr lang="en-US" sz="1200">
                <a:latin typeface="Calibri"/>
              </a:rPr>
              <a:t>The program processes input text by splitting it into words, removing punctuation, converting them to lowercase, and storing them in a list. It also maintains a set for unique words.</a:t>
            </a:r>
          </a:p>
          <a:p>
            <a:pPr algn="just" marL="241300" indent="0">
              <a:lnSpc>
                <a:spcPts val="1824"/>
              </a:lnSpc>
            </a:pPr>
            <a:r>
              <a:rPr lang="en-US" sz="1200">
                <a:latin typeface="Calibri"/>
              </a:rPr>
              <a:t>•    Interactive User Interface:</a:t>
            </a:r>
          </a:p>
          <a:p>
            <a:pPr marL="482600" indent="0">
              <a:lnSpc>
                <a:spcPts val="1824"/>
              </a:lnSpc>
              <a:spcAft>
                <a:spcPts val="420"/>
              </a:spcAft>
            </a:pPr>
            <a:r>
              <a:rPr lang="en-US" sz="1200">
                <a:latin typeface="Calibri"/>
              </a:rPr>
              <a:t>It provides a command-line menu for two different sentence inputs, allowing users to manipulate the word collections (e.g., add, remove, sort, search, and perform set operations such as union and intersection).</a:t>
            </a:r>
          </a:p>
          <a:p>
            <a:pPr algn="just" indent="0">
              <a:lnSpc>
                <a:spcPts val="2616"/>
              </a:lnSpc>
            </a:pPr>
            <a:r>
              <a:rPr lang="en-US" sz="1200">
                <a:latin typeface="Calibri"/>
              </a:rPr>
              <a:t>2.    Algorithm Overview</a:t>
            </a:r>
          </a:p>
          <a:p>
            <a:pPr algn="just" marL="241300" indent="0">
              <a:lnSpc>
                <a:spcPts val="2616"/>
              </a:lnSpc>
            </a:pPr>
            <a:r>
              <a:rPr lang="en-US" sz="1200">
                <a:latin typeface="Calibri"/>
              </a:rPr>
              <a:t>•    Initialization:</a:t>
            </a:r>
          </a:p>
          <a:p>
            <a:pPr marL="711200" indent="0">
              <a:lnSpc>
                <a:spcPts val="2616"/>
              </a:lnSpc>
            </a:pPr>
            <a:r>
              <a:rPr lang="en-US" sz="1200">
                <a:latin typeface="Calibri"/>
              </a:rPr>
              <a:t>o The constructor receives a text string. o Splits the text into words using whitespace as the delimiter. o Removes punctuation from each word and converts them to lowercase. o Stores each processed word in an ArrayList (s).</a:t>
            </a:r>
          </a:p>
          <a:p>
            <a:pPr algn="just" marL="241300" indent="0">
              <a:lnSpc>
                <a:spcPts val="2616"/>
              </a:lnSpc>
            </a:pPr>
            <a:r>
              <a:rPr lang="en-US" sz="1200">
                <a:latin typeface="Calibri"/>
              </a:rPr>
              <a:t>•    Core Functionalities:</a:t>
            </a:r>
          </a:p>
          <a:p>
            <a:pPr marL="711200" indent="0">
              <a:lnSpc>
                <a:spcPts val="2616"/>
              </a:lnSpc>
            </a:pPr>
            <a:r>
              <a:rPr lang="en-US" sz="1200">
                <a:latin typeface="Calibri"/>
              </a:rPr>
              <a:t>o Insertion &amp; Removal:</a:t>
            </a:r>
          </a:p>
          <a:p>
            <a:pPr marL="939800" indent="0">
              <a:lnSpc>
                <a:spcPts val="1848"/>
              </a:lnSpc>
              <a:spcAft>
                <a:spcPts val="420"/>
              </a:spcAft>
            </a:pPr>
            <a:r>
              <a:rPr lang="en-US" sz="1200">
                <a:latin typeface="Calibri"/>
              </a:rPr>
              <a:t>Methods allow adding a new word (after processing) and removing a word from the list.</a:t>
            </a:r>
          </a:p>
          <a:p>
            <a:pPr marL="711200" indent="0">
              <a:lnSpc>
                <a:spcPts val="1848"/>
              </a:lnSpc>
            </a:pPr>
            <a:r>
              <a:rPr lang="en-US" sz="1200">
                <a:latin typeface="Calibri"/>
              </a:rPr>
              <a:t>o Display &amp; Size:</a:t>
            </a:r>
          </a:p>
          <a:p>
            <a:pPr marL="939800" indent="0">
              <a:lnSpc>
                <a:spcPts val="1848"/>
              </a:lnSpc>
              <a:spcAft>
                <a:spcPts val="420"/>
              </a:spcAft>
            </a:pPr>
            <a:r>
              <a:rPr lang="en-US" sz="1200">
                <a:latin typeface="Calibri"/>
              </a:rPr>
              <a:t>Methods to show the list of words, unique words (via a HashSet), and to return the size of the list.</a:t>
            </a:r>
          </a:p>
          <a:p>
            <a:pPr marL="711200" indent="0">
              <a:spcAft>
                <a:spcPts val="1050"/>
              </a:spcAft>
            </a:pPr>
            <a:r>
              <a:rPr lang="en-US" sz="1200">
                <a:latin typeface="Calibri"/>
              </a:rPr>
              <a:t>o Set Operations:</a:t>
            </a:r>
          </a:p>
          <a:p>
            <a:pPr marL="1397000" indent="-228600">
              <a:lnSpc>
                <a:spcPts val="1848"/>
              </a:lnSpc>
              <a:spcAft>
                <a:spcPts val="420"/>
              </a:spcAft>
            </a:pPr>
            <a:r>
              <a:rPr lang="en-US" sz="1200">
                <a:latin typeface="Calibri"/>
              </a:rPr>
              <a:t>■    Union: Combines words from two instances while ensuring uniqueness.</a:t>
            </a:r>
          </a:p>
          <a:p>
            <a:pPr algn="just" marL="1168400" indent="0">
              <a:spcAft>
                <a:spcPts val="1050"/>
              </a:spcAft>
            </a:pPr>
            <a:r>
              <a:rPr lang="en-US" sz="1200">
                <a:latin typeface="Calibri"/>
              </a:rPr>
              <a:t>■    Intersection: Finds common words between two instances.</a:t>
            </a:r>
          </a:p>
        </p:txBody>
      </p:sp>
      <p:sp>
        <p:nvSpPr>
          <p:cNvPr id="4" name=""/>
          <p:cNvSpPr/>
          <p:nvPr/>
        </p:nvSpPr>
        <p:spPr>
          <a:xfrm>
            <a:off x="1591056" y="8945880"/>
            <a:ext cx="94488" cy="91440"/>
          </a:xfrm>
          <a:prstGeom prst="rect">
            <a:avLst/>
          </a:prstGeom>
        </p:spPr>
        <p:txBody>
          <a:bodyPr lIns="0" tIns="0" rIns="0" bIns="0" wrap="none">
            <a:noAutofit/>
          </a:bodyPr>
          <a:p>
            <a:pPr indent="0"/>
            <a:r>
              <a:rPr lang="en-US" sz="1200">
                <a:latin typeface="Calibri"/>
              </a:rPr>
              <a:t>o</a:t>
            </a:r>
          </a:p>
        </p:txBody>
      </p:sp>
      <p:sp>
        <p:nvSpPr>
          <p:cNvPr id="5" name=""/>
          <p:cNvSpPr/>
          <p:nvPr/>
        </p:nvSpPr>
        <p:spPr>
          <a:xfrm>
            <a:off x="1813560" y="8887968"/>
            <a:ext cx="1575816" cy="179832"/>
          </a:xfrm>
          <a:prstGeom prst="rect">
            <a:avLst/>
          </a:prstGeom>
        </p:spPr>
        <p:txBody>
          <a:bodyPr lIns="0" tIns="0" rIns="0" bIns="0" wrap="none">
            <a:noAutofit/>
          </a:bodyPr>
          <a:p>
            <a:pPr algn="just" indent="0">
              <a:spcBef>
                <a:spcPts val="1050"/>
              </a:spcBef>
            </a:pPr>
            <a:r>
              <a:rPr lang="en-US" sz="1200">
                <a:latin typeface="Calibri"/>
              </a:rPr>
              <a:t>Additional Operations:</a:t>
            </a: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sp>
        <p:nvSpPr>
          <p:cNvPr id="2" name=""/>
          <p:cNvSpPr/>
          <p:nvPr/>
        </p:nvSpPr>
        <p:spPr>
          <a:xfrm>
            <a:off x="1130808" y="941832"/>
            <a:ext cx="5711952" cy="2987040"/>
          </a:xfrm>
          <a:prstGeom prst="rect">
            <a:avLst/>
          </a:prstGeom>
        </p:spPr>
        <p:txBody>
          <a:bodyPr lIns="0" tIns="0" rIns="0" bIns="0">
            <a:noAutofit/>
          </a:bodyPr>
          <a:p>
            <a:pPr algn="just" marL="944880" indent="0">
              <a:lnSpc>
                <a:spcPts val="2640"/>
              </a:lnSpc>
            </a:pPr>
            <a:r>
              <a:rPr lang="en-US" sz="1200">
                <a:latin typeface="Calibri"/>
              </a:rPr>
              <a:t>■    Finding the longest word.</a:t>
            </a:r>
          </a:p>
          <a:p>
            <a:pPr algn="just" marL="944880" indent="0">
              <a:lnSpc>
                <a:spcPts val="2640"/>
              </a:lnSpc>
            </a:pPr>
            <a:r>
              <a:rPr lang="en-US" sz="1200">
                <a:latin typeface="Calibri"/>
              </a:rPr>
              <a:t>■    Sorting words in ascending and descending order.</a:t>
            </a:r>
          </a:p>
          <a:p>
            <a:pPr algn="just" marL="944880" indent="0">
              <a:lnSpc>
                <a:spcPts val="2640"/>
              </a:lnSpc>
            </a:pPr>
            <a:r>
              <a:rPr lang="en-US" sz="1200">
                <a:latin typeface="Calibri"/>
              </a:rPr>
              <a:t>■    Converting all words to uppercase.</a:t>
            </a:r>
          </a:p>
          <a:p>
            <a:pPr marL="474980" marR="1663700" indent="469900">
              <a:lnSpc>
                <a:spcPts val="2640"/>
              </a:lnSpc>
            </a:pPr>
            <a:r>
              <a:rPr lang="en-US" sz="1200">
                <a:latin typeface="Calibri"/>
              </a:rPr>
              <a:t>■    Searching for a specific word within the list. o </a:t>
            </a:r>
            <a:r>
              <a:rPr lang="en-US" b="1" sz="1300">
                <a:latin typeface="Calibri"/>
              </a:rPr>
              <a:t>Similarity Calculation:</a:t>
            </a:r>
          </a:p>
          <a:p>
            <a:pPr marL="703580" indent="0">
              <a:lnSpc>
                <a:spcPts val="1848"/>
              </a:lnSpc>
              <a:spcAft>
                <a:spcPts val="420"/>
              </a:spcAft>
            </a:pPr>
            <a:r>
              <a:rPr lang="en-US" sz="1200">
                <a:latin typeface="Calibri"/>
              </a:rPr>
              <a:t>A method calculates similarity using a formula based on the number of unique words and the size of the list.</a:t>
            </a:r>
          </a:p>
          <a:p>
            <a:pPr indent="0">
              <a:lnSpc>
                <a:spcPts val="2616"/>
              </a:lnSpc>
            </a:pPr>
            <a:r>
              <a:rPr lang="en-US" b="1" sz="1300">
                <a:latin typeface="Calibri"/>
              </a:rPr>
              <a:t>• User Interaction:</a:t>
            </a:r>
          </a:p>
          <a:p>
            <a:pPr algn="just" marL="474980" indent="0">
              <a:lnSpc>
                <a:spcPts val="2616"/>
              </a:lnSpc>
            </a:pPr>
            <a:r>
              <a:rPr lang="en-US" sz="1200">
                <a:latin typeface="Calibri"/>
              </a:rPr>
              <a:t>o Uses a command-line menu to let users choose actions for each sentence. o Processes user input in a loop until the user opts to break out of the menu.</a:t>
            </a: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sp>
        <p:nvSpPr>
          <p:cNvPr id="2" name=""/>
          <p:cNvSpPr/>
          <p:nvPr/>
        </p:nvSpPr>
        <p:spPr>
          <a:xfrm>
            <a:off x="2968752" y="938784"/>
            <a:ext cx="1828800" cy="182880"/>
          </a:xfrm>
          <a:prstGeom prst="rect">
            <a:avLst/>
          </a:prstGeom>
        </p:spPr>
        <p:txBody>
          <a:bodyPr lIns="0" tIns="0" rIns="0" bIns="0" wrap="none">
            <a:noAutofit/>
          </a:bodyPr>
          <a:p>
            <a:pPr indent="0"/>
            <a:r>
              <a:rPr lang="en-US" b="1" u="sng" sz="1300">
                <a:latin typeface="Calibri"/>
              </a:rPr>
              <a:t>App 2(Abdelrahman Gabr)</a:t>
            </a:r>
          </a:p>
        </p:txBody>
      </p:sp>
      <p:sp>
        <p:nvSpPr>
          <p:cNvPr id="3" name=""/>
          <p:cNvSpPr/>
          <p:nvPr/>
        </p:nvSpPr>
        <p:spPr>
          <a:xfrm>
            <a:off x="902208" y="1277112"/>
            <a:ext cx="5864352" cy="7839456"/>
          </a:xfrm>
          <a:prstGeom prst="rect">
            <a:avLst/>
          </a:prstGeom>
        </p:spPr>
        <p:txBody>
          <a:bodyPr lIns="0" tIns="0" rIns="0" bIns="0">
            <a:noAutofit/>
          </a:bodyPr>
          <a:p>
            <a:pPr algn="just" indent="0">
              <a:spcAft>
                <a:spcPts val="1050"/>
              </a:spcAft>
            </a:pPr>
            <a:r>
              <a:rPr lang="en-US" b="1" sz="1300">
                <a:latin typeface="Calibri"/>
              </a:rPr>
              <a:t>1.    Main Idea</a:t>
            </a:r>
          </a:p>
          <a:p>
            <a:pPr algn="just" marL="241300" indent="0">
              <a:lnSpc>
                <a:spcPts val="1824"/>
              </a:lnSpc>
            </a:pPr>
            <a:r>
              <a:rPr lang="en-US" b="1" sz="1300">
                <a:latin typeface="Calibri"/>
              </a:rPr>
              <a:t>•    Game Implementation:</a:t>
            </a:r>
          </a:p>
          <a:p>
            <a:pPr marL="482600" indent="0">
              <a:lnSpc>
                <a:spcPts val="1824"/>
              </a:lnSpc>
              <a:spcAft>
                <a:spcPts val="420"/>
              </a:spcAft>
            </a:pPr>
            <a:r>
              <a:rPr lang="en-US" sz="1200">
                <a:latin typeface="Calibri"/>
              </a:rPr>
              <a:t>Implements the classic Rock Paper Scissors game with options for player vs. computer or two players.</a:t>
            </a:r>
          </a:p>
          <a:p>
            <a:pPr algn="just" marL="241300" indent="0">
              <a:lnSpc>
                <a:spcPts val="1824"/>
              </a:lnSpc>
            </a:pPr>
            <a:r>
              <a:rPr lang="en-US" b="1" sz="1300">
                <a:latin typeface="Calibri"/>
              </a:rPr>
              <a:t>•    Interactive Gameplay:</a:t>
            </a:r>
          </a:p>
          <a:p>
            <a:pPr marL="482600" indent="0">
              <a:lnSpc>
                <a:spcPts val="1824"/>
              </a:lnSpc>
              <a:spcAft>
                <a:spcPts val="420"/>
              </a:spcAft>
            </a:pPr>
            <a:r>
              <a:rPr lang="en-US" sz="1200">
                <a:latin typeface="Calibri"/>
              </a:rPr>
              <a:t>Uses command-line inputs to allow users to choose game mode, input their moves, and decide whether to play another round.</a:t>
            </a:r>
          </a:p>
          <a:p>
            <a:pPr algn="just" marL="241300" indent="0">
              <a:lnSpc>
                <a:spcPts val="1824"/>
              </a:lnSpc>
            </a:pPr>
            <a:r>
              <a:rPr lang="en-US" b="1" sz="1300">
                <a:latin typeface="Calibri"/>
              </a:rPr>
              <a:t>•    Score Keeping:</a:t>
            </a:r>
          </a:p>
          <a:p>
            <a:pPr marL="482600" indent="0">
              <a:lnSpc>
                <a:spcPts val="1824"/>
              </a:lnSpc>
              <a:spcAft>
                <a:spcPts val="420"/>
              </a:spcAft>
            </a:pPr>
            <a:r>
              <a:rPr lang="en-US" sz="1200">
                <a:latin typeface="Calibri"/>
              </a:rPr>
              <a:t>Maintains and displays scores for each participant (player(s) and computer) after each round.</a:t>
            </a:r>
          </a:p>
          <a:p>
            <a:pPr algn="just" indent="0">
              <a:spcAft>
                <a:spcPts val="1050"/>
              </a:spcAft>
            </a:pPr>
            <a:r>
              <a:rPr lang="en-US" b="1" sz="1300">
                <a:latin typeface="Calibri"/>
              </a:rPr>
              <a:t>2.    Algorithm</a:t>
            </a:r>
          </a:p>
          <a:p>
            <a:pPr algn="just" marL="241300" indent="0">
              <a:spcAft>
                <a:spcPts val="1050"/>
              </a:spcAft>
            </a:pPr>
            <a:r>
              <a:rPr lang="en-US" b="1" sz="1300">
                <a:latin typeface="Calibri"/>
              </a:rPr>
              <a:t>•    Input Validation:</a:t>
            </a:r>
          </a:p>
          <a:p>
            <a:pPr marL="927100" indent="-215900">
              <a:lnSpc>
                <a:spcPts val="1824"/>
              </a:lnSpc>
              <a:spcAft>
                <a:spcPts val="420"/>
              </a:spcAft>
            </a:pPr>
            <a:r>
              <a:rPr lang="en-US" sz="1200">
                <a:latin typeface="Calibri"/>
              </a:rPr>
              <a:t>o Checks if the user's choice is valid (between 1 and 3 for moves and 1 or 2 for selecting the opponent).</a:t>
            </a:r>
          </a:p>
          <a:p>
            <a:pPr algn="just" marL="241300" indent="0">
              <a:lnSpc>
                <a:spcPts val="2616"/>
              </a:lnSpc>
            </a:pPr>
            <a:r>
              <a:rPr lang="en-US" b="1" sz="1300">
                <a:latin typeface="Calibri"/>
              </a:rPr>
              <a:t>•    Game Rules &amp; Scoring:</a:t>
            </a:r>
          </a:p>
          <a:p>
            <a:pPr marL="711200" indent="0">
              <a:lnSpc>
                <a:spcPts val="2616"/>
              </a:lnSpc>
            </a:pPr>
            <a:r>
              <a:rPr lang="en-US" sz="1200">
                <a:latin typeface="Calibri"/>
              </a:rPr>
              <a:t>o Displays the game rules before starting. o Determines the winner based on predefined rules:</a:t>
            </a:r>
          </a:p>
          <a:p>
            <a:pPr algn="just" marL="1168400" indent="0">
              <a:lnSpc>
                <a:spcPts val="2616"/>
              </a:lnSpc>
            </a:pPr>
            <a:r>
              <a:rPr lang="en-US" sz="1200">
                <a:latin typeface="Calibri"/>
              </a:rPr>
              <a:t>■    Rock beats Scissors.</a:t>
            </a:r>
          </a:p>
          <a:p>
            <a:pPr algn="just" marL="1168400" indent="0">
              <a:lnSpc>
                <a:spcPts val="2616"/>
              </a:lnSpc>
            </a:pPr>
            <a:r>
              <a:rPr lang="en-US" sz="1200">
                <a:latin typeface="Calibri"/>
              </a:rPr>
              <a:t>■    Paper beats Rock.</a:t>
            </a:r>
          </a:p>
          <a:p>
            <a:pPr algn="just" marL="1168400" indent="0">
              <a:lnSpc>
                <a:spcPts val="2616"/>
              </a:lnSpc>
            </a:pPr>
            <a:r>
              <a:rPr lang="en-US" sz="1200">
                <a:latin typeface="Calibri"/>
              </a:rPr>
              <a:t>■    Scissors beat Paper.</a:t>
            </a:r>
          </a:p>
          <a:p>
            <a:pPr marL="711200" indent="0">
              <a:lnSpc>
                <a:spcPts val="2616"/>
              </a:lnSpc>
            </a:pPr>
            <a:r>
              <a:rPr lang="en-US" sz="1200">
                <a:latin typeface="Calibri"/>
              </a:rPr>
              <a:t>o Updates scores using a dedicated Score method.</a:t>
            </a:r>
          </a:p>
          <a:p>
            <a:pPr algn="just" marL="241300" indent="0">
              <a:lnSpc>
                <a:spcPts val="2616"/>
              </a:lnSpc>
            </a:pPr>
            <a:r>
              <a:rPr lang="en-US" b="1" sz="1300">
                <a:latin typeface="Calibri"/>
              </a:rPr>
              <a:t>•    Game Flow:</a:t>
            </a:r>
          </a:p>
          <a:p>
            <a:pPr marL="711200" indent="0">
              <a:lnSpc>
                <a:spcPts val="2616"/>
              </a:lnSpc>
            </a:pPr>
            <a:r>
              <a:rPr lang="en-US" sz="1200">
                <a:latin typeface="Calibri"/>
              </a:rPr>
              <a:t>o Prompts the user to choose their move. o Depending on the opponent choice, either:</a:t>
            </a:r>
          </a:p>
          <a:p>
            <a:pPr algn="just" marL="1168400" indent="0">
              <a:lnSpc>
                <a:spcPts val="2616"/>
              </a:lnSpc>
            </a:pPr>
            <a:r>
              <a:rPr lang="en-US" sz="1200">
                <a:latin typeface="Calibri"/>
              </a:rPr>
              <a:t>■    Generates a random move for the computer.</a:t>
            </a:r>
          </a:p>
          <a:p>
            <a:pPr algn="just" marL="1168400" indent="0">
              <a:lnSpc>
                <a:spcPts val="2616"/>
              </a:lnSpc>
            </a:pPr>
            <a:r>
              <a:rPr lang="en-US" sz="1200">
                <a:latin typeface="Calibri"/>
              </a:rPr>
              <a:t>■    Accepts a second player's move.</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sp>
        <p:nvSpPr>
          <p:cNvPr id="2" name=""/>
          <p:cNvSpPr/>
          <p:nvPr/>
        </p:nvSpPr>
        <p:spPr>
          <a:xfrm>
            <a:off x="1591056" y="999744"/>
            <a:ext cx="94488" cy="91440"/>
          </a:xfrm>
          <a:prstGeom prst="rect">
            <a:avLst/>
          </a:prstGeom>
        </p:spPr>
        <p:txBody>
          <a:bodyPr lIns="0" tIns="0" rIns="0" bIns="0" wrap="none">
            <a:noAutofit/>
          </a:bodyPr>
          <a:p>
            <a:pPr indent="0"/>
            <a:r>
              <a:rPr lang="en-US" sz="1200">
                <a:latin typeface="Calibri"/>
              </a:rPr>
              <a:t>o</a:t>
            </a:r>
          </a:p>
        </p:txBody>
      </p:sp>
      <p:sp>
        <p:nvSpPr>
          <p:cNvPr id="3" name=""/>
          <p:cNvSpPr/>
          <p:nvPr/>
        </p:nvSpPr>
        <p:spPr>
          <a:xfrm>
            <a:off x="1837944" y="960120"/>
            <a:ext cx="4306824" cy="140208"/>
          </a:xfrm>
          <a:prstGeom prst="rect">
            <a:avLst/>
          </a:prstGeom>
        </p:spPr>
        <p:txBody>
          <a:bodyPr lIns="0" tIns="0" rIns="0" bIns="0" wrap="none">
            <a:noAutofit/>
          </a:bodyPr>
          <a:p>
            <a:pPr indent="-711200">
              <a:lnSpc>
                <a:spcPts val="2640"/>
              </a:lnSpc>
            </a:pPr>
            <a:r>
              <a:rPr lang="en-US" sz="1200">
                <a:latin typeface="Calibri"/>
              </a:rPr>
              <a:t>Compares moves to determine the outcome (win, lose, or draw). </a:t>
            </a:r>
          </a:p>
        </p:txBody>
      </p:sp>
      <p:sp>
        <p:nvSpPr>
          <p:cNvPr id="4" name=""/>
          <p:cNvSpPr/>
          <p:nvPr/>
        </p:nvSpPr>
        <p:spPr>
          <a:xfrm>
            <a:off x="1609344" y="1295400"/>
            <a:ext cx="3319272" cy="475488"/>
          </a:xfrm>
          <a:prstGeom prst="rect">
            <a:avLst/>
          </a:prstGeom>
        </p:spPr>
        <p:txBody>
          <a:bodyPr lIns="0" tIns="0" rIns="0" bIns="0">
            <a:noAutofit/>
          </a:bodyPr>
          <a:p>
            <a:pPr indent="-711200">
              <a:lnSpc>
                <a:spcPts val="2640"/>
              </a:lnSpc>
            </a:pPr>
            <a:r>
              <a:rPr lang="en-US" sz="1200">
                <a:latin typeface="Calibri"/>
              </a:rPr>
              <a:t>o Displays the updated scores. o Asks if the players want to play another round.</a:t>
            </a: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sp>
        <p:nvSpPr>
          <p:cNvPr id="2" name=""/>
          <p:cNvSpPr/>
          <p:nvPr/>
        </p:nvSpPr>
        <p:spPr>
          <a:xfrm>
            <a:off x="2977896" y="1274064"/>
            <a:ext cx="1813560" cy="182880"/>
          </a:xfrm>
          <a:prstGeom prst="rect">
            <a:avLst/>
          </a:prstGeom>
        </p:spPr>
        <p:txBody>
          <a:bodyPr lIns="0" tIns="0" rIns="0" bIns="0" wrap="none">
            <a:noAutofit/>
          </a:bodyPr>
          <a:p>
            <a:pPr indent="0"/>
            <a:r>
              <a:rPr lang="en-US" b="1" u="sng" sz="1300">
                <a:latin typeface="Calibri"/>
              </a:rPr>
              <a:t>App 3(Mahmoud Ibrahim)</a:t>
            </a:r>
          </a:p>
        </p:txBody>
      </p:sp>
      <p:sp>
        <p:nvSpPr>
          <p:cNvPr id="3" name=""/>
          <p:cNvSpPr/>
          <p:nvPr/>
        </p:nvSpPr>
        <p:spPr>
          <a:xfrm>
            <a:off x="908304" y="1947672"/>
            <a:ext cx="5654040" cy="3017520"/>
          </a:xfrm>
          <a:prstGeom prst="rect">
            <a:avLst/>
          </a:prstGeom>
        </p:spPr>
        <p:txBody>
          <a:bodyPr lIns="0" tIns="0" rIns="0" bIns="0">
            <a:noAutofit/>
          </a:bodyPr>
          <a:p>
            <a:pPr indent="0">
              <a:spcAft>
                <a:spcPts val="1050"/>
              </a:spcAft>
            </a:pPr>
            <a:r>
              <a:rPr lang="en-US" sz="1200">
                <a:latin typeface="Calibri"/>
              </a:rPr>
              <a:t>1. Main Idea</a:t>
            </a:r>
          </a:p>
          <a:p>
            <a:pPr algn="just" marL="244856" indent="0">
              <a:lnSpc>
                <a:spcPts val="1824"/>
              </a:lnSpc>
            </a:pPr>
            <a:r>
              <a:rPr lang="en-US" sz="1200">
                <a:latin typeface="Calibri"/>
              </a:rPr>
              <a:t>•    Modular Workout App:</a:t>
            </a:r>
          </a:p>
          <a:p>
            <a:pPr marL="473456" indent="0">
              <a:lnSpc>
                <a:spcPts val="1824"/>
              </a:lnSpc>
              <a:spcAft>
                <a:spcPts val="420"/>
              </a:spcAft>
            </a:pPr>
            <a:r>
              <a:rPr lang="en-US" sz="1200">
                <a:latin typeface="Calibri"/>
              </a:rPr>
              <a:t>This project is an Android workout app that demonstrates modular design by separating the application into distinct layers:</a:t>
            </a:r>
          </a:p>
          <a:p>
            <a:pPr marL="930656" indent="-228600">
              <a:lnSpc>
                <a:spcPts val="2616"/>
              </a:lnSpc>
            </a:pPr>
            <a:r>
              <a:rPr lang="en-US" sz="1200">
                <a:latin typeface="Calibri"/>
              </a:rPr>
              <a:t>o Activities: Manage UI and navigation.</a:t>
            </a:r>
          </a:p>
          <a:p>
            <a:pPr marL="702056" indent="0">
              <a:lnSpc>
                <a:spcPts val="2616"/>
              </a:lnSpc>
            </a:pPr>
            <a:r>
              <a:rPr lang="en-US" sz="1200">
                <a:latin typeface="Calibri"/>
              </a:rPr>
              <a:t>o Domain Classes: Represent data models (workouts and lessons). o Adapter: Binds workout data to RecyclerView items for display.</a:t>
            </a:r>
          </a:p>
          <a:p>
            <a:pPr algn="just" marL="244856" indent="0">
              <a:lnSpc>
                <a:spcPts val="1824"/>
              </a:lnSpc>
            </a:pPr>
            <a:r>
              <a:rPr lang="en-US" sz="1200">
                <a:latin typeface="Calibri"/>
              </a:rPr>
              <a:t>•    User Flow:</a:t>
            </a:r>
          </a:p>
          <a:p>
            <a:pPr marL="473456" indent="0">
              <a:lnSpc>
                <a:spcPts val="1824"/>
              </a:lnSpc>
              <a:spcAft>
                <a:spcPts val="2310"/>
              </a:spcAft>
            </a:pPr>
            <a:r>
              <a:rPr lang="en-US" sz="1200">
                <a:latin typeface="Calibri"/>
              </a:rPr>
              <a:t>The user is first greeted with an introduction screen (IntroActivity). Once they click "start," they are taken to the MainActivity where a list of workouts is displayed. Each workout item can be clicked to view detailed lessons.</a:t>
            </a:r>
          </a:p>
        </p:txBody>
      </p:sp>
      <p:sp>
        <p:nvSpPr>
          <p:cNvPr id="4" name=""/>
          <p:cNvSpPr/>
          <p:nvPr/>
        </p:nvSpPr>
        <p:spPr>
          <a:xfrm>
            <a:off x="899160" y="5458968"/>
            <a:ext cx="5882640" cy="3529584"/>
          </a:xfrm>
          <a:prstGeom prst="rect">
            <a:avLst/>
          </a:prstGeom>
        </p:spPr>
        <p:txBody>
          <a:bodyPr lIns="0" tIns="0" rIns="0" bIns="0">
            <a:noAutofit/>
          </a:bodyPr>
          <a:p>
            <a:pPr marR="3860800" indent="0">
              <a:lnSpc>
                <a:spcPts val="2640"/>
              </a:lnSpc>
              <a:spcBef>
                <a:spcPts val="2310"/>
              </a:spcBef>
            </a:pPr>
            <a:r>
              <a:rPr lang="en-US" sz="1200">
                <a:latin typeface="Calibri"/>
              </a:rPr>
              <a:t>2. Algorithm Overview Activity Flow and Navigation:</a:t>
            </a:r>
          </a:p>
          <a:p>
            <a:pPr algn="just" marL="254000" indent="0">
              <a:lnSpc>
                <a:spcPts val="2640"/>
              </a:lnSpc>
            </a:pPr>
            <a:r>
              <a:rPr lang="en-US" sz="1200">
                <a:latin typeface="Calibri"/>
              </a:rPr>
              <a:t>•    IntroActivity:</a:t>
            </a:r>
          </a:p>
          <a:p>
            <a:pPr marL="939800" indent="-228600">
              <a:lnSpc>
                <a:spcPts val="1824"/>
              </a:lnSpc>
              <a:spcAft>
                <a:spcPts val="420"/>
              </a:spcAft>
            </a:pPr>
            <a:r>
              <a:rPr lang="en-US" sz="1200">
                <a:latin typeface="Calibri"/>
              </a:rPr>
              <a:t>o Setup: Uses view binding to inflate the layout and applies full-screen window flags.</a:t>
            </a:r>
          </a:p>
          <a:p>
            <a:pPr marL="939800" indent="-228600">
              <a:lnSpc>
                <a:spcPts val="1848"/>
              </a:lnSpc>
              <a:spcAft>
                <a:spcPts val="420"/>
              </a:spcAft>
            </a:pPr>
            <a:r>
              <a:rPr lang="en-US" sz="1200">
                <a:latin typeface="Calibri"/>
              </a:rPr>
              <a:t>o Navigation: Listens for a button click to transition to MainActivity using an Intent.</a:t>
            </a:r>
          </a:p>
          <a:p>
            <a:pPr algn="just" marL="254000" indent="0">
              <a:lnSpc>
                <a:spcPts val="2640"/>
              </a:lnSpc>
            </a:pPr>
            <a:r>
              <a:rPr lang="en-US" sz="1200">
                <a:latin typeface="Calibri"/>
              </a:rPr>
              <a:t>•    MainActivity:</a:t>
            </a:r>
          </a:p>
          <a:p>
            <a:pPr marL="939800" indent="-228600">
              <a:lnSpc>
                <a:spcPts val="2640"/>
              </a:lnSpc>
            </a:pPr>
            <a:r>
              <a:rPr lang="en-US" sz="1200">
                <a:latin typeface="Calibri"/>
              </a:rPr>
              <a:t>o Data Preparation: Contains methods that generate sample data:</a:t>
            </a:r>
          </a:p>
          <a:p>
            <a:pPr algn="just" marL="1168400" indent="0">
              <a:lnSpc>
                <a:spcPts val="2640"/>
              </a:lnSpc>
            </a:pPr>
            <a:r>
              <a:rPr lang="en-US" sz="1200">
                <a:latin typeface="Calibri"/>
              </a:rPr>
              <a:t>■    getData(): Creates a list of workouts.</a:t>
            </a:r>
          </a:p>
          <a:p>
            <a:pPr marL="1397000" indent="-228600">
              <a:lnSpc>
                <a:spcPts val="1824"/>
              </a:lnSpc>
            </a:pPr>
            <a:r>
              <a:rPr lang="en-US" sz="1200">
                <a:latin typeface="Calibri"/>
              </a:rPr>
              <a:t>■    getLesson_1(), getLesson_2(), getLesson_3(): Build lesson lists for each workout.</a:t>
            </a: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sp>
        <p:nvSpPr>
          <p:cNvPr id="2" name=""/>
          <p:cNvSpPr/>
          <p:nvPr/>
        </p:nvSpPr>
        <p:spPr>
          <a:xfrm>
            <a:off x="899160" y="941832"/>
            <a:ext cx="5894832" cy="6035040"/>
          </a:xfrm>
          <a:prstGeom prst="rect">
            <a:avLst/>
          </a:prstGeom>
        </p:spPr>
        <p:txBody>
          <a:bodyPr lIns="0" tIns="0" rIns="0" bIns="0">
            <a:noAutofit/>
          </a:bodyPr>
          <a:p>
            <a:pPr marL="939800" indent="-228600">
              <a:lnSpc>
                <a:spcPts val="1824"/>
              </a:lnSpc>
              <a:spcAft>
                <a:spcPts val="420"/>
              </a:spcAft>
            </a:pPr>
            <a:r>
              <a:rPr lang="en-US" sz="1200">
                <a:latin typeface="Calibri"/>
              </a:rPr>
              <a:t>o </a:t>
            </a:r>
            <a:r>
              <a:rPr lang="en-US" b="1" sz="1300">
                <a:latin typeface="Calibri"/>
              </a:rPr>
              <a:t>Display: </a:t>
            </a:r>
            <a:r>
              <a:rPr lang="en-US" sz="1200">
                <a:latin typeface="Calibri"/>
              </a:rPr>
              <a:t>Likely uses a RecyclerView (with WorkoutAdapter) to show workout items, enabling smooth scrolling and user interaction.</a:t>
            </a:r>
          </a:p>
          <a:p>
            <a:pPr indent="0">
              <a:spcAft>
                <a:spcPts val="1050"/>
              </a:spcAft>
            </a:pPr>
            <a:r>
              <a:rPr lang="en-US" b="1" sz="1300">
                <a:latin typeface="Calibri"/>
              </a:rPr>
              <a:t>Data Handling:</a:t>
            </a:r>
          </a:p>
          <a:p>
            <a:pPr algn="just" marL="254000" indent="0">
              <a:spcAft>
                <a:spcPts val="1050"/>
              </a:spcAft>
            </a:pPr>
            <a:r>
              <a:rPr lang="en-US" b="1" sz="1300">
                <a:latin typeface="Calibri"/>
              </a:rPr>
              <a:t>•    Workout Domain Class:</a:t>
            </a:r>
          </a:p>
          <a:p>
            <a:pPr marL="939800" indent="-228600">
              <a:lnSpc>
                <a:spcPts val="1848"/>
              </a:lnSpc>
              <a:spcAft>
                <a:spcPts val="420"/>
              </a:spcAft>
            </a:pPr>
            <a:r>
              <a:rPr lang="en-US" sz="1200">
                <a:latin typeface="Calibri"/>
              </a:rPr>
              <a:t>o Encapsulates details such as title, description, image path, calorie count, and associated lessons.</a:t>
            </a:r>
          </a:p>
          <a:p>
            <a:pPr marL="711200" indent="0">
              <a:lnSpc>
                <a:spcPts val="2616"/>
              </a:lnSpc>
            </a:pPr>
            <a:r>
              <a:rPr lang="en-US" sz="1200">
                <a:latin typeface="Calibri"/>
              </a:rPr>
              <a:t>o Implements Serializable to pass objects between activities.</a:t>
            </a:r>
          </a:p>
          <a:p>
            <a:pPr algn="just" marL="254000" indent="0">
              <a:lnSpc>
                <a:spcPts val="2616"/>
              </a:lnSpc>
            </a:pPr>
            <a:r>
              <a:rPr lang="en-US" b="1" sz="1300">
                <a:latin typeface="Calibri"/>
              </a:rPr>
              <a:t>•    Lession Domain Class:</a:t>
            </a:r>
          </a:p>
          <a:p>
            <a:pPr marL="711200" indent="0">
              <a:lnSpc>
                <a:spcPts val="2616"/>
              </a:lnSpc>
            </a:pPr>
            <a:r>
              <a:rPr lang="en-US" sz="1200">
                <a:latin typeface="Calibri"/>
              </a:rPr>
              <a:t>o Holds properties like title, duration, video link, and image path. o Provides getters and setters for encapsulated data.</a:t>
            </a:r>
          </a:p>
          <a:p>
            <a:pPr indent="0">
              <a:lnSpc>
                <a:spcPts val="2616"/>
              </a:lnSpc>
            </a:pPr>
            <a:r>
              <a:rPr lang="en-US" b="1" sz="1300">
                <a:latin typeface="Calibri"/>
              </a:rPr>
              <a:t>Adapter Operations:</a:t>
            </a:r>
          </a:p>
          <a:p>
            <a:pPr algn="just" marL="254000" indent="0">
              <a:lnSpc>
                <a:spcPts val="2616"/>
              </a:lnSpc>
            </a:pPr>
            <a:r>
              <a:rPr lang="en-US" b="1" sz="1300">
                <a:latin typeface="Calibri"/>
              </a:rPr>
              <a:t>•    WorkoutAdapter:</a:t>
            </a:r>
          </a:p>
          <a:p>
            <a:pPr marL="711200" indent="0">
              <a:lnSpc>
                <a:spcPts val="2616"/>
              </a:lnSpc>
            </a:pPr>
            <a:r>
              <a:rPr lang="en-US" sz="1200">
                <a:latin typeface="Calibri"/>
              </a:rPr>
              <a:t>o </a:t>
            </a:r>
            <a:r>
              <a:rPr lang="en-US" b="1" sz="1300">
                <a:latin typeface="Calibri"/>
              </a:rPr>
              <a:t>Binding Data:</a:t>
            </a:r>
          </a:p>
          <a:p>
            <a:pPr marL="1397000" indent="-228600">
              <a:lnSpc>
                <a:spcPts val="1848"/>
              </a:lnSpc>
              <a:spcAft>
                <a:spcPts val="420"/>
              </a:spcAft>
            </a:pPr>
            <a:r>
              <a:rPr lang="en-US" sz="1200">
                <a:latin typeface="Calibri"/>
              </a:rPr>
              <a:t>■    Uses view binding to populate each view holder with workout details.</a:t>
            </a:r>
          </a:p>
          <a:p>
            <a:pPr marL="1397000" indent="-228600">
              <a:lnSpc>
                <a:spcPts val="1824"/>
              </a:lnSpc>
              <a:spcAft>
                <a:spcPts val="420"/>
              </a:spcAft>
            </a:pPr>
            <a:r>
              <a:rPr lang="en-US" sz="1200">
                <a:latin typeface="Calibri"/>
              </a:rPr>
              <a:t>■    Loads images dynamically using the Glide library based on resource names.</a:t>
            </a:r>
          </a:p>
          <a:p>
            <a:pPr marL="711200" indent="0">
              <a:spcAft>
                <a:spcPts val="1050"/>
              </a:spcAft>
            </a:pPr>
            <a:r>
              <a:rPr lang="en-US" sz="1200">
                <a:latin typeface="Calibri"/>
              </a:rPr>
              <a:t>o </a:t>
            </a:r>
            <a:r>
              <a:rPr lang="en-US" b="1" sz="1300">
                <a:latin typeface="Calibri"/>
              </a:rPr>
              <a:t>User Interaction:</a:t>
            </a:r>
          </a:p>
          <a:p>
            <a:pPr marL="1397000" indent="-228600">
              <a:lnSpc>
                <a:spcPts val="1848"/>
              </a:lnSpc>
            </a:pPr>
            <a:r>
              <a:rPr lang="en-US" sz="1200">
                <a:latin typeface="Calibri"/>
              </a:rPr>
              <a:t>■    Sets click listeners on workout items to open the detailed WorkoutActivity, passing the selected workout data via Intent.</a:t>
            </a: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pic>
        <p:nvPicPr>
          <p:cNvPr id="2" name=""/>
          <p:cNvPicPr>
            <a:picLocks noChangeAspect="1"/>
          </p:cNvPicPr>
          <p:nvPr/>
        </p:nvPicPr>
        <p:blipFill>
          <a:blip r:embed="rPictId0"/>
          <a:stretch>
            <a:fillRect/>
          </a:stretch>
        </p:blipFill>
        <p:spPr>
          <a:xfrm>
            <a:off x="1234440" y="3236976"/>
            <a:ext cx="4108704" cy="627888"/>
          </a:xfrm>
          <a:prstGeom prst="rect">
            <a:avLst/>
          </a:prstGeom>
        </p:spPr>
      </p:pic>
      <p:pic>
        <p:nvPicPr>
          <p:cNvPr id="3" name=""/>
          <p:cNvPicPr>
            <a:picLocks noChangeAspect="1"/>
          </p:cNvPicPr>
          <p:nvPr/>
        </p:nvPicPr>
        <p:blipFill>
          <a:blip r:embed="rPictId1"/>
          <a:stretch>
            <a:fillRect/>
          </a:stretch>
        </p:blipFill>
        <p:spPr>
          <a:xfrm>
            <a:off x="2255520" y="4480560"/>
            <a:ext cx="2109216" cy="2014728"/>
          </a:xfrm>
          <a:prstGeom prst="rect">
            <a:avLst/>
          </a:prstGeom>
        </p:spPr>
      </p:pic>
      <p:pic>
        <p:nvPicPr>
          <p:cNvPr id="4" name=""/>
          <p:cNvPicPr>
            <a:picLocks noChangeAspect="1"/>
          </p:cNvPicPr>
          <p:nvPr/>
        </p:nvPicPr>
        <p:blipFill>
          <a:blip r:embed="rPictId2"/>
          <a:stretch>
            <a:fillRect/>
          </a:stretch>
        </p:blipFill>
        <p:spPr>
          <a:xfrm>
            <a:off x="4965192" y="5934456"/>
            <a:ext cx="966216" cy="347472"/>
          </a:xfrm>
          <a:prstGeom prst="rect">
            <a:avLst/>
          </a:prstGeom>
        </p:spPr>
      </p:pic>
      <p:pic>
        <p:nvPicPr>
          <p:cNvPr id="5" name=""/>
          <p:cNvPicPr>
            <a:picLocks noChangeAspect="1"/>
          </p:cNvPicPr>
          <p:nvPr/>
        </p:nvPicPr>
        <p:blipFill>
          <a:blip r:embed="rPictId3"/>
          <a:stretch>
            <a:fillRect/>
          </a:stretch>
        </p:blipFill>
        <p:spPr>
          <a:xfrm>
            <a:off x="914400" y="6681216"/>
            <a:ext cx="3934968" cy="1871472"/>
          </a:xfrm>
          <a:prstGeom prst="rect">
            <a:avLst/>
          </a:prstGeom>
        </p:spPr>
      </p:pic>
      <p:sp>
        <p:nvSpPr>
          <p:cNvPr id="6" name=""/>
          <p:cNvSpPr/>
          <p:nvPr/>
        </p:nvSpPr>
        <p:spPr>
          <a:xfrm>
            <a:off x="3608832" y="969264"/>
            <a:ext cx="554736" cy="185928"/>
          </a:xfrm>
          <a:prstGeom prst="rect">
            <a:avLst/>
          </a:prstGeom>
          <a:solidFill>
            <a:srgbClr val="FFFF00"/>
          </a:solidFill>
        </p:spPr>
        <p:txBody>
          <a:bodyPr lIns="0" tIns="0" rIns="0" bIns="0" wrap="none">
            <a:noAutofit/>
          </a:bodyPr>
          <a:p>
            <a:pPr algn="ctr" indent="0">
              <a:spcAft>
                <a:spcPts val="1260"/>
              </a:spcAft>
            </a:pPr>
            <a:r>
              <a:rPr lang="en-US" b="1" sz="1700">
                <a:latin typeface="Calibri"/>
              </a:rPr>
              <a:t>LCNC:</a:t>
            </a:r>
          </a:p>
        </p:txBody>
      </p:sp>
      <p:sp>
        <p:nvSpPr>
          <p:cNvPr id="7" name=""/>
          <p:cNvSpPr/>
          <p:nvPr/>
        </p:nvSpPr>
        <p:spPr>
          <a:xfrm>
            <a:off x="899160" y="1365504"/>
            <a:ext cx="5952744" cy="1109472"/>
          </a:xfrm>
          <a:prstGeom prst="rect">
            <a:avLst/>
          </a:prstGeom>
        </p:spPr>
        <p:txBody>
          <a:bodyPr lIns="0" tIns="0" rIns="0" bIns="0">
            <a:noAutofit/>
          </a:bodyPr>
          <a:p>
            <a:pPr indent="0">
              <a:lnSpc>
                <a:spcPts val="1824"/>
              </a:lnSpc>
              <a:spcBef>
                <a:spcPts val="1260"/>
              </a:spcBef>
            </a:pPr>
            <a:r>
              <a:rPr lang="en-US" sz="1200">
                <a:latin typeface="Calibri"/>
              </a:rPr>
              <a:t>It is implemented through BUBBLE program, which offers great features such as workflow, ease of drag and drop, and formatting. The idea of the website is simply that it is a football website that has a competition to solve questions for a certain number of points and allows the user to choose whether he wants local or international questions by clicking on the "Let's start" button.</a:t>
            </a:r>
          </a:p>
        </p:txBody>
      </p:sp>
      <p:sp>
        <p:nvSpPr>
          <p:cNvPr id="8" name=""/>
          <p:cNvSpPr/>
          <p:nvPr/>
        </p:nvSpPr>
        <p:spPr>
          <a:xfrm>
            <a:off x="1606296" y="4888992"/>
            <a:ext cx="131064" cy="868680"/>
          </a:xfrm>
          <a:prstGeom prst="rect">
            <a:avLst/>
          </a:prstGeom>
        </p:spPr>
        <p:txBody>
          <a:bodyPr lIns="0" tIns="0" rIns="0" bIns="0">
            <a:noAutofit/>
          </a:bodyPr>
          <a:p>
            <a:pPr indent="0">
              <a:lnSpc>
                <a:spcPts val="1440"/>
              </a:lnSpc>
            </a:pPr>
            <a:r>
              <a:rPr lang="en-US" b="1" sz="1000">
                <a:solidFill>
                  <a:srgbClr val="24221E"/>
                </a:solidFill>
                <a:latin typeface="Trebuchet MS"/>
              </a:rPr>
              <a:t>M</a:t>
            </a:r>
          </a:p>
          <a:p>
            <a:pPr indent="0">
              <a:lnSpc>
                <a:spcPts val="1440"/>
              </a:lnSpc>
            </a:pPr>
            <a:r>
              <a:rPr lang="en-US" b="1" sz="1000">
                <a:solidFill>
                  <a:srgbClr val="24221E"/>
                </a:solidFill>
                <a:latin typeface="Trebuchet MS"/>
              </a:rPr>
              <a:t>A</a:t>
            </a:r>
          </a:p>
          <a:p>
            <a:pPr indent="0">
              <a:lnSpc>
                <a:spcPts val="1440"/>
              </a:lnSpc>
            </a:pPr>
            <a:r>
              <a:rPr lang="en-US" b="1" sz="1000">
                <a:solidFill>
                  <a:srgbClr val="24221E"/>
                </a:solidFill>
                <a:latin typeface="Trebuchet MS"/>
              </a:rPr>
              <a:t>G</a:t>
            </a:r>
          </a:p>
          <a:p>
            <a:pPr indent="0">
              <a:lnSpc>
                <a:spcPts val="1440"/>
              </a:lnSpc>
            </a:pPr>
            <a:r>
              <a:rPr lang="en-US" sz="1150">
                <a:solidFill>
                  <a:srgbClr val="24221E"/>
                </a:solidFill>
                <a:latin typeface="Calibri"/>
              </a:rPr>
              <a:t>I</a:t>
            </a:r>
          </a:p>
          <a:p>
            <a:pPr indent="0">
              <a:lnSpc>
                <a:spcPts val="1440"/>
              </a:lnSpc>
            </a:pPr>
            <a:r>
              <a:rPr lang="en-US" b="1" sz="1000">
                <a:solidFill>
                  <a:srgbClr val="24221E"/>
                </a:solidFill>
                <a:latin typeface="Trebuchet MS"/>
              </a:rPr>
              <a:t>C</a:t>
            </a:r>
          </a:p>
        </p:txBody>
      </p:sp>
      <p:sp>
        <p:nvSpPr>
          <p:cNvPr id="9" name=""/>
          <p:cNvSpPr/>
          <p:nvPr/>
        </p:nvSpPr>
        <p:spPr>
          <a:xfrm>
            <a:off x="4379976" y="4501896"/>
            <a:ext cx="2389632" cy="1255776"/>
          </a:xfrm>
          <a:prstGeom prst="rect">
            <a:avLst/>
          </a:prstGeom>
        </p:spPr>
        <p:txBody>
          <a:bodyPr lIns="0" tIns="0" rIns="0" bIns="0">
            <a:noAutofit/>
          </a:bodyPr>
          <a:p>
            <a:pPr algn="ctr" indent="0">
              <a:spcAft>
                <a:spcPts val="1050"/>
              </a:spcAft>
            </a:pPr>
            <a:r>
              <a:rPr lang="en-US" sz="1200">
                <a:solidFill>
                  <a:srgbClr val="24221E"/>
                </a:solidFill>
                <a:latin typeface="Calibri"/>
              </a:rPr>
              <a:t>Are you a football expert ?</a:t>
            </a:r>
          </a:p>
          <a:p>
            <a:pPr algn="ctr" indent="0">
              <a:lnSpc>
                <a:spcPts val="1080"/>
              </a:lnSpc>
            </a:pPr>
            <a:r>
              <a:rPr lang="en-US" b="1" sz="900">
                <a:solidFill>
                  <a:srgbClr val="AD261D"/>
                </a:solidFill>
                <a:latin typeface="Calibri"/>
              </a:rPr>
              <a:t>Think you know football? It's time to put your knowledge to the test! Whether you're a die-hard football fan or just enjoy the game, our quiz will challenge your knowledge of the world's most popular sport. From famous players and historic tournaments to fun facts about football, we've got it all</a:t>
            </a: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pic>
        <p:nvPicPr>
          <p:cNvPr id="2" name=""/>
          <p:cNvPicPr>
            <a:picLocks noChangeAspect="1"/>
          </p:cNvPicPr>
          <p:nvPr/>
        </p:nvPicPr>
        <p:blipFill>
          <a:blip r:embed="rPictId0"/>
          <a:stretch>
            <a:fillRect/>
          </a:stretch>
        </p:blipFill>
        <p:spPr>
          <a:xfrm>
            <a:off x="2020824" y="3322320"/>
            <a:ext cx="3697224" cy="917448"/>
          </a:xfrm>
          <a:prstGeom prst="rect">
            <a:avLst/>
          </a:prstGeom>
        </p:spPr>
      </p:pic>
      <p:sp>
        <p:nvSpPr>
          <p:cNvPr id="3" name=""/>
          <p:cNvSpPr/>
          <p:nvPr/>
        </p:nvSpPr>
        <p:spPr>
          <a:xfrm>
            <a:off x="899160" y="941832"/>
            <a:ext cx="5843016" cy="615696"/>
          </a:xfrm>
          <a:prstGeom prst="rect">
            <a:avLst/>
          </a:prstGeom>
        </p:spPr>
        <p:txBody>
          <a:bodyPr lIns="0" tIns="0" rIns="0" bIns="0">
            <a:noAutofit/>
          </a:bodyPr>
          <a:p>
            <a:pPr indent="0">
              <a:lnSpc>
                <a:spcPts val="1824"/>
              </a:lnSpc>
              <a:spcAft>
                <a:spcPts val="1890"/>
              </a:spcAft>
            </a:pPr>
            <a:r>
              <a:rPr lang="en-US" sz="1200">
                <a:latin typeface="Calibri"/>
              </a:rPr>
              <a:t>After the selection is made, the game begins, and each correct question gets a point until the 10 questions are finished. A red light is placed on the wrong question until the correct answer is chosen.</a:t>
            </a:r>
          </a:p>
        </p:txBody>
      </p:sp>
      <p:sp>
        <p:nvSpPr>
          <p:cNvPr id="4" name=""/>
          <p:cNvSpPr/>
          <p:nvPr/>
        </p:nvSpPr>
        <p:spPr>
          <a:xfrm>
            <a:off x="5583936" y="1972056"/>
            <a:ext cx="926592" cy="192024"/>
          </a:xfrm>
          <a:prstGeom prst="rect">
            <a:avLst/>
          </a:prstGeom>
          <a:solidFill>
            <a:srgbClr val="FEE934"/>
          </a:solidFill>
        </p:spPr>
        <p:txBody>
          <a:bodyPr lIns="0" tIns="0" rIns="0" bIns="0" wrap="none">
            <a:noAutofit/>
          </a:bodyPr>
          <a:p>
            <a:pPr algn="r" indent="0">
              <a:spcBef>
                <a:spcPts val="1890"/>
              </a:spcBef>
              <a:spcAft>
                <a:spcPts val="6300"/>
              </a:spcAft>
            </a:pPr>
            <a:r>
              <a:rPr lang="en-US" b="1" sz="1500">
                <a:solidFill>
                  <a:srgbClr val="24221E"/>
                </a:solidFill>
                <a:latin typeface="Trebuchet MS"/>
              </a:rPr>
              <a:t>SCORE : 1</a:t>
            </a:r>
          </a:p>
        </p:txBody>
      </p:sp>
      <p:sp>
        <p:nvSpPr>
          <p:cNvPr id="5" name=""/>
          <p:cNvSpPr/>
          <p:nvPr/>
        </p:nvSpPr>
        <p:spPr>
          <a:xfrm>
            <a:off x="2919984" y="2703576"/>
            <a:ext cx="1813560" cy="164592"/>
          </a:xfrm>
          <a:prstGeom prst="rect">
            <a:avLst/>
          </a:prstGeom>
          <a:solidFill>
            <a:srgbClr val="FEE934"/>
          </a:solidFill>
        </p:spPr>
        <p:txBody>
          <a:bodyPr lIns="0" tIns="0" rIns="0" bIns="0" wrap="none">
            <a:noAutofit/>
          </a:bodyPr>
          <a:p>
            <a:pPr algn="just" indent="0"/>
            <a:r>
              <a:rPr lang="en-US" b="1" sz="700">
                <a:solidFill>
                  <a:srgbClr val="24221E"/>
                </a:solidFill>
                <a:latin typeface="Trebuchet MS"/>
              </a:rPr>
              <a:t>'■2012 t-jjjt </a:t>
            </a:r>
            <a:r>
              <a:rPr lang="en-US" i="1" baseline="-25000" sz="800">
                <a:solidFill>
                  <a:srgbClr val="24221E"/>
                </a:solidFill>
                <a:latin typeface="Calibri"/>
              </a:rPr>
              <a:t>4</a:t>
            </a:r>
            <a:r>
              <a:rPr lang="en-US" b="1" sz="700">
                <a:solidFill>
                  <a:srgbClr val="24221E"/>
                </a:solidFill>
                <a:latin typeface="Trebuchet MS"/>
              </a:rPr>
              <a:t> jiliil Jjjill</a:t>
            </a:r>
          </a:p>
        </p:txBody>
      </p:sp>
      <p:sp>
        <p:nvSpPr>
          <p:cNvPr id="6" name=""/>
          <p:cNvSpPr/>
          <p:nvPr/>
        </p:nvSpPr>
        <p:spPr>
          <a:xfrm>
            <a:off x="2828544" y="5020056"/>
            <a:ext cx="3785616" cy="722376"/>
          </a:xfrm>
          <a:prstGeom prst="rect">
            <a:avLst/>
          </a:prstGeom>
          <a:solidFill>
            <a:srgbClr val="FEDE6A"/>
          </a:solidFill>
        </p:spPr>
        <p:txBody>
          <a:bodyPr lIns="0" tIns="0" rIns="0" bIns="0">
            <a:noAutofit/>
          </a:bodyPr>
          <a:p>
            <a:pPr algn="r" indent="0">
              <a:spcBef>
                <a:spcPts val="4200"/>
              </a:spcBef>
              <a:spcAft>
                <a:spcPts val="1890"/>
              </a:spcAft>
            </a:pPr>
            <a:r>
              <a:rPr lang="en-US" sz="1800">
                <a:solidFill>
                  <a:srgbClr val="24221E"/>
                </a:solidFill>
                <a:latin typeface="Calibri"/>
              </a:rPr>
              <a:t>SCORE : 2</a:t>
            </a:r>
          </a:p>
          <a:p>
            <a:pPr algn="just" indent="0">
              <a:spcAft>
                <a:spcPts val="9660"/>
              </a:spcAft>
            </a:pPr>
            <a:r>
              <a:rPr lang="en-US" sz="850">
                <a:solidFill>
                  <a:srgbClr val="24221E"/>
                </a:solidFill>
                <a:latin typeface="Trebuchet MS"/>
              </a:rPr>
              <a:t>?</a:t>
            </a:r>
            <a:r>
              <a:rPr lang="en-US" b="1" sz="950">
                <a:solidFill>
                  <a:srgbClr val="24221E"/>
                </a:solidFill>
                <a:latin typeface="Trebuchet MS"/>
              </a:rPr>
              <a:t>2017/2018</a:t>
            </a:r>
            <a:r>
              <a:rPr lang="en-US" sz="850">
                <a:solidFill>
                  <a:srgbClr val="24221E"/>
                </a:solidFill>
                <a:latin typeface="Trebuchet MS"/>
              </a:rPr>
              <a:t>    ^</a:t>
            </a:r>
          </a:p>
        </p:txBody>
      </p:sp>
      <p:sp>
        <p:nvSpPr>
          <p:cNvPr id="7" name=""/>
          <p:cNvSpPr/>
          <p:nvPr/>
        </p:nvSpPr>
        <p:spPr>
          <a:xfrm>
            <a:off x="2667000" y="7467600"/>
            <a:ext cx="2916936" cy="179832"/>
          </a:xfrm>
          <a:prstGeom prst="rect">
            <a:avLst/>
          </a:prstGeom>
          <a:solidFill>
            <a:srgbClr val="0B28AB"/>
          </a:solidFill>
        </p:spPr>
        <p:txBody>
          <a:bodyPr lIns="0" tIns="0" rIns="0" bIns="0" wrap="none">
            <a:noAutofit/>
          </a:bodyPr>
          <a:p>
            <a:pPr algn="just" indent="0">
              <a:spcBef>
                <a:spcPts val="9660"/>
              </a:spcBef>
              <a:spcAft>
                <a:spcPts val="5460"/>
              </a:spcAft>
            </a:pPr>
            <a:r>
              <a:rPr lang="en-US" sz="750" spc="-50">
                <a:solidFill>
                  <a:srgbClr val="FFFFFF"/>
                </a:solidFill>
                <a:latin typeface="Trebuchet MS"/>
              </a:rPr>
              <a:t>AtbjJl    '-‘A</a:t>
            </a:r>
            <a:r>
              <a:rPr lang="en-US" baseline="30000" sz="850">
                <a:solidFill>
                  <a:srgbClr val="FFFFFF"/>
                </a:solidFill>
                <a:latin typeface="Calibri"/>
              </a:rPr>
              <a:t>1</a:t>
            </a:r>
          </a:p>
        </p:txBody>
      </p:sp>
      <p:sp>
        <p:nvSpPr>
          <p:cNvPr id="8" name=""/>
          <p:cNvSpPr/>
          <p:nvPr/>
        </p:nvSpPr>
        <p:spPr>
          <a:xfrm>
            <a:off x="899160" y="8607552"/>
            <a:ext cx="4968240" cy="198120"/>
          </a:xfrm>
          <a:prstGeom prst="rect">
            <a:avLst/>
          </a:prstGeom>
        </p:spPr>
        <p:txBody>
          <a:bodyPr lIns="0" tIns="0" rIns="0" bIns="0" wrap="none">
            <a:noAutofit/>
          </a:bodyPr>
          <a:p>
            <a:pPr indent="0">
              <a:spcBef>
                <a:spcPts val="5460"/>
              </a:spcBef>
            </a:pPr>
            <a:r>
              <a:rPr lang="en-US" sz="1400">
                <a:latin typeface="Calibri"/>
              </a:rPr>
              <a:t>App link :-</a:t>
            </a:r>
            <a:r>
              <a:rPr lang="en-US" sz="1400">
                <a:latin typeface="Calibri"/>
                <a:hlinkClick r:id="rLinkId0"/>
              </a:rPr>
              <a:t> </a:t>
            </a:r>
            <a:r>
              <a:rPr lang="en-US" u="sng" sz="1400">
                <a:solidFill>
                  <a:srgbClr val="0563C1"/>
                </a:solidFill>
                <a:latin typeface="Calibri"/>
                <a:hlinkClick r:id="rLinkId0"/>
              </a:rPr>
              <a:t>https://football-players-76986.bubbleapps.io/version-test</a:t>
            </a: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sp>
        <p:nvSpPr>
          <p:cNvPr id="2" name=""/>
          <p:cNvSpPr/>
          <p:nvPr/>
        </p:nvSpPr>
        <p:spPr>
          <a:xfrm>
            <a:off x="972312" y="1365504"/>
            <a:ext cx="3054096" cy="195072"/>
          </a:xfrm>
          <a:prstGeom prst="rect">
            <a:avLst/>
          </a:prstGeom>
        </p:spPr>
        <p:txBody>
          <a:bodyPr lIns="0" tIns="0" rIns="0" bIns="0" wrap="none">
            <a:noAutofit/>
          </a:bodyPr>
          <a:p>
            <a:pPr indent="0">
              <a:spcAft>
                <a:spcPts val="1050"/>
              </a:spcAft>
            </a:pPr>
            <a:r>
              <a:rPr lang="en-US" b="1" sz="1300">
                <a:latin typeface="Calibri"/>
              </a:rPr>
              <a:t>Comparison between two tools of LCNC:-</a:t>
            </a:r>
          </a:p>
        </p:txBody>
      </p:sp>
      <p:sp>
        <p:nvSpPr>
          <p:cNvPr id="3" name=""/>
          <p:cNvSpPr/>
          <p:nvPr/>
        </p:nvSpPr>
        <p:spPr>
          <a:xfrm>
            <a:off x="3218688" y="1722120"/>
            <a:ext cx="1350264" cy="192024"/>
          </a:xfrm>
          <a:prstGeom prst="rect">
            <a:avLst/>
          </a:prstGeom>
        </p:spPr>
        <p:txBody>
          <a:bodyPr lIns="0" tIns="0" rIns="0" bIns="0" wrap="none">
            <a:noAutofit/>
          </a:bodyPr>
          <a:p>
            <a:pPr algn="ctr" indent="0">
              <a:spcBef>
                <a:spcPts val="1050"/>
              </a:spcBef>
            </a:pPr>
            <a:r>
              <a:rPr lang="en-US" u="sng" sz="1400">
                <a:latin typeface="Calibri"/>
              </a:rPr>
              <a:t>BUBBLE and Quixy</a:t>
            </a:r>
          </a:p>
        </p:txBody>
      </p:sp>
      <p:graphicFrame>
        <p:nvGraphicFramePr>
          <p:cNvPr id="4" name=""/>
          <p:cNvGraphicFramePr>
            <a:graphicFrameLocks noGrp="1"/>
          </p:cNvGraphicFramePr>
          <p:nvPr/>
        </p:nvGraphicFramePr>
        <p:xfrm>
          <a:off x="978408" y="2045208"/>
          <a:ext cx="5541264" cy="3041904"/>
        </p:xfrm>
        <a:graphic>
          <a:graphicData uri="http://schemas.openxmlformats.org/drawingml/2006/table">
            <a:tbl>
              <a:tblPr/>
              <a:tblGrid>
                <a:gridCol w="1496568"/>
                <a:gridCol w="2106168"/>
                <a:gridCol w="1938528"/>
              </a:tblGrid>
              <a:tr h="527304">
                <a:tc>
                  <a:txBody>
                    <a:bodyPr lIns="0" tIns="0" rIns="0" bIns="0">
                      <a:noAutofit/>
                    </a:bodyPr>
                    <a:p>
                      <a:pPr indent="0"/>
                      <a:r>
                        <a:rPr lang="en-US" b="1" sz="1300">
                          <a:latin typeface="Calibri"/>
                        </a:rPr>
                        <a:t>Feature</a:t>
                      </a:r>
                    </a:p>
                  </a:txBody>
                  <a:tcPr marL="0" marR="0" marT="0" marB="0" anchor="ctr"/>
                </a:tc>
                <a:tc>
                  <a:txBody>
                    <a:bodyPr lIns="0" tIns="0" rIns="0" bIns="0">
                      <a:noAutofit/>
                    </a:bodyPr>
                    <a:p>
                      <a:pPr marL="368300" indent="0"/>
                      <a:r>
                        <a:rPr lang="en-US" b="1" sz="1300">
                          <a:latin typeface="Calibri"/>
                        </a:rPr>
                        <a:t>Bubble</a:t>
                      </a:r>
                    </a:p>
                  </a:txBody>
                  <a:tcPr marL="0" marR="0" marT="0" marB="0" anchor="ctr"/>
                </a:tc>
                <a:tc>
                  <a:txBody>
                    <a:bodyPr lIns="0" tIns="0" rIns="0" bIns="0">
                      <a:noAutofit/>
                    </a:bodyPr>
                    <a:p>
                      <a:pPr marL="241300" indent="0"/>
                      <a:r>
                        <a:rPr lang="en-US" b="1" sz="1300">
                          <a:latin typeface="Calibri"/>
                        </a:rPr>
                        <a:t>Quixy</a:t>
                      </a:r>
                    </a:p>
                  </a:txBody>
                  <a:tcPr marL="0" marR="0" marT="0" marB="0" anchor="ctr"/>
                </a:tc>
              </a:tr>
              <a:tr h="573024">
                <a:tc>
                  <a:txBody>
                    <a:bodyPr lIns="0" tIns="0" rIns="0" bIns="0">
                      <a:noAutofit/>
                    </a:bodyPr>
                    <a:p>
                      <a:pPr indent="0"/>
                      <a:r>
                        <a:rPr lang="en-US" b="1" sz="1300">
                          <a:latin typeface="Calibri"/>
                        </a:rPr>
                        <a:t>User Interface</a:t>
                      </a:r>
                    </a:p>
                  </a:txBody>
                  <a:tcPr marL="0" marR="0" marT="0" marB="0"/>
                </a:tc>
                <a:tc>
                  <a:txBody>
                    <a:bodyPr lIns="0" tIns="0" rIns="0" bIns="0">
                      <a:noAutofit/>
                    </a:bodyPr>
                    <a:p>
                      <a:pPr indent="0">
                        <a:lnSpc>
                          <a:spcPts val="1464"/>
                        </a:lnSpc>
                      </a:pPr>
                      <a:r>
                        <a:rPr lang="en-US" sz="1200">
                          <a:latin typeface="Calibri"/>
                        </a:rPr>
                        <a:t>Drag-and-drop visual editor for UI design.</a:t>
                      </a:r>
                    </a:p>
                  </a:txBody>
                  <a:tcPr marL="0" marR="0" marT="0" marB="0"/>
                </a:tc>
                <a:tc>
                  <a:txBody>
                    <a:bodyPr lIns="0" tIns="0" rIns="0" bIns="0">
                      <a:noAutofit/>
                    </a:bodyPr>
                    <a:p>
                      <a:pPr algn="just" marR="381000" indent="0">
                        <a:lnSpc>
                          <a:spcPts val="1464"/>
                        </a:lnSpc>
                      </a:pPr>
                      <a:r>
                        <a:rPr lang="en-US" sz="1200">
                          <a:latin typeface="Calibri"/>
                        </a:rPr>
                        <a:t>Drag-and-drop interface with advanced UI design support.</a:t>
                      </a:r>
                    </a:p>
                  </a:txBody>
                  <a:tcPr marL="0" marR="0" marT="0" marB="0" anchor="b"/>
                </a:tc>
              </a:tr>
              <a:tr h="691896">
                <a:tc>
                  <a:txBody>
                    <a:bodyPr lIns="0" tIns="0" rIns="0" bIns="0">
                      <a:noAutofit/>
                    </a:bodyPr>
                    <a:p>
                      <a:pPr indent="0"/>
                      <a:r>
                        <a:rPr lang="en-US" b="1" sz="1300">
                          <a:latin typeface="Calibri"/>
                        </a:rPr>
                        <a:t>Integrations</a:t>
                      </a:r>
                    </a:p>
                  </a:txBody>
                  <a:tcPr marL="0" marR="0" marT="0" marB="0"/>
                </a:tc>
                <a:tc>
                  <a:txBody>
                    <a:bodyPr lIns="0" tIns="0" rIns="0" bIns="0">
                      <a:noAutofit/>
                    </a:bodyPr>
                    <a:p>
                      <a:pPr indent="0">
                        <a:lnSpc>
                          <a:spcPts val="1464"/>
                        </a:lnSpc>
                      </a:pPr>
                      <a:r>
                        <a:rPr lang="en-US" sz="1200">
                          <a:latin typeface="Calibri"/>
                        </a:rPr>
                        <a:t>Supports external API integrations.</a:t>
                      </a:r>
                    </a:p>
                  </a:txBody>
                  <a:tcPr marL="0" marR="0" marT="0" marB="0"/>
                </a:tc>
                <a:tc>
                  <a:txBody>
                    <a:bodyPr lIns="0" tIns="0" rIns="0" bIns="0">
                      <a:noAutofit/>
                    </a:bodyPr>
                    <a:p>
                      <a:pPr indent="0">
                        <a:lnSpc>
                          <a:spcPts val="1464"/>
                        </a:lnSpc>
                      </a:pPr>
                      <a:r>
                        <a:rPr lang="en-US" sz="1200">
                          <a:latin typeface="Calibri"/>
                        </a:rPr>
                        <a:t>Seamless integrations with other tools and data.</a:t>
                      </a:r>
                    </a:p>
                  </a:txBody>
                  <a:tcPr marL="0" marR="0" marT="0" marB="0"/>
                </a:tc>
              </a:tr>
              <a:tr h="679704">
                <a:tc>
                  <a:txBody>
                    <a:bodyPr lIns="0" tIns="0" rIns="0" bIns="0">
                      <a:noAutofit/>
                    </a:bodyPr>
                    <a:p>
                      <a:pPr indent="0">
                        <a:spcAft>
                          <a:spcPts val="210"/>
                        </a:spcAft>
                      </a:pPr>
                      <a:r>
                        <a:rPr lang="en-US" b="1" sz="1300">
                          <a:latin typeface="Calibri"/>
                        </a:rPr>
                        <a:t>Workflow</a:t>
                      </a:r>
                    </a:p>
                    <a:p>
                      <a:pPr indent="0"/>
                      <a:r>
                        <a:rPr lang="en-US" b="1" sz="1300">
                          <a:latin typeface="Calibri"/>
                        </a:rPr>
                        <a:t>Automation</a:t>
                      </a:r>
                    </a:p>
                  </a:txBody>
                  <a:tcPr marL="0" marR="0" marT="0" marB="0"/>
                </a:tc>
                <a:tc>
                  <a:txBody>
                    <a:bodyPr lIns="0" tIns="0" rIns="0" bIns="0">
                      <a:noAutofit/>
                    </a:bodyPr>
                    <a:p>
                      <a:pPr indent="0">
                        <a:lnSpc>
                          <a:spcPts val="1464"/>
                        </a:lnSpc>
                      </a:pPr>
                      <a:r>
                        <a:rPr lang="en-US" sz="1200">
                          <a:latin typeface="Calibri"/>
                        </a:rPr>
                        <a:t>Custom workflow creation support.</a:t>
                      </a:r>
                    </a:p>
                  </a:txBody>
                  <a:tcPr marL="0" marR="0" marT="0" marB="0"/>
                </a:tc>
                <a:tc>
                  <a:txBody>
                    <a:bodyPr lIns="0" tIns="0" rIns="0" bIns="0">
                      <a:noAutofit/>
                    </a:bodyPr>
                    <a:p>
                      <a:pPr indent="0">
                        <a:lnSpc>
                          <a:spcPts val="1464"/>
                        </a:lnSpc>
                      </a:pPr>
                      <a:r>
                        <a:rPr lang="en-US" sz="1200">
                          <a:latin typeface="Calibri"/>
                        </a:rPr>
                        <a:t>Advanced workflow and process management tools.</a:t>
                      </a:r>
                    </a:p>
                  </a:txBody>
                  <a:tcPr marL="0" marR="0" marT="0" marB="0"/>
                </a:tc>
              </a:tr>
              <a:tr h="569976">
                <a:tc>
                  <a:txBody>
                    <a:bodyPr lIns="0" tIns="0" rIns="0" bIns="0">
                      <a:noAutofit/>
                    </a:bodyPr>
                    <a:p>
                      <a:pPr indent="0"/>
                      <a:r>
                        <a:rPr lang="en-US" b="1" sz="1300">
                          <a:latin typeface="Calibri"/>
                        </a:rPr>
                        <a:t>Pricing</a:t>
                      </a:r>
                    </a:p>
                  </a:txBody>
                  <a:tcPr marL="0" marR="0" marT="0" marB="0"/>
                </a:tc>
                <a:tc>
                  <a:txBody>
                    <a:bodyPr lIns="0" tIns="0" rIns="0" bIns="0">
                      <a:noAutofit/>
                    </a:bodyPr>
                    <a:p>
                      <a:pPr indent="0">
                        <a:lnSpc>
                          <a:spcPts val="1464"/>
                        </a:lnSpc>
                      </a:pPr>
                      <a:r>
                        <a:rPr lang="en-US" sz="1200">
                          <a:latin typeface="Calibri"/>
                        </a:rPr>
                        <a:t>Flexible pricing plans suitable for different needs.</a:t>
                      </a:r>
                    </a:p>
                  </a:txBody>
                  <a:tcPr marL="0" marR="0" marT="0" marB="0"/>
                </a:tc>
                <a:tc>
                  <a:txBody>
                    <a:bodyPr lIns="0" tIns="0" rIns="0" bIns="0">
                      <a:noAutofit/>
                    </a:bodyPr>
                    <a:p>
                      <a:pPr algn="just" marR="215900" indent="0">
                        <a:lnSpc>
                          <a:spcPts val="1464"/>
                        </a:lnSpc>
                      </a:pPr>
                      <a:r>
                        <a:rPr lang="en-US" sz="1200">
                          <a:latin typeface="Calibri"/>
                        </a:rPr>
                        <a:t>Flexible pricing plans, with more advanced features in higher tiers.</a:t>
                      </a:r>
                    </a:p>
                  </a:txBody>
                  <a:tcPr marL="0" marR="0" marT="0" marB="0" anchor="b"/>
                </a:tc>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sp>
        <p:nvSpPr>
          <p:cNvPr id="2" name=""/>
          <p:cNvSpPr/>
          <p:nvPr/>
        </p:nvSpPr>
        <p:spPr>
          <a:xfrm>
            <a:off x="1969008" y="957072"/>
            <a:ext cx="3834384" cy="237744"/>
          </a:xfrm>
          <a:prstGeom prst="rect">
            <a:avLst/>
          </a:prstGeom>
        </p:spPr>
        <p:txBody>
          <a:bodyPr lIns="0" tIns="0" rIns="0" bIns="0" wrap="none">
            <a:noAutofit/>
          </a:bodyPr>
          <a:p>
            <a:pPr algn="ctr" indent="0">
              <a:spcAft>
                <a:spcPts val="3570"/>
              </a:spcAft>
            </a:pPr>
            <a:r>
              <a:rPr lang="en-US" b="1" u="sng" sz="1700">
                <a:latin typeface="Calibri"/>
              </a:rPr>
              <a:t>Project 1 (Personal Budgeting Software):</a:t>
            </a:r>
          </a:p>
        </p:txBody>
      </p:sp>
      <p:sp>
        <p:nvSpPr>
          <p:cNvPr id="3" name=""/>
          <p:cNvSpPr/>
          <p:nvPr/>
        </p:nvSpPr>
        <p:spPr>
          <a:xfrm>
            <a:off x="1014984" y="1792224"/>
            <a:ext cx="5760720" cy="7178040"/>
          </a:xfrm>
          <a:prstGeom prst="rect">
            <a:avLst/>
          </a:prstGeom>
        </p:spPr>
        <p:txBody>
          <a:bodyPr lIns="0" tIns="0" rIns="0" bIns="0">
            <a:noAutofit/>
          </a:bodyPr>
          <a:p>
            <a:pPr indent="0">
              <a:lnSpc>
                <a:spcPts val="1824"/>
              </a:lnSpc>
              <a:spcBef>
                <a:spcPts val="3570"/>
              </a:spcBef>
            </a:pPr>
            <a:r>
              <a:rPr lang="en-US" b="1" sz="1300">
                <a:latin typeface="Calibri"/>
              </a:rPr>
              <a:t>1. </a:t>
            </a:r>
            <a:r>
              <a:rPr lang="en-US" b="1" u="sng" sz="1300">
                <a:latin typeface="Calibri"/>
              </a:rPr>
              <a:t>Market and Gap Analysis:</a:t>
            </a:r>
          </a:p>
          <a:p>
            <a:pPr marL="241300" indent="0">
              <a:lnSpc>
                <a:spcPts val="1824"/>
              </a:lnSpc>
            </a:pPr>
            <a:r>
              <a:rPr lang="en-US" b="1" sz="1300">
                <a:latin typeface="Calibri"/>
              </a:rPr>
              <a:t>Global Practices</a:t>
            </a:r>
          </a:p>
          <a:p>
            <a:pPr marL="241300" indent="0">
              <a:lnSpc>
                <a:spcPts val="1824"/>
              </a:lnSpc>
            </a:pPr>
            <a:r>
              <a:rPr lang="en-US" sz="1200">
                <a:latin typeface="Calibri"/>
              </a:rPr>
              <a:t>Many international solutions exist for personal finance management, each tailored</a:t>
            </a:r>
          </a:p>
          <a:p>
            <a:pPr marL="241300" indent="0">
              <a:lnSpc>
                <a:spcPts val="1824"/>
              </a:lnSpc>
            </a:pPr>
            <a:r>
              <a:rPr lang="en-US" sz="1200">
                <a:latin typeface="Calibri"/>
              </a:rPr>
              <a:t>to regional needs:</a:t>
            </a:r>
          </a:p>
          <a:p>
            <a:pPr marL="368300" indent="-228600">
              <a:lnSpc>
                <a:spcPts val="1824"/>
              </a:lnSpc>
            </a:pPr>
            <a:r>
              <a:rPr lang="en-US" sz="1200">
                <a:latin typeface="Calibri"/>
              </a:rPr>
              <a:t>•    Europe: Apps like Emma and Money Dashboard utilize Open Banking for secure, real-time tracking and multi-currency support.</a:t>
            </a:r>
          </a:p>
          <a:p>
            <a:pPr marL="368300" indent="-228600">
              <a:lnSpc>
                <a:spcPts val="1824"/>
              </a:lnSpc>
            </a:pPr>
            <a:r>
              <a:rPr lang="en-US" sz="1200">
                <a:latin typeface="Calibri"/>
              </a:rPr>
              <a:t>•    Asia: Super apps like WeChat and Alipay integrate budgeting with payments, investments, and social media.</a:t>
            </a:r>
          </a:p>
          <a:p>
            <a:pPr marL="368300" indent="-228600">
              <a:lnSpc>
                <a:spcPts val="1824"/>
              </a:lnSpc>
            </a:pPr>
            <a:r>
              <a:rPr lang="en-US" sz="1200">
                <a:latin typeface="Calibri"/>
              </a:rPr>
              <a:t>•    India: Apps such as Walnut and Money View focus on bill reminders, expense categorization, and local economic insights.</a:t>
            </a:r>
          </a:p>
          <a:p>
            <a:pPr marL="241300" indent="0">
              <a:lnSpc>
                <a:spcPts val="1824"/>
              </a:lnSpc>
            </a:pPr>
            <a:r>
              <a:rPr lang="en-US" sz="1200">
                <a:latin typeface="Calibri"/>
              </a:rPr>
              <a:t>These solutions offer key features like security, real-time transaction tracking,</a:t>
            </a:r>
          </a:p>
          <a:p>
            <a:pPr marL="241300" indent="0">
              <a:lnSpc>
                <a:spcPts val="1824"/>
              </a:lnSpc>
            </a:pPr>
            <a:r>
              <a:rPr lang="en-US" sz="1200">
                <a:latin typeface="Calibri"/>
              </a:rPr>
              <a:t>multilingual support, and bill reminders.</a:t>
            </a:r>
          </a:p>
          <a:p>
            <a:pPr marL="241300" indent="0">
              <a:lnSpc>
                <a:spcPts val="1824"/>
              </a:lnSpc>
            </a:pPr>
            <a:r>
              <a:rPr lang="en-US" b="1" sz="1300">
                <a:latin typeface="Calibri"/>
              </a:rPr>
              <a:t>Egypt's Market</a:t>
            </a:r>
          </a:p>
          <a:p>
            <a:pPr marL="241300" indent="0">
              <a:lnSpc>
                <a:spcPts val="1824"/>
              </a:lnSpc>
            </a:pPr>
            <a:r>
              <a:rPr lang="en-US" sz="1200">
                <a:latin typeface="Calibri"/>
              </a:rPr>
              <a:t>Egypt has growing personal finance solutions:</a:t>
            </a:r>
          </a:p>
          <a:p>
            <a:pPr marL="368300" indent="-228600">
              <a:lnSpc>
                <a:spcPts val="1824"/>
              </a:lnSpc>
            </a:pPr>
            <a:r>
              <a:rPr lang="en-US" sz="1200">
                <a:latin typeface="Calibri"/>
              </a:rPr>
              <a:t>•    Banking Apps: Major banks integrate budgeting tools like transaction categorization and spending summaries.</a:t>
            </a:r>
          </a:p>
          <a:p>
            <a:pPr marL="368300" indent="-228600">
              <a:lnSpc>
                <a:spcPts val="1824"/>
              </a:lnSpc>
            </a:pPr>
            <a:r>
              <a:rPr lang="en-US" sz="1200">
                <a:latin typeface="Calibri"/>
              </a:rPr>
              <a:t>•    Fintech Startups: Local startups address cash transactions and inflation-related budgeting.</a:t>
            </a:r>
          </a:p>
          <a:p>
            <a:pPr marL="368300" indent="-228600">
              <a:lnSpc>
                <a:spcPts val="1824"/>
              </a:lnSpc>
            </a:pPr>
            <a:r>
              <a:rPr lang="en-US" sz="1200">
                <a:latin typeface="Calibri"/>
              </a:rPr>
              <a:t>•    Arabic Language Support: Apps like Wally and Money Lover are localized for Arabic users.</a:t>
            </a:r>
          </a:p>
          <a:p>
            <a:pPr marL="368300" indent="-228600">
              <a:lnSpc>
                <a:spcPts val="1824"/>
              </a:lnSpc>
            </a:pPr>
            <a:r>
              <a:rPr lang="en-US" sz="1200">
                <a:latin typeface="Calibri"/>
              </a:rPr>
              <a:t>•    Tailored Expense Categories: Some apps categorize spending based on local habits, such as transportation and social activities.</a:t>
            </a:r>
          </a:p>
          <a:p>
            <a:pPr marL="241300" indent="0">
              <a:lnSpc>
                <a:spcPts val="1824"/>
              </a:lnSpc>
            </a:pPr>
            <a:r>
              <a:rPr lang="en-US" sz="1200">
                <a:latin typeface="Calibri"/>
              </a:rPr>
              <a:t>While these solutions are useful, gaps remain in functionality.</a:t>
            </a:r>
          </a:p>
          <a:p>
            <a:pPr marL="241300" indent="0">
              <a:lnSpc>
                <a:spcPts val="1824"/>
              </a:lnSpc>
            </a:pPr>
            <a:r>
              <a:rPr lang="en-US" b="1" sz="1300">
                <a:latin typeface="Calibri"/>
              </a:rPr>
              <a:t>Gap Analysis</a:t>
            </a:r>
          </a:p>
          <a:p>
            <a:pPr marL="241300" indent="0">
              <a:lnSpc>
                <a:spcPts val="1824"/>
              </a:lnSpc>
            </a:pPr>
            <a:r>
              <a:rPr lang="en-US" sz="1200">
                <a:latin typeface="Calibri"/>
              </a:rPr>
              <a:t>Key challenges in Egypt's market include:</a:t>
            </a:r>
          </a:p>
          <a:p>
            <a:pPr marL="368300" indent="-228600">
              <a:lnSpc>
                <a:spcPts val="1824"/>
              </a:lnSpc>
            </a:pPr>
            <a:r>
              <a:rPr lang="en-US" sz="1200">
                <a:latin typeface="Calibri"/>
              </a:rPr>
              <a:t>•    Limited Integration with Banks: Many apps lack seamless connectivity with local banks and wallets.</a:t>
            </a:r>
          </a:p>
          <a:p>
            <a:pPr marL="368300" indent="-228600">
              <a:lnSpc>
                <a:spcPts val="1824"/>
              </a:lnSpc>
            </a:pPr>
            <a:r>
              <a:rPr lang="en-US" sz="1200">
                <a:latin typeface="Calibri"/>
              </a:rPr>
              <a:t>•    Cash-Based Transactions: Most solutions don't effectively manage cash flow, requiring better manual entry and categorization tools.</a:t>
            </a:r>
          </a:p>
          <a:p>
            <a:pPr marL="368300" indent="-228600">
              <a:lnSpc>
                <a:spcPts val="1824"/>
              </a:lnSpc>
            </a:pPr>
            <a:r>
              <a:rPr lang="en-US" sz="1200">
                <a:latin typeface="Calibri"/>
              </a:rPr>
              <a:t>•    Economic Adjustments: Budgeting apps rarely adapt to inflation or provide financial advice on economic changes.</a:t>
            </a:r>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sp>
        <p:nvSpPr>
          <p:cNvPr id="2" name=""/>
          <p:cNvSpPr/>
          <p:nvPr/>
        </p:nvSpPr>
        <p:spPr>
          <a:xfrm>
            <a:off x="1130808" y="941832"/>
            <a:ext cx="5346192" cy="2276856"/>
          </a:xfrm>
          <a:prstGeom prst="rect">
            <a:avLst/>
          </a:prstGeom>
        </p:spPr>
        <p:txBody>
          <a:bodyPr lIns="0" tIns="0" rIns="0" bIns="0">
            <a:noAutofit/>
          </a:bodyPr>
          <a:p>
            <a:pPr marL="246380" indent="-228600">
              <a:lnSpc>
                <a:spcPts val="1824"/>
              </a:lnSpc>
            </a:pPr>
            <a:r>
              <a:rPr lang="en-US" sz="1200">
                <a:latin typeface="Calibri"/>
              </a:rPr>
              <a:t>•    Financial Education: There's a lack of localized financial literacy and advisory tools.</a:t>
            </a:r>
          </a:p>
          <a:p>
            <a:pPr marL="246380" indent="-228600">
              <a:lnSpc>
                <a:spcPts val="1824"/>
              </a:lnSpc>
            </a:pPr>
            <a:r>
              <a:rPr lang="en-US" sz="1200">
                <a:latin typeface="Calibri"/>
              </a:rPr>
              <a:t>•    Data Security: Stronger security measures and compliance with local data protection laws are needed.</a:t>
            </a:r>
          </a:p>
          <a:p>
            <a:pPr marL="132080" indent="0">
              <a:lnSpc>
                <a:spcPts val="1824"/>
              </a:lnSpc>
            </a:pPr>
            <a:r>
              <a:rPr lang="en-US" b="1" sz="1300">
                <a:latin typeface="Calibri"/>
              </a:rPr>
              <a:t>Proposed Solution</a:t>
            </a:r>
          </a:p>
          <a:p>
            <a:pPr marL="132080" indent="0">
              <a:lnSpc>
                <a:spcPts val="1824"/>
              </a:lnSpc>
            </a:pPr>
            <a:r>
              <a:rPr lang="en-US" sz="1200">
                <a:latin typeface="Calibri"/>
              </a:rPr>
              <a:t>To compete effectively, a new product should focus on:</a:t>
            </a:r>
          </a:p>
          <a:p>
            <a:pPr algn="just" indent="0">
              <a:lnSpc>
                <a:spcPts val="1824"/>
              </a:lnSpc>
            </a:pPr>
            <a:r>
              <a:rPr lang="en-US" sz="1200">
                <a:latin typeface="Calibri"/>
              </a:rPr>
              <a:t>•    Secure, legally compliant financial management.</a:t>
            </a:r>
          </a:p>
          <a:p>
            <a:pPr algn="just" indent="0">
              <a:lnSpc>
                <a:spcPts val="1824"/>
              </a:lnSpc>
            </a:pPr>
            <a:r>
              <a:rPr lang="en-US" sz="1200">
                <a:latin typeface="Calibri"/>
              </a:rPr>
              <a:t>•    User-friendly, localized budgeting tools.</a:t>
            </a:r>
          </a:p>
          <a:p>
            <a:pPr algn="just" indent="0">
              <a:lnSpc>
                <a:spcPts val="1824"/>
              </a:lnSpc>
            </a:pPr>
            <a:r>
              <a:rPr lang="en-US" sz="1200">
                <a:latin typeface="Calibri"/>
              </a:rPr>
              <a:t>•    Smart categorization for cash expenses.</a:t>
            </a:r>
          </a:p>
          <a:p>
            <a:pPr algn="just" indent="0">
              <a:lnSpc>
                <a:spcPts val="1824"/>
              </a:lnSpc>
              <a:spcAft>
                <a:spcPts val="2100"/>
              </a:spcAft>
            </a:pPr>
            <a:r>
              <a:rPr lang="en-US" sz="1200">
                <a:latin typeface="Calibri"/>
              </a:rPr>
              <a:t>•    Financial education and advisory features.</a:t>
            </a:r>
          </a:p>
        </p:txBody>
      </p:sp>
      <p:sp>
        <p:nvSpPr>
          <p:cNvPr id="3" name=""/>
          <p:cNvSpPr/>
          <p:nvPr/>
        </p:nvSpPr>
        <p:spPr>
          <a:xfrm>
            <a:off x="1008888" y="3697224"/>
            <a:ext cx="5775960" cy="4614672"/>
          </a:xfrm>
          <a:prstGeom prst="rect">
            <a:avLst/>
          </a:prstGeom>
        </p:spPr>
        <p:txBody>
          <a:bodyPr lIns="0" tIns="0" rIns="0" bIns="0">
            <a:noAutofit/>
          </a:bodyPr>
          <a:p>
            <a:pPr marL="254000" marR="3251200" indent="-254000">
              <a:lnSpc>
                <a:spcPts val="1824"/>
              </a:lnSpc>
              <a:spcBef>
                <a:spcPts val="2100"/>
              </a:spcBef>
            </a:pPr>
            <a:r>
              <a:rPr lang="en-US" b="1" sz="1300">
                <a:latin typeface="Calibri"/>
              </a:rPr>
              <a:t>2. </a:t>
            </a:r>
            <a:r>
              <a:rPr lang="en-US" b="1" u="sng" sz="1300">
                <a:latin typeface="Calibri"/>
              </a:rPr>
              <a:t>Market Segmentation &amp; Research </a:t>
            </a:r>
            <a:r>
              <a:rPr lang="en-US" b="1" sz="1300">
                <a:latin typeface="Calibri"/>
              </a:rPr>
              <a:t>Customer Segments</a:t>
            </a:r>
          </a:p>
          <a:p>
            <a:pPr marL="254000" indent="0">
              <a:lnSpc>
                <a:spcPts val="1824"/>
              </a:lnSpc>
            </a:pPr>
            <a:r>
              <a:rPr lang="en-US" sz="1200">
                <a:latin typeface="Calibri"/>
              </a:rPr>
              <a:t>The program targets various users, including parents saving money and individuals managing household expenses. However, the primary focus is on Investors and Entrepreneurs.</a:t>
            </a:r>
          </a:p>
          <a:p>
            <a:pPr marL="254000" indent="0">
              <a:lnSpc>
                <a:spcPts val="1824"/>
              </a:lnSpc>
            </a:pPr>
            <a:r>
              <a:rPr lang="en-US" b="1" sz="1300">
                <a:latin typeface="Calibri"/>
              </a:rPr>
              <a:t>Demographics</a:t>
            </a:r>
          </a:p>
          <a:p>
            <a:pPr algn="just" marL="139700" indent="0">
              <a:lnSpc>
                <a:spcPts val="1824"/>
              </a:lnSpc>
            </a:pPr>
            <a:r>
              <a:rPr lang="en-US" sz="1200">
                <a:latin typeface="Calibri"/>
              </a:rPr>
              <a:t>•    Age: 25-50 years</a:t>
            </a:r>
          </a:p>
          <a:p>
            <a:pPr algn="just" marL="139700" indent="0">
              <a:lnSpc>
                <a:spcPts val="1824"/>
              </a:lnSpc>
            </a:pPr>
            <a:r>
              <a:rPr lang="en-US" sz="1200">
                <a:latin typeface="Calibri"/>
              </a:rPr>
              <a:t>•    Income: Moderate to high, varying with business cycles</a:t>
            </a:r>
          </a:p>
          <a:p>
            <a:pPr algn="just" marL="139700" indent="0">
              <a:lnSpc>
                <a:spcPts val="1824"/>
              </a:lnSpc>
            </a:pPr>
            <a:r>
              <a:rPr lang="en-US" sz="1200">
                <a:latin typeface="Calibri"/>
              </a:rPr>
              <a:t>•    Education: Well-educated, often in business, finance, or tech</a:t>
            </a:r>
          </a:p>
          <a:p>
            <a:pPr marL="368300" indent="-228600">
              <a:lnSpc>
                <a:spcPts val="1824"/>
              </a:lnSpc>
            </a:pPr>
            <a:r>
              <a:rPr lang="en-US" sz="1200">
                <a:latin typeface="Calibri"/>
              </a:rPr>
              <a:t>•    Tech Usage: Highly tech-savvy, preferring mobile-first solutions and seamless financial integrations</a:t>
            </a:r>
          </a:p>
          <a:p>
            <a:pPr marL="254000" indent="0">
              <a:lnSpc>
                <a:spcPts val="1824"/>
              </a:lnSpc>
            </a:pPr>
            <a:r>
              <a:rPr lang="en-US" b="1" sz="1300">
                <a:latin typeface="Calibri"/>
              </a:rPr>
              <a:t>Why Investors &amp; Entrepreneurs Will Be Interested</a:t>
            </a:r>
          </a:p>
          <a:p>
            <a:pPr marL="368300" indent="-228600">
              <a:lnSpc>
                <a:spcPts val="1824"/>
              </a:lnSpc>
            </a:pPr>
            <a:r>
              <a:rPr lang="en-US" sz="1200">
                <a:latin typeface="Calibri"/>
              </a:rPr>
              <a:t>•    Real-Time Insights &amp; Automation: Instant transaction tracking reduces errors and enhances decision-making.</a:t>
            </a:r>
          </a:p>
          <a:p>
            <a:pPr marL="368300" indent="-228600">
              <a:lnSpc>
                <a:spcPts val="1824"/>
              </a:lnSpc>
            </a:pPr>
            <a:r>
              <a:rPr lang="en-US" sz="1200">
                <a:latin typeface="Calibri"/>
              </a:rPr>
              <a:t>•    Customizable Reporting &amp; Analytics: Personalized dashboards provide deep insights into cash flow, ROI, and spending.</a:t>
            </a:r>
          </a:p>
          <a:p>
            <a:pPr marL="368300" indent="-228600">
              <a:lnSpc>
                <a:spcPts val="1824"/>
              </a:lnSpc>
            </a:pPr>
            <a:r>
              <a:rPr lang="en-US" sz="1200">
                <a:latin typeface="Calibri"/>
              </a:rPr>
              <a:t>•    Strategic Financial Planning: Goal setting, forecasting, and investment tracking help optimize financial growth.</a:t>
            </a:r>
          </a:p>
          <a:p>
            <a:pPr marL="368300" indent="-228600">
              <a:lnSpc>
                <a:spcPts val="1824"/>
              </a:lnSpc>
              <a:spcAft>
                <a:spcPts val="1050"/>
              </a:spcAft>
            </a:pPr>
            <a:r>
              <a:rPr lang="en-US" sz="1200">
                <a:latin typeface="Calibri"/>
              </a:rPr>
              <a:t>•    Scalability &amp; Adaptability: The software evolves with business needs, making it suitable for startups and established enterprises alike.</a:t>
            </a:r>
          </a:p>
        </p:txBody>
      </p:sp>
      <p:sp>
        <p:nvSpPr>
          <p:cNvPr id="4" name=""/>
          <p:cNvSpPr/>
          <p:nvPr/>
        </p:nvSpPr>
        <p:spPr>
          <a:xfrm>
            <a:off x="1008888" y="8601456"/>
            <a:ext cx="1423416" cy="179832"/>
          </a:xfrm>
          <a:prstGeom prst="rect">
            <a:avLst/>
          </a:prstGeom>
        </p:spPr>
        <p:txBody>
          <a:bodyPr lIns="0" tIns="0" rIns="0" bIns="0" wrap="none">
            <a:noAutofit/>
          </a:bodyPr>
          <a:p>
            <a:pPr algn="just" indent="0">
              <a:spcBef>
                <a:spcPts val="1050"/>
              </a:spcBef>
            </a:pPr>
            <a:r>
              <a:rPr lang="en-US" b="1" sz="1300">
                <a:latin typeface="Calibri"/>
              </a:rPr>
              <a:t>3. </a:t>
            </a:r>
            <a:r>
              <a:rPr lang="en-US" b="1" u="sng" sz="1300">
                <a:latin typeface="Calibri"/>
              </a:rPr>
              <a:t>Domain Analysis:</a:t>
            </a: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sp>
        <p:nvSpPr>
          <p:cNvPr id="2" name=""/>
          <p:cNvSpPr/>
          <p:nvPr/>
        </p:nvSpPr>
        <p:spPr>
          <a:xfrm>
            <a:off x="1005840" y="941832"/>
            <a:ext cx="5843016" cy="7973568"/>
          </a:xfrm>
          <a:prstGeom prst="rect">
            <a:avLst/>
          </a:prstGeom>
        </p:spPr>
        <p:txBody>
          <a:bodyPr lIns="0" tIns="0" rIns="0" bIns="0">
            <a:noAutofit/>
          </a:bodyPr>
          <a:p>
            <a:pPr indent="152400">
              <a:lnSpc>
                <a:spcPts val="1824"/>
              </a:lnSpc>
              <a:spcAft>
                <a:spcPts val="420"/>
              </a:spcAft>
            </a:pPr>
            <a:r>
              <a:rPr lang="en-US" sz="1200">
                <a:latin typeface="Calibri"/>
              </a:rPr>
              <a:t>A personal budget acts as a financial roadmap, helping individuals achieve stability, freedom, and financial goals by making informed money decisions. However, managing income, expenses, savings, and future financial plans remains a challenge for many.</a:t>
            </a:r>
          </a:p>
          <a:p>
            <a:pPr indent="0">
              <a:spcAft>
                <a:spcPts val="1050"/>
              </a:spcAft>
            </a:pPr>
            <a:r>
              <a:rPr lang="en-US" b="1" sz="1300">
                <a:latin typeface="Calibri"/>
              </a:rPr>
              <a:t>Key User Groups &amp; Their Challenges</a:t>
            </a:r>
          </a:p>
          <a:p>
            <a:pPr marL="368300" indent="-215900">
              <a:lnSpc>
                <a:spcPts val="1824"/>
              </a:lnSpc>
              <a:spcAft>
                <a:spcPts val="420"/>
              </a:spcAft>
            </a:pPr>
            <a:r>
              <a:rPr lang="en-US" sz="1200">
                <a:latin typeface="Calibri"/>
              </a:rPr>
              <a:t>1.    Young Adults (20-30): Struggle with tracking expenses, saving, and financial independence.</a:t>
            </a:r>
          </a:p>
          <a:p>
            <a:pPr marL="368300" indent="-215900">
              <a:lnSpc>
                <a:spcPts val="1848"/>
              </a:lnSpc>
              <a:spcAft>
                <a:spcPts val="420"/>
              </a:spcAft>
            </a:pPr>
            <a:r>
              <a:rPr lang="en-US" sz="1200">
                <a:latin typeface="Calibri"/>
              </a:rPr>
              <a:t>2.    Families: Need structured budgeting to manage household expenses like rent, groceries, and utilities.</a:t>
            </a:r>
          </a:p>
          <a:p>
            <a:pPr marL="368300" indent="-215900">
              <a:lnSpc>
                <a:spcPts val="1824"/>
              </a:lnSpc>
              <a:spcAft>
                <a:spcPts val="420"/>
              </a:spcAft>
            </a:pPr>
            <a:r>
              <a:rPr lang="en-US" sz="1200">
                <a:latin typeface="Calibri"/>
              </a:rPr>
              <a:t>3.    Salaried Employees: Face difficulties saving due to unexpected expenses and lack of financial planning.</a:t>
            </a:r>
          </a:p>
          <a:p>
            <a:pPr marL="368300" indent="-215900">
              <a:lnSpc>
                <a:spcPts val="1848"/>
              </a:lnSpc>
              <a:spcAft>
                <a:spcPts val="420"/>
              </a:spcAft>
            </a:pPr>
            <a:r>
              <a:rPr lang="en-US" sz="1200">
                <a:latin typeface="Calibri"/>
              </a:rPr>
              <a:t>4.    Entrepreneurs &amp; Small Business Owners: Require tools to manage cash flow, track expenses, and separate personal from business finances.</a:t>
            </a:r>
          </a:p>
          <a:p>
            <a:pPr indent="0">
              <a:spcAft>
                <a:spcPts val="1050"/>
              </a:spcAft>
            </a:pPr>
            <a:r>
              <a:rPr lang="en-US" b="1" sz="1300">
                <a:latin typeface="Calibri"/>
              </a:rPr>
              <a:t>Smart Budgeting Principles</a:t>
            </a:r>
          </a:p>
          <a:p>
            <a:pPr marL="368300" indent="-215900">
              <a:lnSpc>
                <a:spcPts val="1824"/>
              </a:lnSpc>
              <a:spcAft>
                <a:spcPts val="420"/>
              </a:spcAft>
            </a:pPr>
            <a:r>
              <a:rPr lang="en-US" sz="1200">
                <a:latin typeface="Calibri"/>
              </a:rPr>
              <a:t>1.    Collect Financial Data: Gather bank statements, bills, receipts, and investment records.</a:t>
            </a:r>
          </a:p>
          <a:p>
            <a:pPr marL="368300" marR="647700" indent="-215900">
              <a:lnSpc>
                <a:spcPts val="1848"/>
              </a:lnSpc>
              <a:spcAft>
                <a:spcPts val="420"/>
              </a:spcAft>
            </a:pPr>
            <a:r>
              <a:rPr lang="en-US" sz="1200">
                <a:latin typeface="Calibri"/>
              </a:rPr>
              <a:t>2.    Determine Fixed &amp; Variable Expenses: Fixed costs (rent, internet) remain constant, while variable costs (groceries, dining) fluctuate.</a:t>
            </a:r>
          </a:p>
          <a:p>
            <a:pPr indent="0">
              <a:spcAft>
                <a:spcPts val="1050"/>
              </a:spcAft>
            </a:pPr>
            <a:r>
              <a:rPr lang="en-US" b="1" sz="1300">
                <a:latin typeface="Calibri"/>
              </a:rPr>
              <a:t>Role of Technology in Budgeting</a:t>
            </a:r>
          </a:p>
          <a:p>
            <a:pPr indent="0">
              <a:lnSpc>
                <a:spcPts val="1824"/>
              </a:lnSpc>
              <a:spcAft>
                <a:spcPts val="420"/>
              </a:spcAft>
            </a:pPr>
            <a:r>
              <a:rPr lang="en-US" sz="1200">
                <a:latin typeface="Calibri"/>
              </a:rPr>
              <a:t>Fintech innovations automate financial tracking, offer insights, and enhance financial security through apps like:</a:t>
            </a:r>
          </a:p>
          <a:p>
            <a:pPr algn="just" marL="152400" indent="0">
              <a:lnSpc>
                <a:spcPts val="2640"/>
              </a:lnSpc>
            </a:pPr>
            <a:r>
              <a:rPr lang="en-US" sz="1200">
                <a:latin typeface="Calibri"/>
              </a:rPr>
              <a:t>•    PayPal, Venmo, Cash App (money transfers &amp; payments)</a:t>
            </a:r>
          </a:p>
          <a:p>
            <a:pPr algn="just" marL="152400" indent="0">
              <a:lnSpc>
                <a:spcPts val="2640"/>
              </a:lnSpc>
            </a:pPr>
            <a:r>
              <a:rPr lang="en-US" sz="1200">
                <a:latin typeface="Calibri"/>
              </a:rPr>
              <a:t>•    Google Pay, Apple Pay (contactless payments)</a:t>
            </a:r>
          </a:p>
          <a:p>
            <a:pPr algn="just" marL="152400" indent="0">
              <a:lnSpc>
                <a:spcPts val="2640"/>
              </a:lnSpc>
            </a:pPr>
            <a:r>
              <a:rPr lang="en-US" sz="1200">
                <a:latin typeface="Calibri"/>
              </a:rPr>
              <a:t>•    Zelle (bank-integrated money transfers)</a:t>
            </a:r>
          </a:p>
          <a:p>
            <a:pPr indent="0">
              <a:lnSpc>
                <a:spcPts val="2640"/>
              </a:lnSpc>
            </a:pPr>
            <a:r>
              <a:rPr lang="en-US" b="1" sz="1300">
                <a:latin typeface="Calibri"/>
              </a:rPr>
              <a:t>User Financial Behavior &amp; Challenges</a:t>
            </a:r>
          </a:p>
          <a:p>
            <a:pPr algn="just" marL="152400" indent="0">
              <a:lnSpc>
                <a:spcPts val="2640"/>
              </a:lnSpc>
            </a:pPr>
            <a:r>
              <a:rPr lang="en-US" sz="1200">
                <a:latin typeface="Calibri"/>
              </a:rPr>
              <a:t>•    65% struggle to stick to a budget.</a:t>
            </a:r>
          </a:p>
          <a:p>
            <a:pPr algn="just" marL="152400" indent="0">
              <a:lnSpc>
                <a:spcPts val="2640"/>
              </a:lnSpc>
            </a:pPr>
            <a:r>
              <a:rPr lang="en-US" sz="1200">
                <a:latin typeface="Calibri"/>
              </a:rPr>
              <a:t>•    40% overspend due to poor planning.</a:t>
            </a:r>
          </a:p>
          <a:p>
            <a:pPr algn="just" marL="152400" indent="0">
              <a:lnSpc>
                <a:spcPts val="2640"/>
              </a:lnSpc>
            </a:pPr>
            <a:r>
              <a:rPr lang="en-US" sz="1200">
                <a:latin typeface="Calibri"/>
              </a:rPr>
              <a:t>•    70% prefer automated tracking over manual entry.</a:t>
            </a:r>
          </a:p>
        </p:txBody>
      </p:sp>
    </p:spTree>
  </p:cSld>
  <p:clrMapOvr>
    <a:overrideClrMapping bg1="lt1" tx1="dk1" bg2="lt2" tx2="dk2" accent1="accent1" accent2="accent2" accent3="accent3" accent4="accent4" accent5="accent5" accent6="accent6" hlink="hlink" folHlink="folHlink"/>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sp>
        <p:nvSpPr>
          <p:cNvPr id="2" name=""/>
          <p:cNvSpPr/>
          <p:nvPr/>
        </p:nvSpPr>
        <p:spPr>
          <a:xfrm>
            <a:off x="1002792" y="941832"/>
            <a:ext cx="5708904" cy="1749552"/>
          </a:xfrm>
          <a:prstGeom prst="rect">
            <a:avLst/>
          </a:prstGeom>
        </p:spPr>
        <p:txBody>
          <a:bodyPr lIns="0" tIns="0" rIns="0" bIns="0">
            <a:noAutofit/>
          </a:bodyPr>
          <a:p>
            <a:pPr algn="just" marL="152400" indent="0">
              <a:lnSpc>
                <a:spcPts val="2640"/>
              </a:lnSpc>
            </a:pPr>
            <a:r>
              <a:rPr lang="en-US" sz="1200">
                <a:latin typeface="Calibri"/>
              </a:rPr>
              <a:t>•    60% lack financial literacy.</a:t>
            </a:r>
          </a:p>
          <a:p>
            <a:pPr algn="just" marL="152400" indent="0">
              <a:lnSpc>
                <a:spcPts val="2640"/>
              </a:lnSpc>
            </a:pPr>
            <a:r>
              <a:rPr lang="en-US" sz="1200">
                <a:latin typeface="Calibri"/>
              </a:rPr>
              <a:t>•    75% use mobile apps for budgeting.</a:t>
            </a:r>
          </a:p>
          <a:p>
            <a:pPr indent="152400">
              <a:lnSpc>
                <a:spcPts val="2640"/>
              </a:lnSpc>
            </a:pPr>
            <a:r>
              <a:rPr lang="en-US" sz="1200">
                <a:latin typeface="Calibri"/>
              </a:rPr>
              <a:t>•    80% prefer visual reports (graphs &amp; charts) for better expense understanding. </a:t>
            </a:r>
            <a:r>
              <a:rPr lang="en-US" b="1" sz="1300">
                <a:latin typeface="Calibri"/>
              </a:rPr>
              <a:t>Conclusion</a:t>
            </a:r>
          </a:p>
          <a:p>
            <a:pPr indent="0">
              <a:lnSpc>
                <a:spcPts val="1848"/>
              </a:lnSpc>
              <a:spcAft>
                <a:spcPts val="4410"/>
              </a:spcAft>
            </a:pPr>
            <a:r>
              <a:rPr lang="en-US" sz="1200">
                <a:latin typeface="Calibri"/>
              </a:rPr>
              <a:t>There is a strong demand for user-friendly, automated, and insightful budgeting tools that support financial stability, smart spending, and better financial awareness.</a:t>
            </a:r>
          </a:p>
        </p:txBody>
      </p:sp>
      <p:sp>
        <p:nvSpPr>
          <p:cNvPr id="3" name=""/>
          <p:cNvSpPr/>
          <p:nvPr/>
        </p:nvSpPr>
        <p:spPr>
          <a:xfrm>
            <a:off x="1002792" y="3560064"/>
            <a:ext cx="5788152" cy="5571744"/>
          </a:xfrm>
          <a:prstGeom prst="rect">
            <a:avLst/>
          </a:prstGeom>
        </p:spPr>
        <p:txBody>
          <a:bodyPr lIns="0" tIns="0" rIns="0" bIns="0">
            <a:noAutofit/>
          </a:bodyPr>
          <a:p>
            <a:pPr algn="just" indent="0">
              <a:spcBef>
                <a:spcPts val="4410"/>
              </a:spcBef>
              <a:spcAft>
                <a:spcPts val="1050"/>
              </a:spcAft>
            </a:pPr>
            <a:r>
              <a:rPr lang="en-US" b="1" u="sng" sz="1300">
                <a:latin typeface="Calibri"/>
              </a:rPr>
              <a:t>4. Proposed Solution for Personal Budgeting Software</a:t>
            </a:r>
            <a:r>
              <a:rPr lang="en-US" b="1" sz="1300">
                <a:latin typeface="Calibri"/>
              </a:rPr>
              <a:t> : Purpose &amp; Goals</a:t>
            </a:r>
          </a:p>
          <a:p>
            <a:pPr indent="0">
              <a:lnSpc>
                <a:spcPts val="1848"/>
              </a:lnSpc>
              <a:spcAft>
                <a:spcPts val="420"/>
              </a:spcAft>
            </a:pPr>
            <a:r>
              <a:rPr lang="en-US" sz="1200">
                <a:latin typeface="Calibri"/>
              </a:rPr>
              <a:t>The software helps users </a:t>
            </a:r>
            <a:r>
              <a:rPr lang="en-US" b="1" sz="1300">
                <a:latin typeface="Calibri"/>
              </a:rPr>
              <a:t>manage their finances efficiently </a:t>
            </a:r>
            <a:r>
              <a:rPr lang="en-US" sz="1200">
                <a:latin typeface="Calibri"/>
              </a:rPr>
              <a:t>by tracking income, expenses, and savings while setting financial goals. Key objectives include:</a:t>
            </a:r>
          </a:p>
          <a:p>
            <a:pPr algn="just" marL="152400" indent="0">
              <a:lnSpc>
                <a:spcPts val="2616"/>
              </a:lnSpc>
            </a:pPr>
            <a:r>
              <a:rPr lang="en-US" sz="1200">
                <a:latin typeface="Calibri"/>
              </a:rPr>
              <a:t>•    Presenting financial data clearly and concisely.</a:t>
            </a:r>
          </a:p>
          <a:p>
            <a:pPr algn="just" marL="152400" indent="0">
              <a:lnSpc>
                <a:spcPts val="2616"/>
              </a:lnSpc>
            </a:pPr>
            <a:r>
              <a:rPr lang="en-US" sz="1200">
                <a:latin typeface="Calibri"/>
              </a:rPr>
              <a:t>•    Simplifying budget creation and management.</a:t>
            </a:r>
          </a:p>
          <a:p>
            <a:pPr algn="just" marL="152400" indent="0">
              <a:lnSpc>
                <a:spcPts val="2616"/>
              </a:lnSpc>
            </a:pPr>
            <a:r>
              <a:rPr lang="en-US" sz="1200">
                <a:latin typeface="Calibri"/>
              </a:rPr>
              <a:t>•    Providing </a:t>
            </a:r>
            <a:r>
              <a:rPr lang="en-US" b="1" sz="1300">
                <a:latin typeface="Calibri"/>
              </a:rPr>
              <a:t>graphical insights </a:t>
            </a:r>
            <a:r>
              <a:rPr lang="en-US" sz="1200">
                <a:latin typeface="Calibri"/>
              </a:rPr>
              <a:t>into spending habits.</a:t>
            </a:r>
          </a:p>
          <a:p>
            <a:pPr algn="just" marL="152400" indent="0">
              <a:lnSpc>
                <a:spcPts val="2616"/>
              </a:lnSpc>
            </a:pPr>
            <a:r>
              <a:rPr lang="en-US" sz="1200">
                <a:latin typeface="Calibri"/>
              </a:rPr>
              <a:t>•    Integrating with banks/payment platforms for </a:t>
            </a:r>
            <a:r>
              <a:rPr lang="en-US" b="1" sz="1300">
                <a:latin typeface="Calibri"/>
              </a:rPr>
              <a:t>automated transaction tracking</a:t>
            </a:r>
            <a:r>
              <a:rPr lang="en-US" sz="1200">
                <a:latin typeface="Calibri"/>
              </a:rPr>
              <a:t>.</a:t>
            </a:r>
          </a:p>
          <a:p>
            <a:pPr algn="just" marL="152400" indent="0">
              <a:lnSpc>
                <a:spcPts val="2616"/>
              </a:lnSpc>
            </a:pPr>
            <a:r>
              <a:rPr lang="en-US" sz="1200">
                <a:latin typeface="Calibri"/>
              </a:rPr>
              <a:t>•    Encouraging </a:t>
            </a:r>
            <a:r>
              <a:rPr lang="en-US" b="1" sz="1300">
                <a:latin typeface="Calibri"/>
              </a:rPr>
              <a:t>goal-based saving habits</a:t>
            </a:r>
            <a:r>
              <a:rPr lang="en-US" sz="1200">
                <a:latin typeface="Calibri"/>
              </a:rPr>
              <a:t>.</a:t>
            </a:r>
          </a:p>
          <a:p>
            <a:pPr algn="just" indent="0">
              <a:lnSpc>
                <a:spcPts val="2616"/>
              </a:lnSpc>
            </a:pPr>
            <a:r>
              <a:rPr lang="en-US" b="1" sz="1300">
                <a:latin typeface="Calibri"/>
              </a:rPr>
              <a:t>Key Features &amp; Functionality</a:t>
            </a:r>
          </a:p>
          <a:p>
            <a:pPr algn="just" marL="152400" indent="0">
              <a:lnSpc>
                <a:spcPts val="2616"/>
              </a:lnSpc>
            </a:pPr>
            <a:r>
              <a:rPr lang="en-US" sz="1200">
                <a:latin typeface="Calibri"/>
              </a:rPr>
              <a:t>•</a:t>
            </a:r>
            <a:r>
              <a:rPr lang="en-US" b="1" sz="1300">
                <a:latin typeface="Calibri"/>
              </a:rPr>
              <a:t>    Income &amp; Expense Tracking </a:t>
            </a:r>
            <a:r>
              <a:rPr lang="en-US" sz="1200">
                <a:latin typeface="Calibri"/>
              </a:rPr>
              <a:t>- Users can log spending on rent, utilities, fuel, etc.</a:t>
            </a:r>
          </a:p>
          <a:p>
            <a:pPr algn="just" marL="152400" indent="0">
              <a:lnSpc>
                <a:spcPts val="2616"/>
              </a:lnSpc>
            </a:pPr>
            <a:r>
              <a:rPr lang="en-US" sz="1200">
                <a:latin typeface="Calibri"/>
              </a:rPr>
              <a:t>•</a:t>
            </a:r>
            <a:r>
              <a:rPr lang="en-US" b="1" sz="1300">
                <a:latin typeface="Calibri"/>
              </a:rPr>
              <a:t>    Budget Management </a:t>
            </a:r>
            <a:r>
              <a:rPr lang="en-US" sz="1200">
                <a:latin typeface="Calibri"/>
              </a:rPr>
              <a:t>- Set spending limits and monitor adherence.</a:t>
            </a:r>
          </a:p>
          <a:p>
            <a:pPr marL="381000" indent="-228600">
              <a:lnSpc>
                <a:spcPts val="1848"/>
              </a:lnSpc>
              <a:spcAft>
                <a:spcPts val="420"/>
              </a:spcAft>
            </a:pPr>
            <a:r>
              <a:rPr lang="en-US" sz="1200">
                <a:latin typeface="Calibri"/>
              </a:rPr>
              <a:t>•</a:t>
            </a:r>
            <a:r>
              <a:rPr lang="en-US" b="1" sz="1300">
                <a:latin typeface="Calibri"/>
              </a:rPr>
              <a:t>    Financial Goal Setting </a:t>
            </a:r>
            <a:r>
              <a:rPr lang="en-US" sz="1200">
                <a:latin typeface="Calibri"/>
              </a:rPr>
              <a:t>- Track savings progress for major goals (e.g., vacation, car purchase).</a:t>
            </a:r>
          </a:p>
          <a:p>
            <a:pPr algn="just" marL="152400" indent="0">
              <a:lnSpc>
                <a:spcPts val="2640"/>
              </a:lnSpc>
            </a:pPr>
            <a:r>
              <a:rPr lang="en-US" sz="1200">
                <a:latin typeface="Calibri"/>
              </a:rPr>
              <a:t>•</a:t>
            </a:r>
            <a:r>
              <a:rPr lang="en-US" b="1" sz="1300">
                <a:latin typeface="Calibri"/>
              </a:rPr>
              <a:t>    Automated Reports &amp; Insights </a:t>
            </a:r>
            <a:r>
              <a:rPr lang="en-US" sz="1200">
                <a:latin typeface="Calibri"/>
              </a:rPr>
              <a:t>- Visual dashboards with spending trends.</a:t>
            </a:r>
          </a:p>
          <a:p>
            <a:pPr algn="just" marL="152400" indent="0">
              <a:lnSpc>
                <a:spcPts val="2640"/>
              </a:lnSpc>
            </a:pPr>
            <a:r>
              <a:rPr lang="en-US" sz="1200">
                <a:latin typeface="Calibri"/>
              </a:rPr>
              <a:t>•</a:t>
            </a:r>
            <a:r>
              <a:rPr lang="en-US" b="1" sz="1300">
                <a:latin typeface="Calibri"/>
              </a:rPr>
              <a:t>    Bank Account Integration </a:t>
            </a:r>
            <a:r>
              <a:rPr lang="en-US" sz="1200">
                <a:latin typeface="Calibri"/>
              </a:rPr>
              <a:t>- Sync with bank accounts for real-time transactions.</a:t>
            </a:r>
          </a:p>
          <a:p>
            <a:pPr algn="just" marL="152400" indent="0">
              <a:lnSpc>
                <a:spcPts val="2640"/>
              </a:lnSpc>
            </a:pPr>
            <a:r>
              <a:rPr lang="en-US" sz="1200">
                <a:latin typeface="Calibri"/>
              </a:rPr>
              <a:t>•</a:t>
            </a:r>
            <a:r>
              <a:rPr lang="en-US" b="1" sz="1300">
                <a:latin typeface="Calibri"/>
              </a:rPr>
              <a:t>    Multi-Platform Accessibility </a:t>
            </a:r>
            <a:r>
              <a:rPr lang="en-US" sz="1200">
                <a:latin typeface="Calibri"/>
              </a:rPr>
              <a:t>- Available as a </a:t>
            </a:r>
            <a:r>
              <a:rPr lang="en-US" b="1" sz="1300">
                <a:latin typeface="Calibri"/>
              </a:rPr>
              <a:t>web &amp; mobile app</a:t>
            </a:r>
            <a:r>
              <a:rPr lang="en-US" sz="1200">
                <a:latin typeface="Calibri"/>
              </a:rPr>
              <a:t>.</a:t>
            </a:r>
          </a:p>
          <a:p>
            <a:pPr marL="381000" indent="-228600">
              <a:lnSpc>
                <a:spcPts val="1824"/>
              </a:lnSpc>
            </a:pPr>
            <a:r>
              <a:rPr lang="en-US" sz="1200">
                <a:latin typeface="Calibri"/>
              </a:rPr>
              <a:t>•</a:t>
            </a:r>
            <a:r>
              <a:rPr lang="en-US" b="1" sz="1300">
                <a:latin typeface="Calibri"/>
              </a:rPr>
              <a:t>    Security &amp; Privacy </a:t>
            </a:r>
            <a:r>
              <a:rPr lang="en-US" sz="1200">
                <a:latin typeface="Calibri"/>
              </a:rPr>
              <a:t>- Features </a:t>
            </a:r>
            <a:r>
              <a:rPr lang="en-US" b="1" sz="1300">
                <a:latin typeface="Calibri"/>
              </a:rPr>
              <a:t>biometric login, two-factor authentication, and encryption</a:t>
            </a:r>
            <a:r>
              <a:rPr lang="en-US" sz="1200">
                <a:latin typeface="Calibri"/>
              </a:rPr>
              <a:t>.</a:t>
            </a:r>
          </a:p>
        </p:txBody>
      </p:sp>
    </p:spTree>
  </p:cSld>
  <p:clrMapOvr>
    <a:overrideClrMapping bg1="lt1" tx1="dk1" bg2="lt2" tx2="dk2" accent1="accent1" accent2="accent2" accent3="accent3" accent4="accent4" accent5="accent5" accent6="accent6" hlink="hlink" folHlink="folHlink"/>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sp>
        <p:nvSpPr>
          <p:cNvPr id="2" name=""/>
          <p:cNvSpPr/>
          <p:nvPr/>
        </p:nvSpPr>
        <p:spPr>
          <a:xfrm>
            <a:off x="1002792" y="950976"/>
            <a:ext cx="5538216" cy="4419600"/>
          </a:xfrm>
          <a:prstGeom prst="rect">
            <a:avLst/>
          </a:prstGeom>
        </p:spPr>
        <p:txBody>
          <a:bodyPr lIns="0" tIns="0" rIns="0" bIns="0">
            <a:noAutofit/>
          </a:bodyPr>
          <a:p>
            <a:pPr indent="0">
              <a:lnSpc>
                <a:spcPts val="2616"/>
              </a:lnSpc>
            </a:pPr>
            <a:r>
              <a:rPr lang="en-US" b="1" sz="1300">
                <a:latin typeface="Calibri"/>
              </a:rPr>
              <a:t>Target Users</a:t>
            </a:r>
          </a:p>
          <a:p>
            <a:pPr algn="just" marL="152400" indent="0">
              <a:lnSpc>
                <a:spcPts val="2616"/>
              </a:lnSpc>
            </a:pPr>
            <a:r>
              <a:rPr lang="en-US" b="1" sz="1300">
                <a:latin typeface="Calibri"/>
              </a:rPr>
              <a:t>•    Investors &amp; Entrepreneurs </a:t>
            </a:r>
            <a:r>
              <a:rPr lang="en-US" sz="1200">
                <a:latin typeface="Calibri"/>
              </a:rPr>
              <a:t>- Need better financial oversight.</a:t>
            </a:r>
          </a:p>
          <a:p>
            <a:pPr algn="just" marL="152400" indent="0">
              <a:lnSpc>
                <a:spcPts val="2616"/>
              </a:lnSpc>
            </a:pPr>
            <a:r>
              <a:rPr lang="en-US" b="1" sz="1300">
                <a:latin typeface="Calibri"/>
              </a:rPr>
              <a:t>•    Individuals &amp; Families </a:t>
            </a:r>
            <a:r>
              <a:rPr lang="en-US" sz="1200">
                <a:latin typeface="Calibri"/>
              </a:rPr>
              <a:t>- Seeking structured budgeting.</a:t>
            </a:r>
          </a:p>
          <a:p>
            <a:pPr algn="just" marL="152400" indent="0">
              <a:lnSpc>
                <a:spcPts val="2616"/>
              </a:lnSpc>
            </a:pPr>
            <a:r>
              <a:rPr lang="en-US" b="1" sz="1300">
                <a:latin typeface="Calibri"/>
              </a:rPr>
              <a:t>•    Students </a:t>
            </a:r>
            <a:r>
              <a:rPr lang="en-US" sz="1200">
                <a:latin typeface="Calibri"/>
              </a:rPr>
              <a:t>- Planning financial independence.</a:t>
            </a:r>
          </a:p>
          <a:p>
            <a:pPr algn="just" marL="152400" indent="0">
              <a:lnSpc>
                <a:spcPts val="2616"/>
              </a:lnSpc>
            </a:pPr>
            <a:r>
              <a:rPr lang="en-US" b="1" sz="1300">
                <a:latin typeface="Calibri"/>
              </a:rPr>
              <a:t>•    Small Business Owners </a:t>
            </a:r>
            <a:r>
              <a:rPr lang="en-US" sz="1200">
                <a:latin typeface="Calibri"/>
              </a:rPr>
              <a:t>- Tracking expenses efficiently.</a:t>
            </a:r>
          </a:p>
          <a:p>
            <a:pPr indent="0">
              <a:lnSpc>
                <a:spcPts val="2616"/>
              </a:lnSpc>
            </a:pPr>
            <a:r>
              <a:rPr lang="en-US" b="1" sz="1300">
                <a:latin typeface="Calibri"/>
              </a:rPr>
              <a:t>Technologies Used</a:t>
            </a:r>
          </a:p>
          <a:p>
            <a:pPr algn="just" marL="152400" indent="0">
              <a:lnSpc>
                <a:spcPts val="2616"/>
              </a:lnSpc>
            </a:pPr>
            <a:r>
              <a:rPr lang="en-US" b="1" sz="1300">
                <a:latin typeface="Calibri"/>
              </a:rPr>
              <a:t>•    Frontend: </a:t>
            </a:r>
            <a:r>
              <a:rPr lang="en-US" sz="1200">
                <a:latin typeface="Calibri"/>
              </a:rPr>
              <a:t>React.js (Web), Flutter (Mobile).</a:t>
            </a:r>
          </a:p>
          <a:p>
            <a:pPr algn="just" marL="152400" indent="0">
              <a:lnSpc>
                <a:spcPts val="2616"/>
              </a:lnSpc>
            </a:pPr>
            <a:r>
              <a:rPr lang="en-US" b="1" sz="1300">
                <a:latin typeface="Calibri"/>
              </a:rPr>
              <a:t>•    Backend: </a:t>
            </a:r>
            <a:r>
              <a:rPr lang="en-US" sz="1200">
                <a:latin typeface="Calibri"/>
              </a:rPr>
              <a:t>Node.js (Express) or Django.</a:t>
            </a:r>
          </a:p>
          <a:p>
            <a:pPr algn="just" marL="152400" indent="0">
              <a:lnSpc>
                <a:spcPts val="2616"/>
              </a:lnSpc>
            </a:pPr>
            <a:r>
              <a:rPr lang="en-US" b="1" sz="1300">
                <a:latin typeface="Calibri"/>
              </a:rPr>
              <a:t>•    Database: </a:t>
            </a:r>
            <a:r>
              <a:rPr lang="en-US" sz="1200">
                <a:latin typeface="Calibri"/>
              </a:rPr>
              <a:t>PostgreSQL / MongoDB.</a:t>
            </a:r>
          </a:p>
          <a:p>
            <a:pPr algn="just" marL="152400" indent="0">
              <a:lnSpc>
                <a:spcPts val="2616"/>
              </a:lnSpc>
            </a:pPr>
            <a:r>
              <a:rPr lang="en-US" b="1" sz="1300">
                <a:latin typeface="Calibri"/>
              </a:rPr>
              <a:t>•    Authentication: </a:t>
            </a:r>
            <a:r>
              <a:rPr lang="en-US" sz="1200">
                <a:latin typeface="Calibri"/>
              </a:rPr>
              <a:t>OAuth 2.0, Firebase Auth, Biometrics.</a:t>
            </a:r>
          </a:p>
          <a:p>
            <a:pPr algn="just" marL="152400" indent="0">
              <a:lnSpc>
                <a:spcPts val="2616"/>
              </a:lnSpc>
            </a:pPr>
            <a:r>
              <a:rPr lang="en-US" b="1" sz="1300">
                <a:latin typeface="Calibri"/>
              </a:rPr>
              <a:t>•    Banking API Integration: </a:t>
            </a:r>
            <a:r>
              <a:rPr lang="en-US" sz="1200">
                <a:latin typeface="Calibri"/>
              </a:rPr>
              <a:t>Plaid, Yodlee.</a:t>
            </a:r>
          </a:p>
          <a:p>
            <a:pPr algn="just" marL="152400" indent="0">
              <a:lnSpc>
                <a:spcPts val="2616"/>
              </a:lnSpc>
            </a:pPr>
            <a:r>
              <a:rPr lang="en-US" b="1" sz="1300">
                <a:latin typeface="Calibri"/>
              </a:rPr>
              <a:t>•    Hosting &amp; Deployment: </a:t>
            </a:r>
            <a:r>
              <a:rPr lang="en-US" sz="1200">
                <a:latin typeface="Calibri"/>
              </a:rPr>
              <a:t>AWS, Firebase, or Azure.</a:t>
            </a:r>
          </a:p>
          <a:p>
            <a:pPr indent="0">
              <a:lnSpc>
                <a:spcPts val="1824"/>
              </a:lnSpc>
            </a:pPr>
            <a:r>
              <a:rPr lang="en-US" sz="1200">
                <a:latin typeface="Calibri"/>
              </a:rPr>
              <a:t>This software </a:t>
            </a:r>
            <a:r>
              <a:rPr lang="en-US" b="1" sz="1300">
                <a:latin typeface="Calibri"/>
              </a:rPr>
              <a:t>ensures financial clarity, automation, and security</a:t>
            </a:r>
            <a:r>
              <a:rPr lang="en-US" sz="1200">
                <a:latin typeface="Calibri"/>
              </a:rPr>
              <a:t>, making personal budgeting easier and more effective.</a:t>
            </a:r>
          </a:p>
        </p:txBody>
      </p:sp>
    </p:spTree>
  </p:cSld>
  <p:clrMapOvr>
    <a:overrideClrMapping bg1="lt1" tx1="dk1" bg2="lt2" tx2="dk2" accent1="accent1" accent2="accent2" accent3="accent3" accent4="accent4" accent5="accent5" accent6="accent6" hlink="hlink" folHlink="folHlink"/>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sp>
        <p:nvSpPr>
          <p:cNvPr id="2" name=""/>
          <p:cNvSpPr/>
          <p:nvPr/>
        </p:nvSpPr>
        <p:spPr>
          <a:xfrm>
            <a:off x="908304" y="950976"/>
            <a:ext cx="5870448" cy="2901696"/>
          </a:xfrm>
          <a:prstGeom prst="rect">
            <a:avLst/>
          </a:prstGeom>
        </p:spPr>
        <p:txBody>
          <a:bodyPr lIns="0" tIns="0" rIns="0" bIns="0">
            <a:noAutofit/>
          </a:bodyPr>
          <a:p>
            <a:pPr marL="2565400" marR="2356104" indent="0">
              <a:lnSpc>
                <a:spcPts val="3072"/>
              </a:lnSpc>
            </a:pPr>
            <a:r>
              <a:rPr lang="en-US" b="1" sz="1500">
                <a:latin typeface="Calibri"/>
              </a:rPr>
              <a:t>Task 4 SRS </a:t>
            </a:r>
            <a:r>
              <a:rPr lang="en-US" b="1" u="sng" sz="1500">
                <a:latin typeface="Calibri"/>
              </a:rPr>
              <a:t>(smartCard)</a:t>
            </a:r>
          </a:p>
          <a:p>
            <a:pPr algn="just" marL="190500" indent="0">
              <a:spcAft>
                <a:spcPts val="1050"/>
              </a:spcAft>
            </a:pPr>
            <a:r>
              <a:rPr lang="en-US" b="1" sz="1300">
                <a:latin typeface="Calibri"/>
              </a:rPr>
              <a:t>•    Software Purpose</a:t>
            </a:r>
          </a:p>
          <a:p>
            <a:pPr indent="469900">
              <a:lnSpc>
                <a:spcPts val="1824"/>
              </a:lnSpc>
              <a:spcAft>
                <a:spcPts val="420"/>
              </a:spcAft>
            </a:pPr>
            <a:r>
              <a:rPr lang="en-US" sz="1200">
                <a:latin typeface="Calibri"/>
              </a:rPr>
              <a:t>Our purpose in smartCard is to provide users with knowledge, intelligence and how to manage their money.</a:t>
            </a:r>
          </a:p>
          <a:p>
            <a:pPr algn="just" marL="190500" indent="0">
              <a:spcAft>
                <a:spcPts val="1050"/>
              </a:spcAft>
            </a:pPr>
            <a:r>
              <a:rPr lang="en-US" b="1" sz="1300">
                <a:latin typeface="Calibri"/>
              </a:rPr>
              <a:t>•    Software Scope</a:t>
            </a:r>
          </a:p>
          <a:p>
            <a:pPr marL="114300" indent="355600">
              <a:lnSpc>
                <a:spcPts val="1824"/>
              </a:lnSpc>
              <a:spcAft>
                <a:spcPts val="2310"/>
              </a:spcAft>
            </a:pPr>
            <a:r>
              <a:rPr lang="en-US" sz="1200">
                <a:latin typeface="Calibri"/>
              </a:rPr>
              <a:t>smartCard helps individuals track income, expenses, and savings while setting financial goals. It provides budgeting tools, spending insights, and bank integration for automated tracking. Administrators can oversee security, fraud detection, and user support.</a:t>
            </a:r>
          </a:p>
        </p:txBody>
      </p:sp>
      <p:sp>
        <p:nvSpPr>
          <p:cNvPr id="3" name=""/>
          <p:cNvSpPr/>
          <p:nvPr/>
        </p:nvSpPr>
        <p:spPr>
          <a:xfrm>
            <a:off x="1075944" y="4352544"/>
            <a:ext cx="3048000" cy="182880"/>
          </a:xfrm>
          <a:prstGeom prst="rect">
            <a:avLst/>
          </a:prstGeom>
        </p:spPr>
        <p:txBody>
          <a:bodyPr lIns="0" tIns="0" rIns="0" bIns="0" wrap="none">
            <a:noAutofit/>
          </a:bodyPr>
          <a:p>
            <a:pPr algn="just" indent="0">
              <a:spcBef>
                <a:spcPts val="2310"/>
              </a:spcBef>
            </a:pPr>
            <a:r>
              <a:rPr lang="en-US" b="1" sz="1300">
                <a:latin typeface="Calibri"/>
              </a:rPr>
              <a:t>• Definitions, acronyms, and abbreviations</a:t>
            </a:r>
          </a:p>
        </p:txBody>
      </p:sp>
      <p:graphicFrame>
        <p:nvGraphicFramePr>
          <p:cNvPr id="4" name=""/>
          <p:cNvGraphicFramePr>
            <a:graphicFrameLocks noGrp="1"/>
          </p:cNvGraphicFramePr>
          <p:nvPr/>
        </p:nvGraphicFramePr>
        <p:xfrm>
          <a:off x="914400" y="4663440"/>
          <a:ext cx="5946648" cy="4078224"/>
        </p:xfrm>
        <a:graphic>
          <a:graphicData uri="http://schemas.openxmlformats.org/drawingml/2006/table">
            <a:tbl>
              <a:tblPr/>
              <a:tblGrid>
                <a:gridCol w="1237488"/>
                <a:gridCol w="4709160"/>
              </a:tblGrid>
              <a:tr h="597408">
                <a:tc>
                  <a:txBody>
                    <a:bodyPr lIns="0" tIns="0" rIns="0" bIns="0">
                      <a:noAutofit/>
                    </a:bodyPr>
                    <a:p>
                      <a:pPr indent="0"/>
                      <a:r>
                        <a:rPr lang="en-US" sz="1800">
                          <a:latin typeface="Calibri"/>
                        </a:rPr>
                        <a:t>Phrase</a:t>
                      </a:r>
                    </a:p>
                  </a:txBody>
                  <a:tcPr marL="0" marR="0" marT="0" marB="0" anchor="b">
                    <a:solidFill>
                      <a:srgbClr val="FEDE6A"/>
                    </a:solidFill>
                  </a:tcPr>
                </a:tc>
                <a:tc>
                  <a:txBody>
                    <a:bodyPr lIns="0" tIns="0" rIns="0" bIns="0">
                      <a:noAutofit/>
                    </a:bodyPr>
                    <a:p>
                      <a:pPr indent="0"/>
                      <a:r>
                        <a:rPr lang="en-US" sz="1800">
                          <a:latin typeface="Calibri"/>
                        </a:rPr>
                        <a:t>Definition</a:t>
                      </a:r>
                    </a:p>
                  </a:txBody>
                  <a:tcPr marL="0" marR="0" marT="0" marB="0" anchor="b">
                    <a:solidFill>
                      <a:srgbClr val="FEDE6A"/>
                    </a:solidFill>
                  </a:tcPr>
                </a:tc>
              </a:tr>
              <a:tr h="658368">
                <a:tc>
                  <a:txBody>
                    <a:bodyPr lIns="0" tIns="0" rIns="0" bIns="0">
                      <a:noAutofit/>
                    </a:bodyPr>
                    <a:p>
                      <a:pPr indent="0"/>
                      <a:r>
                        <a:rPr lang="en-US" sz="1200">
                          <a:latin typeface="Calibri"/>
                        </a:rPr>
                        <a:t>Bank Integration</a:t>
                      </a:r>
                    </a:p>
                  </a:txBody>
                  <a:tcPr marL="0" marR="0" marT="0" marB="0" anchor="ctr"/>
                </a:tc>
                <a:tc>
                  <a:txBody>
                    <a:bodyPr lIns="0" tIns="0" rIns="0" bIns="0">
                      <a:noAutofit/>
                    </a:bodyPr>
                    <a:p>
                      <a:pPr marR="279400" indent="0">
                        <a:lnSpc>
                          <a:spcPts val="1464"/>
                        </a:lnSpc>
                      </a:pPr>
                      <a:r>
                        <a:rPr lang="en-US" sz="1200">
                          <a:latin typeface="Calibri"/>
                        </a:rPr>
                        <a:t>The ability of the software to connect with bank accounts to track transactions automatically.</a:t>
                      </a:r>
                    </a:p>
                  </a:txBody>
                  <a:tcPr marL="0" marR="0" marT="0" marB="0" anchor="b"/>
                </a:tc>
              </a:tr>
              <a:tr h="658368">
                <a:tc>
                  <a:txBody>
                    <a:bodyPr lIns="0" tIns="0" rIns="0" bIns="0">
                      <a:noAutofit/>
                    </a:bodyPr>
                    <a:p>
                      <a:pPr indent="0"/>
                      <a:r>
                        <a:rPr lang="en-US" sz="1200">
                          <a:latin typeface="Calibri"/>
                        </a:rPr>
                        <a:t>Budgeting</a:t>
                      </a:r>
                    </a:p>
                  </a:txBody>
                  <a:tcPr marL="0" marR="0" marT="0" marB="0" anchor="ctr"/>
                </a:tc>
                <a:tc>
                  <a:txBody>
                    <a:bodyPr lIns="0" tIns="0" rIns="0" bIns="0">
                      <a:noAutofit/>
                    </a:bodyPr>
                    <a:p>
                      <a:pPr marR="279400" indent="0">
                        <a:lnSpc>
                          <a:spcPts val="1464"/>
                        </a:lnSpc>
                      </a:pPr>
                      <a:r>
                        <a:rPr lang="en-US" sz="1200">
                          <a:latin typeface="Calibri"/>
                        </a:rPr>
                        <a:t>The process of planning and managing income and expenses to control finances.</a:t>
                      </a:r>
                    </a:p>
                  </a:txBody>
                  <a:tcPr marL="0" marR="0" marT="0" marB="0" anchor="b"/>
                </a:tc>
              </a:tr>
              <a:tr h="655320">
                <a:tc>
                  <a:txBody>
                    <a:bodyPr lIns="0" tIns="0" rIns="0" bIns="0">
                      <a:noAutofit/>
                    </a:bodyPr>
                    <a:p>
                      <a:pPr indent="0"/>
                      <a:r>
                        <a:rPr lang="en-US" sz="1200">
                          <a:latin typeface="Calibri"/>
                        </a:rPr>
                        <a:t>Income</a:t>
                      </a:r>
                    </a:p>
                  </a:txBody>
                  <a:tcPr marL="0" marR="0" marT="0" marB="0" anchor="ctr"/>
                </a:tc>
                <a:tc>
                  <a:txBody>
                    <a:bodyPr lIns="0" tIns="0" rIns="0" bIns="0">
                      <a:noAutofit/>
                    </a:bodyPr>
                    <a:p>
                      <a:pPr marR="127000" indent="0">
                        <a:lnSpc>
                          <a:spcPts val="1464"/>
                        </a:lnSpc>
                      </a:pPr>
                      <a:r>
                        <a:rPr lang="en-US" sz="1200">
                          <a:latin typeface="Calibri"/>
                        </a:rPr>
                        <a:t>Money received from various sources such as salary, business, or investments.</a:t>
                      </a:r>
                    </a:p>
                  </a:txBody>
                  <a:tcPr marL="0" marR="0" marT="0" marB="0" anchor="b"/>
                </a:tc>
              </a:tr>
              <a:tr h="844296">
                <a:tc>
                  <a:txBody>
                    <a:bodyPr lIns="0" tIns="0" rIns="0" bIns="0">
                      <a:noAutofit/>
                    </a:bodyPr>
                    <a:p>
                      <a:pPr indent="0"/>
                      <a:r>
                        <a:rPr lang="en-US" sz="1200">
                          <a:latin typeface="Calibri"/>
                        </a:rPr>
                        <a:t>E-Wallet</a:t>
                      </a:r>
                    </a:p>
                  </a:txBody>
                  <a:tcPr marL="0" marR="0" marT="0" marB="0" anchor="ctr"/>
                </a:tc>
                <a:tc>
                  <a:txBody>
                    <a:bodyPr lIns="0" tIns="0" rIns="0" bIns="0">
                      <a:noAutofit/>
                    </a:bodyPr>
                    <a:p>
                      <a:pPr algn="just" marR="127000" indent="0">
                        <a:lnSpc>
                          <a:spcPts val="1464"/>
                        </a:lnSpc>
                      </a:pPr>
                      <a:r>
                        <a:rPr lang="en-US" sz="1200">
                          <a:latin typeface="Calibri"/>
                        </a:rPr>
                        <a:t>An electronic device, online service, or software program that allows one party to make electronic transactions with another party bartering digital currency units for goods and services.</a:t>
                      </a:r>
                    </a:p>
                  </a:txBody>
                  <a:tcPr marL="0" marR="0" marT="0" marB="0" anchor="b"/>
                </a:tc>
              </a:tr>
              <a:tr h="664464">
                <a:tc>
                  <a:txBody>
                    <a:bodyPr lIns="0" tIns="0" rIns="0" bIns="0">
                      <a:noAutofit/>
                    </a:bodyPr>
                    <a:p>
                      <a:pPr indent="0"/>
                      <a:r>
                        <a:rPr lang="en-US" sz="1200">
                          <a:latin typeface="Calibri"/>
                        </a:rPr>
                        <a:t>Cloud Storage</a:t>
                      </a:r>
                    </a:p>
                  </a:txBody>
                  <a:tcPr marL="0" marR="0" marT="0" marB="0" anchor="ctr"/>
                </a:tc>
                <a:tc>
                  <a:txBody>
                    <a:bodyPr lIns="0" tIns="0" rIns="0" bIns="0">
                      <a:noAutofit/>
                    </a:bodyPr>
                    <a:p>
                      <a:pPr marR="127000" indent="0">
                        <a:lnSpc>
                          <a:spcPts val="1464"/>
                        </a:lnSpc>
                      </a:pPr>
                      <a:r>
                        <a:rPr lang="en-US" sz="1200">
                          <a:latin typeface="Calibri"/>
                        </a:rPr>
                        <a:t>Online storage that allows users to save and access financial data from anywhere.</a:t>
                      </a:r>
                    </a:p>
                  </a:txBody>
                  <a:tcPr marL="0" marR="0" marT="0" marB="0" anchor="b"/>
                </a:tc>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sp>
        <p:nvSpPr>
          <p:cNvPr id="2" name=""/>
          <p:cNvSpPr/>
          <p:nvPr/>
        </p:nvSpPr>
        <p:spPr>
          <a:xfrm>
            <a:off x="902208" y="1286256"/>
            <a:ext cx="2563368" cy="210312"/>
          </a:xfrm>
          <a:prstGeom prst="rect">
            <a:avLst/>
          </a:prstGeom>
        </p:spPr>
        <p:txBody>
          <a:bodyPr lIns="0" tIns="0" rIns="0" bIns="0" wrap="none">
            <a:noAutofit/>
          </a:bodyPr>
          <a:p>
            <a:pPr indent="0"/>
            <a:r>
              <a:rPr lang="en-US" sz="1500">
                <a:solidFill>
                  <a:srgbClr val="2F5496"/>
                </a:solidFill>
                <a:latin typeface="Calibri"/>
              </a:rPr>
              <a:t>Some Functional Requirements</a:t>
            </a:r>
          </a:p>
        </p:txBody>
      </p:sp>
      <p:graphicFrame>
        <p:nvGraphicFramePr>
          <p:cNvPr id="3" name=""/>
          <p:cNvGraphicFramePr>
            <a:graphicFrameLocks noGrp="1"/>
          </p:cNvGraphicFramePr>
          <p:nvPr/>
        </p:nvGraphicFramePr>
        <p:xfrm>
          <a:off x="914400" y="1588008"/>
          <a:ext cx="5946648" cy="6665976"/>
        </p:xfrm>
        <a:graphic>
          <a:graphicData uri="http://schemas.openxmlformats.org/drawingml/2006/table">
            <a:tbl>
              <a:tblPr/>
              <a:tblGrid>
                <a:gridCol w="783336"/>
                <a:gridCol w="5163312"/>
              </a:tblGrid>
              <a:tr h="256032">
                <a:tc>
                  <a:txBody>
                    <a:bodyPr lIns="0" tIns="0" rIns="0" bIns="0">
                      <a:noAutofit/>
                    </a:bodyPr>
                    <a:p>
                      <a:pPr indent="0"/>
                      <a:r>
                        <a:rPr lang="en-US" b="1" sz="1500">
                          <a:solidFill>
                            <a:srgbClr val="C00000"/>
                          </a:solidFill>
                          <a:latin typeface="Calibri"/>
                        </a:rPr>
                        <a:t>ID</a:t>
                      </a:r>
                    </a:p>
                  </a:txBody>
                  <a:tcPr marL="0" marR="0" marT="0" marB="0" anchor="b">
                    <a:solidFill>
                      <a:srgbClr val="4473C5"/>
                    </a:solidFill>
                  </a:tcPr>
                </a:tc>
                <a:tc>
                  <a:txBody>
                    <a:bodyPr lIns="0" tIns="0" rIns="0" bIns="0">
                      <a:noAutofit/>
                    </a:bodyPr>
                    <a:p>
                      <a:pPr indent="0"/>
                      <a:r>
                        <a:rPr lang="en-US" b="1" sz="1500">
                          <a:solidFill>
                            <a:srgbClr val="C00000"/>
                          </a:solidFill>
                          <a:latin typeface="Calibri"/>
                        </a:rPr>
                        <a:t>Requirement statement</a:t>
                      </a:r>
                    </a:p>
                  </a:txBody>
                  <a:tcPr marL="0" marR="0" marT="0" marB="0" anchor="b">
                    <a:solidFill>
                      <a:srgbClr val="4473C5"/>
                    </a:solidFill>
                  </a:tcPr>
                </a:tc>
              </a:tr>
              <a:tr h="192024">
                <a:tc>
                  <a:txBody>
                    <a:bodyPr lIns="0" tIns="0" rIns="0" bIns="0">
                      <a:noAutofit/>
                    </a:bodyPr>
                    <a:p>
                      <a:pPr indent="0"/>
                      <a:r>
                        <a:rPr lang="en-US" sz="1200">
                          <a:latin typeface="Calibri"/>
                        </a:rPr>
                        <a:t>FR01</a:t>
                      </a:r>
                    </a:p>
                  </a:txBody>
                  <a:tcPr marL="0" marR="0" marT="0" marB="0" anchor="b">
                    <a:solidFill>
                      <a:srgbClr val="4473C5"/>
                    </a:solidFill>
                  </a:tcPr>
                </a:tc>
                <a:tc>
                  <a:txBody>
                    <a:bodyPr lIns="0" tIns="0" rIns="0" bIns="0">
                      <a:noAutofit/>
                    </a:bodyPr>
                    <a:p>
                      <a:pPr indent="0"/>
                      <a:r>
                        <a:rPr lang="en-US" sz="1200">
                          <a:latin typeface="Calibri"/>
                        </a:rPr>
                        <a:t>The application Should display a login/sign-up screen upon launch.</a:t>
                      </a:r>
                    </a:p>
                  </a:txBody>
                  <a:tcPr marL="0" marR="0" marT="0" marB="0" anchor="b"/>
                </a:tc>
              </a:tr>
              <a:tr h="381000">
                <a:tc>
                  <a:txBody>
                    <a:bodyPr lIns="0" tIns="0" rIns="0" bIns="0">
                      <a:noAutofit/>
                    </a:bodyPr>
                    <a:p>
                      <a:pPr indent="0"/>
                      <a:r>
                        <a:rPr lang="en-US" sz="1200">
                          <a:latin typeface="Calibri"/>
                        </a:rPr>
                        <a:t>FR02</a:t>
                      </a:r>
                    </a:p>
                  </a:txBody>
                  <a:tcPr marL="0" marR="0" marT="0" marB="0">
                    <a:solidFill>
                      <a:srgbClr val="4473C5"/>
                    </a:solidFill>
                  </a:tcPr>
                </a:tc>
                <a:tc>
                  <a:txBody>
                    <a:bodyPr lIns="0" tIns="0" rIns="0" bIns="0">
                      <a:noAutofit/>
                    </a:bodyPr>
                    <a:p>
                      <a:pPr indent="0">
                        <a:lnSpc>
                          <a:spcPts val="1464"/>
                        </a:lnSpc>
                      </a:pPr>
                      <a:r>
                        <a:rPr lang="en-US" sz="1200">
                          <a:latin typeface="Calibri"/>
                        </a:rPr>
                        <a:t>The application Should provide input fields for username and password for user login.</a:t>
                      </a:r>
                    </a:p>
                  </a:txBody>
                  <a:tcPr marL="0" marR="0" marT="0" marB="0" anchor="b"/>
                </a:tc>
              </a:tr>
              <a:tr h="762000">
                <a:tc>
                  <a:txBody>
                    <a:bodyPr lIns="0" tIns="0" rIns="0" bIns="0">
                      <a:noAutofit/>
                    </a:bodyPr>
                    <a:p>
                      <a:pPr indent="0"/>
                      <a:r>
                        <a:rPr lang="en-US" sz="1200">
                          <a:latin typeface="Calibri"/>
                        </a:rPr>
                        <a:t>FR03</a:t>
                      </a:r>
                    </a:p>
                  </a:txBody>
                  <a:tcPr marL="0" marR="0" marT="0" marB="0">
                    <a:solidFill>
                      <a:srgbClr val="4473C5"/>
                    </a:solidFill>
                  </a:tcPr>
                </a:tc>
                <a:tc>
                  <a:txBody>
                    <a:bodyPr lIns="0" tIns="0" rIns="0" bIns="0">
                      <a:noAutofit/>
                    </a:bodyPr>
                    <a:p>
                      <a:pPr indent="0">
                        <a:spcAft>
                          <a:spcPts val="420"/>
                        </a:spcAft>
                      </a:pPr>
                      <a:r>
                        <a:rPr lang="en-US" sz="1200">
                          <a:latin typeface="Calibri"/>
                        </a:rPr>
                        <a:t>If user chooses to log in he should valid inputs</a:t>
                      </a:r>
                    </a:p>
                    <a:p>
                      <a:pPr algn="just" marL="304800" indent="0">
                        <a:spcAft>
                          <a:spcPts val="420"/>
                        </a:spcAft>
                      </a:pPr>
                      <a:r>
                        <a:rPr lang="en-US" sz="1200">
                          <a:latin typeface="Calibri"/>
                        </a:rPr>
                        <a:t>•    if Invalid inputs will ask him to Enter Valid one or direct to sign-up page</a:t>
                      </a:r>
                    </a:p>
                    <a:p>
                      <a:pPr algn="just" marL="304800" indent="0"/>
                      <a:r>
                        <a:rPr lang="en-US" sz="1200">
                          <a:latin typeface="Calibri"/>
                        </a:rPr>
                        <a:t>•    else System will direct him to his Main page Successfully</a:t>
                      </a:r>
                    </a:p>
                  </a:txBody>
                  <a:tcPr marL="0" marR="0" marT="0" marB="0"/>
                </a:tc>
              </a:tr>
              <a:tr h="1432560">
                <a:tc>
                  <a:txBody>
                    <a:bodyPr lIns="0" tIns="0" rIns="0" bIns="0">
                      <a:noAutofit/>
                    </a:bodyPr>
                    <a:p>
                      <a:pPr indent="0"/>
                      <a:r>
                        <a:rPr lang="en-US" sz="1200">
                          <a:latin typeface="Calibri"/>
                        </a:rPr>
                        <a:t>FR04</a:t>
                      </a:r>
                    </a:p>
                  </a:txBody>
                  <a:tcPr marL="0" marR="0" marT="0" marB="0">
                    <a:solidFill>
                      <a:srgbClr val="4473C5"/>
                    </a:solidFill>
                  </a:tcPr>
                </a:tc>
                <a:tc>
                  <a:txBody>
                    <a:bodyPr lIns="0" tIns="0" rIns="0" bIns="0">
                      <a:noAutofit/>
                    </a:bodyPr>
                    <a:p>
                      <a:pPr indent="0">
                        <a:spcAft>
                          <a:spcPts val="420"/>
                        </a:spcAft>
                      </a:pPr>
                      <a:r>
                        <a:rPr lang="en-US" sz="1200">
                          <a:latin typeface="Calibri"/>
                        </a:rPr>
                        <a:t>If User chooses to sign-up System should Ask him for some data</a:t>
                      </a:r>
                    </a:p>
                    <a:p>
                      <a:pPr algn="just" marL="304800" indent="0">
                        <a:lnSpc>
                          <a:spcPts val="1728"/>
                        </a:lnSpc>
                      </a:pPr>
                      <a:r>
                        <a:rPr lang="en-US" sz="1200">
                          <a:latin typeface="Calibri"/>
                        </a:rPr>
                        <a:t>•    Email</a:t>
                      </a:r>
                    </a:p>
                    <a:p>
                      <a:pPr algn="just" marL="304800" indent="0">
                        <a:lnSpc>
                          <a:spcPts val="1728"/>
                        </a:lnSpc>
                      </a:pPr>
                      <a:r>
                        <a:rPr lang="en-US" sz="1200">
                          <a:latin typeface="Calibri"/>
                        </a:rPr>
                        <a:t>•    Username</a:t>
                      </a:r>
                    </a:p>
                    <a:p>
                      <a:pPr algn="just" marL="304800" indent="0">
                        <a:lnSpc>
                          <a:spcPts val="1728"/>
                        </a:lnSpc>
                      </a:pPr>
                      <a:r>
                        <a:rPr lang="en-US" sz="1200">
                          <a:latin typeface="Calibri"/>
                        </a:rPr>
                        <a:t>•    Password</a:t>
                      </a:r>
                    </a:p>
                    <a:p>
                      <a:pPr algn="just" marL="304800" indent="0">
                        <a:lnSpc>
                          <a:spcPts val="1728"/>
                        </a:lnSpc>
                      </a:pPr>
                      <a:r>
                        <a:rPr lang="en-US" sz="1200">
                          <a:latin typeface="Calibri"/>
                        </a:rPr>
                        <a:t>•    Credit Card Details</a:t>
                      </a:r>
                    </a:p>
                    <a:p>
                      <a:pPr algn="just" marL="304800" indent="0">
                        <a:lnSpc>
                          <a:spcPts val="1728"/>
                        </a:lnSpc>
                      </a:pPr>
                      <a:r>
                        <a:rPr lang="en-US" sz="1200">
                          <a:latin typeface="Calibri"/>
                        </a:rPr>
                        <a:t>•    Account type (personal user, investor/entrepreneur, project Manger)</a:t>
                      </a:r>
                    </a:p>
                  </a:txBody>
                  <a:tcPr marL="0" marR="0" marT="0" marB="0"/>
                </a:tc>
              </a:tr>
              <a:tr h="188976">
                <a:tc>
                  <a:txBody>
                    <a:bodyPr lIns="0" tIns="0" rIns="0" bIns="0">
                      <a:noAutofit/>
                    </a:bodyPr>
                    <a:p>
                      <a:pPr indent="0"/>
                      <a:r>
                        <a:rPr lang="en-US" sz="1200">
                          <a:latin typeface="Calibri"/>
                        </a:rPr>
                        <a:t>FR05</a:t>
                      </a:r>
                    </a:p>
                  </a:txBody>
                  <a:tcPr marL="0" marR="0" marT="0" marB="0" anchor="b">
                    <a:solidFill>
                      <a:srgbClr val="4473C5"/>
                    </a:solidFill>
                  </a:tcPr>
                </a:tc>
                <a:tc>
                  <a:txBody>
                    <a:bodyPr lIns="0" tIns="0" rIns="0" bIns="0">
                      <a:noAutofit/>
                    </a:bodyPr>
                    <a:p>
                      <a:pPr indent="0"/>
                      <a:r>
                        <a:rPr lang="en-US" sz="1200">
                          <a:latin typeface="Calibri"/>
                        </a:rPr>
                        <a:t>All input data should be secure</a:t>
                      </a:r>
                    </a:p>
                  </a:txBody>
                  <a:tcPr marL="0" marR="0" marT="0" marB="0" anchor="b"/>
                </a:tc>
              </a:tr>
              <a:tr h="192024">
                <a:tc>
                  <a:txBody>
                    <a:bodyPr lIns="0" tIns="0" rIns="0" bIns="0">
                      <a:noAutofit/>
                    </a:bodyPr>
                    <a:p>
                      <a:pPr indent="0"/>
                      <a:r>
                        <a:rPr lang="en-US" sz="1200">
                          <a:latin typeface="Calibri"/>
                        </a:rPr>
                        <a:t>FR06</a:t>
                      </a:r>
                    </a:p>
                  </a:txBody>
                  <a:tcPr marL="0" marR="0" marT="0" marB="0" anchor="b">
                    <a:solidFill>
                      <a:srgbClr val="4473C5"/>
                    </a:solidFill>
                  </a:tcPr>
                </a:tc>
                <a:tc>
                  <a:txBody>
                    <a:bodyPr lIns="0" tIns="0" rIns="0" bIns="0">
                      <a:noAutofit/>
                    </a:bodyPr>
                    <a:p>
                      <a:pPr indent="0"/>
                      <a:r>
                        <a:rPr lang="en-US" sz="1200">
                          <a:latin typeface="Calibri"/>
                        </a:rPr>
                        <a:t>If user forget Password we should give him a reset Password option</a:t>
                      </a:r>
                    </a:p>
                  </a:txBody>
                  <a:tcPr marL="0" marR="0" marT="0" marB="0" anchor="b"/>
                </a:tc>
              </a:tr>
              <a:tr h="377952">
                <a:tc>
                  <a:txBody>
                    <a:bodyPr lIns="0" tIns="0" rIns="0" bIns="0">
                      <a:noAutofit/>
                    </a:bodyPr>
                    <a:p>
                      <a:pPr indent="0"/>
                      <a:r>
                        <a:rPr lang="en-US" sz="1200">
                          <a:latin typeface="Calibri"/>
                        </a:rPr>
                        <a:t>FR07</a:t>
                      </a:r>
                    </a:p>
                  </a:txBody>
                  <a:tcPr marL="0" marR="0" marT="0" marB="0">
                    <a:solidFill>
                      <a:srgbClr val="4473C5"/>
                    </a:solidFill>
                  </a:tcPr>
                </a:tc>
                <a:tc>
                  <a:txBody>
                    <a:bodyPr lIns="0" tIns="0" rIns="0" bIns="0">
                      <a:noAutofit/>
                    </a:bodyPr>
                    <a:p>
                      <a:pPr indent="0">
                        <a:lnSpc>
                          <a:spcPts val="1464"/>
                        </a:lnSpc>
                      </a:pPr>
                      <a:r>
                        <a:rPr lang="en-US" sz="1200">
                          <a:latin typeface="Calibri"/>
                        </a:rPr>
                        <a:t>The application should display a user dashboard summarizing total income, expenses, balance, and savings</a:t>
                      </a:r>
                    </a:p>
                  </a:txBody>
                  <a:tcPr marL="0" marR="0" marT="0" marB="0" anchor="b"/>
                </a:tc>
              </a:tr>
              <a:tr h="377952">
                <a:tc>
                  <a:txBody>
                    <a:bodyPr lIns="0" tIns="0" rIns="0" bIns="0">
                      <a:noAutofit/>
                    </a:bodyPr>
                    <a:p>
                      <a:pPr indent="0"/>
                      <a:r>
                        <a:rPr lang="en-US" sz="1200">
                          <a:latin typeface="Calibri"/>
                        </a:rPr>
                        <a:t>FR08</a:t>
                      </a:r>
                    </a:p>
                  </a:txBody>
                  <a:tcPr marL="0" marR="0" marT="0" marB="0">
                    <a:solidFill>
                      <a:srgbClr val="4473C5"/>
                    </a:solidFill>
                  </a:tcPr>
                </a:tc>
                <a:tc>
                  <a:txBody>
                    <a:bodyPr lIns="0" tIns="0" rIns="0" bIns="0">
                      <a:noAutofit/>
                    </a:bodyPr>
                    <a:p>
                      <a:pPr indent="0">
                        <a:lnSpc>
                          <a:spcPts val="1464"/>
                        </a:lnSpc>
                      </a:pPr>
                      <a:r>
                        <a:rPr lang="en-US" sz="1200">
                          <a:latin typeface="Calibri"/>
                        </a:rPr>
                        <a:t>The application will allow users to add, edit, and delete income transactions with details such as source, amount, date, and category.</a:t>
                      </a:r>
                    </a:p>
                  </a:txBody>
                  <a:tcPr marL="0" marR="0" marT="0" marB="0" anchor="b"/>
                </a:tc>
              </a:tr>
              <a:tr h="990600">
                <a:tc>
                  <a:txBody>
                    <a:bodyPr lIns="0" tIns="0" rIns="0" bIns="0">
                      <a:noAutofit/>
                    </a:bodyPr>
                    <a:p>
                      <a:pPr indent="0"/>
                      <a:r>
                        <a:rPr lang="en-US" sz="1200">
                          <a:latin typeface="Calibri"/>
                        </a:rPr>
                        <a:t>FR09</a:t>
                      </a:r>
                    </a:p>
                  </a:txBody>
                  <a:tcPr marL="0" marR="0" marT="0" marB="0">
                    <a:solidFill>
                      <a:srgbClr val="4473C5"/>
                    </a:solidFill>
                  </a:tcPr>
                </a:tc>
                <a:tc>
                  <a:txBody>
                    <a:bodyPr lIns="0" tIns="0" rIns="0" bIns="0">
                      <a:noAutofit/>
                    </a:bodyPr>
                    <a:p>
                      <a:pPr indent="0">
                        <a:spcAft>
                          <a:spcPts val="420"/>
                        </a:spcAft>
                      </a:pPr>
                      <a:r>
                        <a:rPr lang="en-US" sz="1200">
                          <a:latin typeface="Calibri"/>
                        </a:rPr>
                        <a:t>The app will have a filed contains</a:t>
                      </a:r>
                    </a:p>
                    <a:p>
                      <a:pPr algn="just" marL="304800" indent="0">
                        <a:lnSpc>
                          <a:spcPts val="1728"/>
                        </a:lnSpc>
                      </a:pPr>
                      <a:r>
                        <a:rPr lang="en-US" sz="1200">
                          <a:latin typeface="Calibri"/>
                        </a:rPr>
                        <a:t>•    Previous Payments</a:t>
                      </a:r>
                    </a:p>
                    <a:p>
                      <a:pPr algn="just" marL="304800" indent="0">
                        <a:lnSpc>
                          <a:spcPts val="1728"/>
                        </a:lnSpc>
                      </a:pPr>
                      <a:r>
                        <a:rPr lang="en-US" sz="1200">
                          <a:latin typeface="Calibri"/>
                        </a:rPr>
                        <a:t>•    Total Money paid in( last month ,last year, total)</a:t>
                      </a:r>
                    </a:p>
                    <a:p>
                      <a:pPr algn="just" marL="304800" indent="0">
                        <a:lnSpc>
                          <a:spcPts val="1728"/>
                        </a:lnSpc>
                      </a:pPr>
                      <a:r>
                        <a:rPr lang="en-US" sz="1200">
                          <a:latin typeface="Calibri"/>
                        </a:rPr>
                        <a:t>•    Some recommendations in each Payment</a:t>
                      </a:r>
                    </a:p>
                  </a:txBody>
                  <a:tcPr marL="0" marR="0" marT="0" marB="0"/>
                </a:tc>
              </a:tr>
              <a:tr h="374904">
                <a:tc>
                  <a:txBody>
                    <a:bodyPr lIns="0" tIns="0" rIns="0" bIns="0">
                      <a:noAutofit/>
                    </a:bodyPr>
                    <a:p>
                      <a:pPr indent="0"/>
                      <a:r>
                        <a:rPr lang="en-US" sz="1200">
                          <a:latin typeface="Calibri"/>
                        </a:rPr>
                        <a:t>FR10</a:t>
                      </a:r>
                    </a:p>
                  </a:txBody>
                  <a:tcPr marL="0" marR="0" marT="0" marB="0">
                    <a:solidFill>
                      <a:srgbClr val="4473C5"/>
                    </a:solidFill>
                  </a:tcPr>
                </a:tc>
                <a:tc>
                  <a:txBody>
                    <a:bodyPr lIns="0" tIns="0" rIns="0" bIns="0">
                      <a:noAutofit/>
                    </a:bodyPr>
                    <a:p>
                      <a:pPr indent="0">
                        <a:lnSpc>
                          <a:spcPts val="1464"/>
                        </a:lnSpc>
                      </a:pPr>
                      <a:r>
                        <a:rPr lang="en-US" sz="1200">
                          <a:latin typeface="Calibri"/>
                        </a:rPr>
                        <a:t>The application should automatically categorize transactions based on predefined rules, with options for manual re-categorization.</a:t>
                      </a:r>
                    </a:p>
                  </a:txBody>
                  <a:tcPr marL="0" marR="0" marT="0" marB="0" anchor="b"/>
                </a:tc>
              </a:tr>
              <a:tr h="377952">
                <a:tc>
                  <a:txBody>
                    <a:bodyPr lIns="0" tIns="0" rIns="0" bIns="0">
                      <a:noAutofit/>
                    </a:bodyPr>
                    <a:p>
                      <a:pPr indent="0"/>
                      <a:r>
                        <a:rPr lang="en-US" sz="1200">
                          <a:latin typeface="Calibri"/>
                        </a:rPr>
                        <a:t>FR11</a:t>
                      </a:r>
                    </a:p>
                  </a:txBody>
                  <a:tcPr marL="0" marR="0" marT="0" marB="0">
                    <a:solidFill>
                      <a:srgbClr val="4473C5"/>
                    </a:solidFill>
                  </a:tcPr>
                </a:tc>
                <a:tc>
                  <a:txBody>
                    <a:bodyPr lIns="0" tIns="0" rIns="0" bIns="0">
                      <a:noAutofit/>
                    </a:bodyPr>
                    <a:p>
                      <a:pPr indent="0">
                        <a:lnSpc>
                          <a:spcPts val="1464"/>
                        </a:lnSpc>
                      </a:pPr>
                      <a:r>
                        <a:rPr lang="en-US" sz="1200">
                          <a:latin typeface="Calibri"/>
                        </a:rPr>
                        <a:t>The application shall enable users to create and manage budgets by setting spending limits for various expense categories (Food, cloth, Games)</a:t>
                      </a:r>
                    </a:p>
                  </a:txBody>
                  <a:tcPr marL="0" marR="0" marT="0" marB="0" anchor="b"/>
                </a:tc>
              </a:tr>
              <a:tr h="377952">
                <a:tc>
                  <a:txBody>
                    <a:bodyPr lIns="0" tIns="0" rIns="0" bIns="0">
                      <a:noAutofit/>
                    </a:bodyPr>
                    <a:p>
                      <a:pPr indent="0"/>
                      <a:r>
                        <a:rPr lang="en-US" sz="1200">
                          <a:latin typeface="Calibri"/>
                        </a:rPr>
                        <a:t>FR12</a:t>
                      </a:r>
                    </a:p>
                  </a:txBody>
                  <a:tcPr marL="0" marR="0" marT="0" marB="0">
                    <a:solidFill>
                      <a:srgbClr val="4473C5"/>
                    </a:solidFill>
                  </a:tcPr>
                </a:tc>
                <a:tc>
                  <a:txBody>
                    <a:bodyPr lIns="0" tIns="0" rIns="0" bIns="0">
                      <a:noAutofit/>
                    </a:bodyPr>
                    <a:p>
                      <a:pPr indent="0">
                        <a:lnSpc>
                          <a:spcPts val="1464"/>
                        </a:lnSpc>
                      </a:pPr>
                      <a:r>
                        <a:rPr lang="en-US" sz="1200">
                          <a:latin typeface="Calibri"/>
                        </a:rPr>
                        <a:t>The app generates visual reports (charts and graphs) that show spending trends, income-to-expense ratios, and budget adherence.</a:t>
                      </a:r>
                    </a:p>
                  </a:txBody>
                  <a:tcPr marL="0" marR="0" marT="0" marB="0" anchor="b"/>
                </a:tc>
              </a:tr>
              <a:tr h="384048">
                <a:tc>
                  <a:txBody>
                    <a:bodyPr lIns="0" tIns="0" rIns="0" bIns="0">
                      <a:noAutofit/>
                    </a:bodyPr>
                    <a:p>
                      <a:pPr indent="0"/>
                      <a:r>
                        <a:rPr lang="en-US" sz="1200">
                          <a:latin typeface="Calibri"/>
                        </a:rPr>
                        <a:t>FR13</a:t>
                      </a:r>
                    </a:p>
                  </a:txBody>
                  <a:tcPr marL="0" marR="0" marT="0" marB="0">
                    <a:solidFill>
                      <a:srgbClr val="4473C5"/>
                    </a:solidFill>
                  </a:tcPr>
                </a:tc>
                <a:tc>
                  <a:txBody>
                    <a:bodyPr lIns="0" tIns="0" rIns="0" bIns="0">
                      <a:noAutofit/>
                    </a:bodyPr>
                    <a:p>
                      <a:pPr indent="0">
                        <a:lnSpc>
                          <a:spcPts val="1464"/>
                        </a:lnSpc>
                      </a:pPr>
                      <a:r>
                        <a:rPr lang="en-US" sz="1200">
                          <a:latin typeface="Calibri"/>
                        </a:rPr>
                        <a:t>The app enables users to set and track savings goals through visual progress indicators.</a:t>
                      </a:r>
                    </a:p>
                  </a:txBody>
                  <a:tcPr marL="0" marR="0" marT="0" marB="0"/>
                </a:tc>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sp>
        <p:nvSpPr>
          <p:cNvPr id="2" name=""/>
          <p:cNvSpPr/>
          <p:nvPr/>
        </p:nvSpPr>
        <p:spPr>
          <a:xfrm>
            <a:off x="914400" y="950976"/>
            <a:ext cx="2450592" cy="210312"/>
          </a:xfrm>
          <a:prstGeom prst="rect">
            <a:avLst/>
          </a:prstGeom>
        </p:spPr>
        <p:txBody>
          <a:bodyPr lIns="0" tIns="0" rIns="0" bIns="0" wrap="none">
            <a:noAutofit/>
          </a:bodyPr>
          <a:p>
            <a:pPr indent="0"/>
            <a:r>
              <a:rPr lang="en-US" sz="1500">
                <a:solidFill>
                  <a:srgbClr val="2F5496"/>
                </a:solidFill>
                <a:latin typeface="Calibri"/>
              </a:rPr>
              <a:t>Non-Functional Requirements</a:t>
            </a:r>
          </a:p>
        </p:txBody>
      </p:sp>
      <p:graphicFrame>
        <p:nvGraphicFramePr>
          <p:cNvPr id="3" name=""/>
          <p:cNvGraphicFramePr>
            <a:graphicFrameLocks noGrp="1"/>
          </p:cNvGraphicFramePr>
          <p:nvPr/>
        </p:nvGraphicFramePr>
        <p:xfrm>
          <a:off x="914400" y="1252728"/>
          <a:ext cx="5946648" cy="5404104"/>
        </p:xfrm>
        <a:graphic>
          <a:graphicData uri="http://schemas.openxmlformats.org/drawingml/2006/table">
            <a:tbl>
              <a:tblPr/>
              <a:tblGrid>
                <a:gridCol w="1109472"/>
                <a:gridCol w="4837176"/>
              </a:tblGrid>
              <a:tr h="182880">
                <a:tc>
                  <a:txBody>
                    <a:bodyPr lIns="0" tIns="0" rIns="0" bIns="0">
                      <a:noAutofit/>
                    </a:bodyPr>
                    <a:p>
                      <a:pPr indent="0"/>
                      <a:r>
                        <a:rPr lang="en-US" b="1" sz="1300">
                          <a:latin typeface="Calibri"/>
                        </a:rPr>
                        <a:t>Measure</a:t>
                      </a:r>
                    </a:p>
                  </a:txBody>
                  <a:tcPr marL="0" marR="0" marT="0" marB="0" anchor="b">
                    <a:solidFill>
                      <a:srgbClr val="4473C5"/>
                    </a:solidFill>
                  </a:tcPr>
                </a:tc>
                <a:tc>
                  <a:txBody>
                    <a:bodyPr lIns="0" tIns="0" rIns="0" bIns="0">
                      <a:noAutofit/>
                    </a:bodyPr>
                    <a:p>
                      <a:pPr indent="0"/>
                      <a:r>
                        <a:rPr lang="en-US" b="1" sz="1300">
                          <a:latin typeface="Calibri"/>
                        </a:rPr>
                        <a:t>Details</a:t>
                      </a:r>
                    </a:p>
                  </a:txBody>
                  <a:tcPr marL="0" marR="0" marT="0" marB="0" anchor="b">
                    <a:solidFill>
                      <a:srgbClr val="4473C5"/>
                    </a:solidFill>
                  </a:tcPr>
                </a:tc>
              </a:tr>
              <a:tr h="1011936">
                <a:tc>
                  <a:txBody>
                    <a:bodyPr lIns="0" tIns="0" rIns="0" bIns="0">
                      <a:noAutofit/>
                    </a:bodyPr>
                    <a:p>
                      <a:pPr indent="0"/>
                      <a:r>
                        <a:rPr lang="en-US" b="1" sz="1300">
                          <a:latin typeface="Calibri"/>
                        </a:rPr>
                        <a:t>Performance</a:t>
                      </a:r>
                    </a:p>
                  </a:txBody>
                  <a:tcPr marL="0" marR="0" marT="0" marB="0">
                    <a:solidFill>
                      <a:srgbClr val="4473C5"/>
                    </a:solidFill>
                  </a:tcPr>
                </a:tc>
                <a:tc>
                  <a:txBody>
                    <a:bodyPr lIns="0" tIns="0" rIns="0" bIns="0">
                      <a:noAutofit/>
                    </a:bodyPr>
                    <a:p>
                      <a:pPr algn="just" marL="317500" indent="0">
                        <a:lnSpc>
                          <a:spcPts val="1728"/>
                        </a:lnSpc>
                      </a:pPr>
                      <a:r>
                        <a:rPr lang="en-US" sz="1200">
                          <a:latin typeface="Calibri"/>
                        </a:rPr>
                        <a:t>•    The Sign-in/sign-up screen should take &lt;= 5 seconds to load</a:t>
                      </a:r>
                    </a:p>
                    <a:p>
                      <a:pPr marL="546100" marR="571500" indent="-228600">
                        <a:lnSpc>
                          <a:spcPts val="1728"/>
                        </a:lnSpc>
                      </a:pPr>
                      <a:r>
                        <a:rPr lang="en-US" sz="1200">
                          <a:latin typeface="Calibri"/>
                        </a:rPr>
                        <a:t>•    Every phase and operation inside Home page will take &lt;= 10 seconds</a:t>
                      </a:r>
                    </a:p>
                    <a:p>
                      <a:pPr algn="just" marL="317500" indent="0">
                        <a:lnSpc>
                          <a:spcPts val="1728"/>
                        </a:lnSpc>
                      </a:pPr>
                      <a:r>
                        <a:rPr lang="en-US" sz="1200">
                          <a:latin typeface="Calibri"/>
                        </a:rPr>
                        <a:t>•    Payment and receive money will take &lt;= 15 seconds</a:t>
                      </a:r>
                    </a:p>
                  </a:txBody>
                  <a:tcPr marL="0" marR="0" marT="0" marB="0"/>
                </a:tc>
              </a:tr>
              <a:tr h="188976">
                <a:tc>
                  <a:txBody>
                    <a:bodyPr lIns="0" tIns="0" rIns="0" bIns="0">
                      <a:noAutofit/>
                    </a:bodyPr>
                    <a:p>
                      <a:pPr indent="0"/>
                      <a:r>
                        <a:rPr lang="en-US" b="1" sz="1300">
                          <a:latin typeface="Calibri"/>
                        </a:rPr>
                        <a:t>Scalability</a:t>
                      </a:r>
                    </a:p>
                  </a:txBody>
                  <a:tcPr marL="0" marR="0" marT="0" marB="0" anchor="b">
                    <a:solidFill>
                      <a:srgbClr val="4473C5"/>
                    </a:solidFill>
                  </a:tcPr>
                </a:tc>
                <a:tc>
                  <a:txBody>
                    <a:bodyPr lIns="0" tIns="0" rIns="0" bIns="0">
                      <a:noAutofit/>
                    </a:bodyPr>
                    <a:p>
                      <a:pPr indent="0"/>
                      <a:r>
                        <a:rPr lang="en-US" sz="1200">
                          <a:latin typeface="Calibri"/>
                        </a:rPr>
                        <a:t>System should up to 1500 user in same time without any problem</a:t>
                      </a:r>
                    </a:p>
                  </a:txBody>
                  <a:tcPr marL="0" marR="0" marT="0" marB="0" anchor="b"/>
                </a:tc>
              </a:tr>
              <a:tr h="752856">
                <a:tc>
                  <a:txBody>
                    <a:bodyPr lIns="0" tIns="0" rIns="0" bIns="0">
                      <a:noAutofit/>
                    </a:bodyPr>
                    <a:p>
                      <a:pPr indent="0"/>
                      <a:r>
                        <a:rPr lang="en-US" b="1" sz="1300">
                          <a:latin typeface="Calibri"/>
                        </a:rPr>
                        <a:t>Maintainability</a:t>
                      </a:r>
                    </a:p>
                  </a:txBody>
                  <a:tcPr marL="0" marR="0" marT="0" marB="0">
                    <a:solidFill>
                      <a:srgbClr val="4473C5"/>
                    </a:solidFill>
                  </a:tcPr>
                </a:tc>
                <a:tc>
                  <a:txBody>
                    <a:bodyPr lIns="0" tIns="0" rIns="0" bIns="0">
                      <a:noAutofit/>
                    </a:bodyPr>
                    <a:p>
                      <a:pPr indent="0">
                        <a:lnSpc>
                          <a:spcPts val="1464"/>
                        </a:lnSpc>
                      </a:pPr>
                      <a:r>
                        <a:rPr lang="en-US" sz="1200">
                          <a:latin typeface="Calibri"/>
                        </a:rPr>
                        <a:t>System have a high and good roles in maintenance, The system should have a 85% chance of maintainability for 72 hours. Which means that if a component in the system had a critical issue, there is a 85% chance that this component will be fixed in 3 days.</a:t>
                      </a:r>
                    </a:p>
                  </a:txBody>
                  <a:tcPr marL="0" marR="0" marT="0" marB="0" anchor="b"/>
                </a:tc>
              </a:tr>
              <a:tr h="789432">
                <a:tc>
                  <a:txBody>
                    <a:bodyPr lIns="0" tIns="0" rIns="0" bIns="0">
                      <a:noAutofit/>
                    </a:bodyPr>
                    <a:p>
                      <a:pPr indent="0">
                        <a:lnSpc>
                          <a:spcPts val="1464"/>
                        </a:lnSpc>
                      </a:pPr>
                      <a:r>
                        <a:rPr lang="en-US" b="1" sz="1300">
                          <a:latin typeface="Calibri"/>
                        </a:rPr>
                        <a:t>Reliability and availability</a:t>
                      </a:r>
                    </a:p>
                  </a:txBody>
                  <a:tcPr marL="0" marR="0" marT="0" marB="0">
                    <a:solidFill>
                      <a:srgbClr val="4473C5"/>
                    </a:solidFill>
                  </a:tcPr>
                </a:tc>
                <a:tc>
                  <a:txBody>
                    <a:bodyPr lIns="0" tIns="0" rIns="0" bIns="0">
                      <a:noAutofit/>
                    </a:bodyPr>
                    <a:p>
                      <a:pPr algn="just" marL="317500" indent="0">
                        <a:lnSpc>
                          <a:spcPts val="1704"/>
                        </a:lnSpc>
                      </a:pPr>
                      <a:r>
                        <a:rPr lang="en-US" sz="1200">
                          <a:latin typeface="Calibri"/>
                        </a:rPr>
                        <a:t>•    The system should achieve 99% uptime monthly</a:t>
                      </a:r>
                    </a:p>
                    <a:p>
                      <a:pPr marL="546100" indent="-228600">
                        <a:lnSpc>
                          <a:spcPts val="1704"/>
                        </a:lnSpc>
                      </a:pPr>
                      <a:r>
                        <a:rPr lang="en-US" sz="1200">
                          <a:latin typeface="Calibri"/>
                        </a:rPr>
                        <a:t>•    Automatic recovery should ensure availability for at least 90% of the time</a:t>
                      </a:r>
                    </a:p>
                  </a:txBody>
                  <a:tcPr marL="0" marR="0" marT="0" marB="0"/>
                </a:tc>
              </a:tr>
              <a:tr h="804672">
                <a:tc>
                  <a:txBody>
                    <a:bodyPr lIns="0" tIns="0" rIns="0" bIns="0">
                      <a:noAutofit/>
                    </a:bodyPr>
                    <a:p>
                      <a:pPr indent="0">
                        <a:lnSpc>
                          <a:spcPts val="1464"/>
                        </a:lnSpc>
                      </a:pPr>
                      <a:r>
                        <a:rPr lang="en-US" b="1" sz="1300">
                          <a:latin typeface="Calibri"/>
                        </a:rPr>
                        <a:t>Portability &amp; Compatibility</a:t>
                      </a:r>
                    </a:p>
                  </a:txBody>
                  <a:tcPr marL="0" marR="0" marT="0" marB="0">
                    <a:solidFill>
                      <a:srgbClr val="4473C5"/>
                    </a:solidFill>
                  </a:tcPr>
                </a:tc>
                <a:tc>
                  <a:txBody>
                    <a:bodyPr lIns="0" tIns="0" rIns="0" bIns="0">
                      <a:noAutofit/>
                    </a:bodyPr>
                    <a:p>
                      <a:pPr algn="just" marL="317500" indent="0">
                        <a:lnSpc>
                          <a:spcPts val="1752"/>
                        </a:lnSpc>
                      </a:pPr>
                      <a:r>
                        <a:rPr lang="en-US" sz="1200">
                          <a:latin typeface="Calibri"/>
                        </a:rPr>
                        <a:t>•    Android: Support Android OS multiple versions</a:t>
                      </a:r>
                    </a:p>
                    <a:p>
                      <a:pPr algn="just" marL="317500" indent="0">
                        <a:lnSpc>
                          <a:spcPts val="1752"/>
                        </a:lnSpc>
                      </a:pPr>
                      <a:r>
                        <a:rPr lang="en-US" sz="1200">
                          <a:latin typeface="Calibri"/>
                        </a:rPr>
                        <a:t>•    iOS: Support IOS different versions</a:t>
                      </a:r>
                    </a:p>
                    <a:p>
                      <a:pPr algn="just" marL="317500" indent="0">
                        <a:lnSpc>
                          <a:spcPts val="1752"/>
                        </a:lnSpc>
                      </a:pPr>
                      <a:r>
                        <a:rPr lang="en-US" sz="1200">
                          <a:latin typeface="Calibri"/>
                        </a:rPr>
                        <a:t>•    Support Web Browser</a:t>
                      </a:r>
                    </a:p>
                  </a:txBody>
                  <a:tcPr marL="0" marR="0" marT="0" marB="0"/>
                </a:tc>
              </a:tr>
              <a:tr h="1673352">
                <a:tc>
                  <a:txBody>
                    <a:bodyPr lIns="0" tIns="0" rIns="0" bIns="0">
                      <a:noAutofit/>
                    </a:bodyPr>
                    <a:p>
                      <a:pPr indent="0"/>
                      <a:r>
                        <a:rPr lang="en-US" b="1" sz="1300">
                          <a:latin typeface="Calibri"/>
                        </a:rPr>
                        <a:t>Usability</a:t>
                      </a:r>
                    </a:p>
                  </a:txBody>
                  <a:tcPr marL="0" marR="0" marT="0" marB="0">
                    <a:solidFill>
                      <a:srgbClr val="4473C5"/>
                    </a:solidFill>
                  </a:tcPr>
                </a:tc>
                <a:tc>
                  <a:txBody>
                    <a:bodyPr lIns="0" tIns="0" rIns="0" bIns="0">
                      <a:noAutofit/>
                    </a:bodyPr>
                    <a:p>
                      <a:pPr marL="546100" marR="571500" indent="-228600">
                        <a:lnSpc>
                          <a:spcPts val="1656"/>
                        </a:lnSpc>
                      </a:pPr>
                      <a:r>
                        <a:rPr lang="en-US" sz="1200">
                          <a:latin typeface="Calibri"/>
                        </a:rPr>
                        <a:t>•    Transaction Input Time: Adding a new transaction should not exceed 2 minutes per entry</a:t>
                      </a:r>
                    </a:p>
                    <a:p>
                      <a:pPr marL="546100" indent="-228600">
                        <a:lnSpc>
                          <a:spcPts val="1656"/>
                        </a:lnSpc>
                      </a:pPr>
                      <a:r>
                        <a:rPr lang="en-US" sz="1200">
                          <a:latin typeface="Calibri"/>
                        </a:rPr>
                        <a:t>•    Sign-In/Sign-Up Error Rate: The error rate during sign-in/up should be less than 5%</a:t>
                      </a:r>
                    </a:p>
                    <a:p>
                      <a:pPr algn="just" marL="317500" indent="0">
                        <a:lnSpc>
                          <a:spcPts val="1728"/>
                        </a:lnSpc>
                      </a:pPr>
                      <a:r>
                        <a:rPr lang="en-US" sz="1200">
                          <a:latin typeface="Calibri"/>
                        </a:rPr>
                        <a:t>•    Users can transfer between different pages within 2 seconds</a:t>
                      </a:r>
                    </a:p>
                    <a:p>
                      <a:pPr algn="just" marL="317500" indent="0">
                        <a:lnSpc>
                          <a:spcPts val="1728"/>
                        </a:lnSpc>
                      </a:pPr>
                      <a:r>
                        <a:rPr lang="en-US" sz="1200">
                          <a:latin typeface="Calibri"/>
                        </a:rPr>
                        <a:t>•    User will ask to confirm payment before it processes</a:t>
                      </a:r>
                    </a:p>
                    <a:p>
                      <a:pPr algn="just" marL="317500" indent="0">
                        <a:lnSpc>
                          <a:spcPts val="1728"/>
                        </a:lnSpc>
                      </a:pPr>
                      <a:r>
                        <a:rPr lang="en-US" sz="1200">
                          <a:latin typeface="Calibri"/>
                        </a:rPr>
                        <a:t>•    User will have a section to manage and see his activity</a:t>
                      </a:r>
                    </a:p>
                  </a:txBody>
                  <a:tcPr marL="0" marR="0" marT="0" marB="0"/>
                </a:tc>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sp>
        <p:nvSpPr>
          <p:cNvPr id="2" name=""/>
          <p:cNvSpPr/>
          <p:nvPr/>
        </p:nvSpPr>
        <p:spPr>
          <a:xfrm>
            <a:off x="902208" y="950976"/>
            <a:ext cx="2270760" cy="176784"/>
          </a:xfrm>
          <a:prstGeom prst="rect">
            <a:avLst/>
          </a:prstGeom>
        </p:spPr>
        <p:txBody>
          <a:bodyPr lIns="0" tIns="0" rIns="0" bIns="0" wrap="none">
            <a:noAutofit/>
          </a:bodyPr>
          <a:p>
            <a:pPr indent="0"/>
            <a:r>
              <a:rPr lang="en-US" sz="1500">
                <a:solidFill>
                  <a:srgbClr val="2F5496"/>
                </a:solidFill>
                <a:latin typeface="Calibri"/>
              </a:rPr>
              <a:t>Some Enriched User Stories</a:t>
            </a:r>
          </a:p>
        </p:txBody>
      </p:sp>
      <p:sp>
        <p:nvSpPr>
          <p:cNvPr id="3" name=""/>
          <p:cNvSpPr/>
          <p:nvPr/>
        </p:nvSpPr>
        <p:spPr>
          <a:xfrm>
            <a:off x="1130808" y="1417320"/>
            <a:ext cx="1234440" cy="185928"/>
          </a:xfrm>
          <a:prstGeom prst="rect">
            <a:avLst/>
          </a:prstGeom>
        </p:spPr>
        <p:txBody>
          <a:bodyPr lIns="0" tIns="0" rIns="0" bIns="0" wrap="none">
            <a:noAutofit/>
          </a:bodyPr>
          <a:p>
            <a:pPr marL="241300" indent="-241300"/>
            <a:r>
              <a:rPr lang="en-US" b="1" sz="1300">
                <a:solidFill>
                  <a:srgbClr val="1F3864"/>
                </a:solidFill>
                <a:latin typeface="Calibri"/>
              </a:rPr>
              <a:t>• User Story #1</a:t>
            </a:r>
          </a:p>
        </p:txBody>
      </p:sp>
      <p:graphicFrame>
        <p:nvGraphicFramePr>
          <p:cNvPr id="4" name=""/>
          <p:cNvGraphicFramePr>
            <a:graphicFrameLocks noGrp="1"/>
          </p:cNvGraphicFramePr>
          <p:nvPr/>
        </p:nvGraphicFramePr>
        <p:xfrm>
          <a:off x="1493520" y="1673352"/>
          <a:ext cx="5458968" cy="2581656"/>
        </p:xfrm>
        <a:graphic>
          <a:graphicData uri="http://schemas.openxmlformats.org/drawingml/2006/table">
            <a:tbl>
              <a:tblPr/>
              <a:tblGrid>
                <a:gridCol w="1444752"/>
                <a:gridCol w="4014216"/>
              </a:tblGrid>
              <a:tr h="225552">
                <a:tc>
                  <a:txBody>
                    <a:bodyPr lIns="0" tIns="0" rIns="0" bIns="0">
                      <a:noAutofit/>
                    </a:bodyPr>
                    <a:p>
                      <a:pPr indent="0"/>
                      <a:r>
                        <a:rPr lang="en-US" b="1" sz="1300">
                          <a:latin typeface="Calibri"/>
                        </a:rPr>
                        <a:t>User Story ID</a:t>
                      </a:r>
                    </a:p>
                  </a:txBody>
                  <a:tcPr marL="0" marR="0" marT="0" marB="0" anchor="b">
                    <a:solidFill>
                      <a:srgbClr val="01B0F1"/>
                    </a:solidFill>
                  </a:tcPr>
                </a:tc>
                <a:tc>
                  <a:txBody>
                    <a:bodyPr lIns="0" tIns="0" rIns="0" bIns="0">
                      <a:noAutofit/>
                    </a:bodyPr>
                    <a:p>
                      <a:pPr indent="0"/>
                      <a:r>
                        <a:rPr lang="en-US" sz="1200">
                          <a:latin typeface="Calibri"/>
                        </a:rPr>
                        <a:t>US #1</a:t>
                      </a:r>
                    </a:p>
                  </a:txBody>
                  <a:tcPr marL="0" marR="0" marT="0" marB="0" anchor="b">
                    <a:solidFill>
                      <a:srgbClr val="CAF1FF"/>
                    </a:solidFill>
                  </a:tcPr>
                </a:tc>
              </a:tr>
              <a:tr h="216408">
                <a:tc>
                  <a:txBody>
                    <a:bodyPr lIns="0" tIns="0" rIns="0" bIns="0">
                      <a:noAutofit/>
                    </a:bodyPr>
                    <a:p>
                      <a:pPr indent="0"/>
                      <a:r>
                        <a:rPr lang="en-US" b="1" sz="1300">
                          <a:latin typeface="Calibri"/>
                        </a:rPr>
                        <a:t>User Story Name</a:t>
                      </a:r>
                    </a:p>
                  </a:txBody>
                  <a:tcPr marL="0" marR="0" marT="0" marB="0" anchor="b">
                    <a:solidFill>
                      <a:srgbClr val="01B0F1"/>
                    </a:solidFill>
                  </a:tcPr>
                </a:tc>
                <a:tc>
                  <a:txBody>
                    <a:bodyPr lIns="0" tIns="0" rIns="0" bIns="0">
                      <a:noAutofit/>
                    </a:bodyPr>
                    <a:p>
                      <a:pPr indent="0"/>
                      <a:r>
                        <a:rPr lang="en-US" sz="1200">
                          <a:latin typeface="Calibri"/>
                        </a:rPr>
                        <a:t>User sign-up</a:t>
                      </a:r>
                    </a:p>
                  </a:txBody>
                  <a:tcPr marL="0" marR="0" marT="0" marB="0" anchor="b">
                    <a:solidFill>
                      <a:srgbClr val="CAF1FF"/>
                    </a:solidFill>
                  </a:tcPr>
                </a:tc>
              </a:tr>
              <a:tr h="231648">
                <a:tc>
                  <a:txBody>
                    <a:bodyPr lIns="0" tIns="0" rIns="0" bIns="0">
                      <a:noAutofit/>
                    </a:bodyPr>
                    <a:p>
                      <a:pPr indent="0"/>
                      <a:r>
                        <a:rPr lang="en-US" b="1" sz="1300">
                          <a:latin typeface="Calibri"/>
                        </a:rPr>
                        <a:t>Actors</a:t>
                      </a:r>
                    </a:p>
                  </a:txBody>
                  <a:tcPr marL="0" marR="0" marT="0" marB="0" anchor="b">
                    <a:solidFill>
                      <a:srgbClr val="01B0F1"/>
                    </a:solidFill>
                  </a:tcPr>
                </a:tc>
                <a:tc>
                  <a:txBody>
                    <a:bodyPr lIns="0" tIns="0" rIns="0" bIns="0">
                      <a:noAutofit/>
                    </a:bodyPr>
                    <a:p>
                      <a:pPr indent="0"/>
                      <a:r>
                        <a:rPr lang="en-US" sz="1200">
                          <a:latin typeface="Calibri"/>
                        </a:rPr>
                        <a:t>Users</a:t>
                      </a:r>
                    </a:p>
                  </a:txBody>
                  <a:tcPr marL="0" marR="0" marT="0" marB="0" anchor="b">
                    <a:solidFill>
                      <a:srgbClr val="CAF1FF"/>
                    </a:solidFill>
                  </a:tcPr>
                </a:tc>
              </a:tr>
              <a:tr h="716280">
                <a:tc>
                  <a:txBody>
                    <a:bodyPr lIns="0" tIns="0" rIns="0" bIns="0">
                      <a:noAutofit/>
                    </a:bodyPr>
                    <a:p>
                      <a:pPr indent="0"/>
                      <a:r>
                        <a:rPr lang="en-US" b="1" sz="1300">
                          <a:latin typeface="Calibri"/>
                        </a:rPr>
                        <a:t>Description</a:t>
                      </a:r>
                    </a:p>
                  </a:txBody>
                  <a:tcPr marL="0" marR="0" marT="0" marB="0" anchor="ctr">
                    <a:solidFill>
                      <a:srgbClr val="01B0F1"/>
                    </a:solidFill>
                  </a:tcPr>
                </a:tc>
                <a:tc>
                  <a:txBody>
                    <a:bodyPr lIns="0" tIns="0" rIns="0" bIns="0">
                      <a:noAutofit/>
                    </a:bodyPr>
                    <a:p>
                      <a:pPr indent="0">
                        <a:lnSpc>
                          <a:spcPts val="1824"/>
                        </a:lnSpc>
                      </a:pPr>
                      <a:r>
                        <a:rPr lang="en-US" b="1" sz="1300">
                          <a:latin typeface="Calibri"/>
                        </a:rPr>
                        <a:t>As </a:t>
                      </a:r>
                      <a:r>
                        <a:rPr lang="en-US" sz="1200">
                          <a:latin typeface="Calibri"/>
                        </a:rPr>
                        <a:t>a user(normal user, entrepreneur) for smartCard</a:t>
                      </a:r>
                    </a:p>
                    <a:p>
                      <a:pPr indent="0">
                        <a:lnSpc>
                          <a:spcPts val="1824"/>
                        </a:lnSpc>
                      </a:pPr>
                      <a:r>
                        <a:rPr lang="en-US" b="1" sz="1300">
                          <a:latin typeface="Calibri"/>
                        </a:rPr>
                        <a:t>I like </a:t>
                      </a:r>
                      <a:r>
                        <a:rPr lang="en-US" sz="1200">
                          <a:latin typeface="Calibri"/>
                        </a:rPr>
                        <a:t>to be able to sign-up to smartCard</a:t>
                      </a:r>
                    </a:p>
                    <a:p>
                      <a:pPr indent="0">
                        <a:lnSpc>
                          <a:spcPts val="1824"/>
                        </a:lnSpc>
                      </a:pPr>
                      <a:r>
                        <a:rPr lang="en-US" b="1" sz="1300">
                          <a:latin typeface="Calibri"/>
                        </a:rPr>
                        <a:t>So </a:t>
                      </a:r>
                      <a:r>
                        <a:rPr lang="en-US" sz="1200">
                          <a:latin typeface="Calibri"/>
                        </a:rPr>
                        <a:t>I can access the services and manage my budget</a:t>
                      </a:r>
                    </a:p>
                  </a:txBody>
                  <a:tcPr marL="0" marR="0" marT="0" marB="0">
                    <a:solidFill>
                      <a:srgbClr val="CAF1FF"/>
                    </a:solidFill>
                  </a:tcPr>
                </a:tc>
              </a:tr>
              <a:tr h="216408">
                <a:tc>
                  <a:txBody>
                    <a:bodyPr lIns="0" tIns="0" rIns="0" bIns="0">
                      <a:noAutofit/>
                    </a:bodyPr>
                    <a:p>
                      <a:pPr indent="0"/>
                      <a:r>
                        <a:rPr lang="en-US" b="1" sz="1300">
                          <a:latin typeface="Calibri"/>
                        </a:rPr>
                        <a:t>Per condition</a:t>
                      </a:r>
                    </a:p>
                  </a:txBody>
                  <a:tcPr marL="0" marR="0" marT="0" marB="0" anchor="b">
                    <a:solidFill>
                      <a:srgbClr val="01B0F1"/>
                    </a:solidFill>
                  </a:tcPr>
                </a:tc>
                <a:tc>
                  <a:txBody>
                    <a:bodyPr lIns="0" tIns="0" rIns="0" bIns="0">
                      <a:noAutofit/>
                    </a:bodyPr>
                    <a:p>
                      <a:endParaRPr sz="1100"/>
                    </a:p>
                  </a:txBody>
                  <a:tcPr marL="0" marR="0" marT="0" marB="0">
                    <a:solidFill>
                      <a:srgbClr val="CAF1FF"/>
                    </a:solidFill>
                  </a:tcPr>
                </a:tc>
              </a:tr>
              <a:tr h="216408">
                <a:tc>
                  <a:txBody>
                    <a:bodyPr lIns="0" tIns="0" rIns="0" bIns="0">
                      <a:noAutofit/>
                    </a:bodyPr>
                    <a:p>
                      <a:pPr indent="0"/>
                      <a:r>
                        <a:rPr lang="en-US" b="1" sz="1300">
                          <a:latin typeface="Calibri"/>
                        </a:rPr>
                        <a:t>Post condition</a:t>
                      </a:r>
                    </a:p>
                  </a:txBody>
                  <a:tcPr marL="0" marR="0" marT="0" marB="0" anchor="b">
                    <a:solidFill>
                      <a:srgbClr val="01B0F1"/>
                    </a:solidFill>
                  </a:tcPr>
                </a:tc>
                <a:tc>
                  <a:txBody>
                    <a:bodyPr lIns="0" tIns="0" rIns="0" bIns="0">
                      <a:noAutofit/>
                    </a:bodyPr>
                    <a:p>
                      <a:endParaRPr sz="1100"/>
                    </a:p>
                  </a:txBody>
                  <a:tcPr marL="0" marR="0" marT="0" marB="0">
                    <a:solidFill>
                      <a:srgbClr val="CAF1FF"/>
                    </a:solidFill>
                  </a:tcPr>
                </a:tc>
              </a:tr>
              <a:tr h="758952">
                <a:tc>
                  <a:txBody>
                    <a:bodyPr lIns="0" tIns="0" rIns="0" bIns="0">
                      <a:noAutofit/>
                    </a:bodyPr>
                    <a:p>
                      <a:pPr indent="0"/>
                      <a:r>
                        <a:rPr lang="en-US" b="1" sz="1300">
                          <a:latin typeface="Calibri"/>
                        </a:rPr>
                        <a:t>Acceptance Criteria</a:t>
                      </a:r>
                    </a:p>
                  </a:txBody>
                  <a:tcPr marL="0" marR="0" marT="0" marB="0" anchor="ctr">
                    <a:solidFill>
                      <a:srgbClr val="01B0F1"/>
                    </a:solidFill>
                  </a:tcPr>
                </a:tc>
                <a:tc>
                  <a:txBody>
                    <a:bodyPr lIns="0" tIns="0" rIns="0" bIns="0">
                      <a:noAutofit/>
                    </a:bodyPr>
                    <a:p>
                      <a:pPr marR="431800" indent="0">
                        <a:lnSpc>
                          <a:spcPts val="1896"/>
                        </a:lnSpc>
                      </a:pPr>
                      <a:r>
                        <a:rPr lang="en-US" b="1" sz="1300">
                          <a:latin typeface="Calibri"/>
                        </a:rPr>
                        <a:t>Given </a:t>
                      </a:r>
                      <a:r>
                        <a:rPr lang="en-US" sz="1200">
                          <a:latin typeface="Calibri"/>
                        </a:rPr>
                        <a:t>I am user, entrepreneur and want to sign-up </a:t>
                      </a:r>
                      <a:r>
                        <a:rPr lang="en-US" b="1" sz="1300">
                          <a:latin typeface="Calibri"/>
                        </a:rPr>
                        <a:t>When </a:t>
                      </a:r>
                      <a:r>
                        <a:rPr lang="en-US" sz="1200">
                          <a:latin typeface="Calibri"/>
                        </a:rPr>
                        <a:t>I fill the sign-up fields (Needed Data)</a:t>
                      </a:r>
                    </a:p>
                    <a:p>
                      <a:pPr indent="0">
                        <a:lnSpc>
                          <a:spcPts val="1896"/>
                        </a:lnSpc>
                      </a:pPr>
                      <a:r>
                        <a:rPr lang="en-US" b="1" sz="1300">
                          <a:latin typeface="Calibri"/>
                        </a:rPr>
                        <a:t>Then </a:t>
                      </a:r>
                      <a:r>
                        <a:rPr lang="en-US" sz="1200">
                          <a:latin typeface="Calibri"/>
                        </a:rPr>
                        <a:t>the system signs me in</a:t>
                      </a:r>
                    </a:p>
                  </a:txBody>
                  <a:tcPr marL="0" marR="0" marT="0" marB="0">
                    <a:solidFill>
                      <a:srgbClr val="CAF1FF"/>
                    </a:solidFill>
                  </a:tcPr>
                </a:tc>
              </a:tr>
            </a:tbl>
          </a:graphicData>
        </a:graphic>
      </p:graphicFrame>
      <p:sp>
        <p:nvSpPr>
          <p:cNvPr id="5" name=""/>
          <p:cNvSpPr/>
          <p:nvPr/>
        </p:nvSpPr>
        <p:spPr>
          <a:xfrm>
            <a:off x="1130808" y="4477512"/>
            <a:ext cx="1389888" cy="441960"/>
          </a:xfrm>
          <a:prstGeom prst="rect">
            <a:avLst/>
          </a:prstGeom>
        </p:spPr>
        <p:txBody>
          <a:bodyPr lIns="0" tIns="0" rIns="0" bIns="0">
            <a:noAutofit/>
          </a:bodyPr>
          <a:p>
            <a:pPr marL="241300" indent="-241300">
              <a:lnSpc>
                <a:spcPts val="2208"/>
              </a:lnSpc>
              <a:spcBef>
                <a:spcPts val="1050"/>
              </a:spcBef>
            </a:pPr>
            <a:r>
              <a:rPr lang="en-US" b="1" sz="1300">
                <a:latin typeface="Calibri"/>
              </a:rPr>
              <a:t>• </a:t>
            </a:r>
            <a:r>
              <a:rPr lang="en-US" b="1" sz="1300">
                <a:solidFill>
                  <a:srgbClr val="1F3864"/>
                </a:solidFill>
                <a:latin typeface="Calibri"/>
              </a:rPr>
              <a:t>Scenarios Normal Scenario</a:t>
            </a:r>
          </a:p>
        </p:txBody>
      </p:sp>
      <p:graphicFrame>
        <p:nvGraphicFramePr>
          <p:cNvPr id="6" name=""/>
          <p:cNvGraphicFramePr>
            <a:graphicFrameLocks noGrp="1"/>
          </p:cNvGraphicFramePr>
          <p:nvPr/>
        </p:nvGraphicFramePr>
        <p:xfrm>
          <a:off x="1508760" y="4989576"/>
          <a:ext cx="5443728" cy="1816608"/>
        </p:xfrm>
        <a:graphic>
          <a:graphicData uri="http://schemas.openxmlformats.org/drawingml/2006/table">
            <a:tbl>
              <a:tblPr/>
              <a:tblGrid>
                <a:gridCol w="2776728"/>
                <a:gridCol w="2667000"/>
              </a:tblGrid>
              <a:tr h="195072">
                <a:tc>
                  <a:txBody>
                    <a:bodyPr lIns="0" tIns="0" rIns="0" bIns="0">
                      <a:noAutofit/>
                    </a:bodyPr>
                    <a:p>
                      <a:pPr marL="838200" indent="0"/>
                      <a:r>
                        <a:rPr lang="en-US" b="1" sz="1300">
                          <a:solidFill>
                            <a:srgbClr val="FFFFFF"/>
                          </a:solidFill>
                          <a:latin typeface="Calibri"/>
                        </a:rPr>
                        <a:t>Actor Action</a:t>
                      </a:r>
                    </a:p>
                  </a:txBody>
                  <a:tcPr marL="0" marR="0" marT="0" marB="0" anchor="b">
                    <a:solidFill>
                      <a:srgbClr val="4473C5"/>
                    </a:solidFill>
                  </a:tcPr>
                </a:tc>
                <a:tc>
                  <a:txBody>
                    <a:bodyPr lIns="0" tIns="0" rIns="0" bIns="0">
                      <a:noAutofit/>
                    </a:bodyPr>
                    <a:p>
                      <a:pPr algn="ctr" indent="0"/>
                      <a:r>
                        <a:rPr lang="en-US" b="1" sz="1300">
                          <a:solidFill>
                            <a:srgbClr val="FFFFFF"/>
                          </a:solidFill>
                          <a:latin typeface="Calibri"/>
                        </a:rPr>
                        <a:t>System Response</a:t>
                      </a:r>
                    </a:p>
                  </a:txBody>
                  <a:tcPr marL="0" marR="0" marT="0" marB="0" anchor="b">
                    <a:solidFill>
                      <a:srgbClr val="4473C5"/>
                    </a:solidFill>
                  </a:tcPr>
                </a:tc>
              </a:tr>
              <a:tr h="466344">
                <a:tc>
                  <a:txBody>
                    <a:bodyPr lIns="0" tIns="0" rIns="0" bIns="0">
                      <a:noAutofit/>
                    </a:bodyPr>
                    <a:p>
                      <a:pPr algn="just" indent="0">
                        <a:spcAft>
                          <a:spcPts val="420"/>
                        </a:spcAft>
                      </a:pPr>
                      <a:r>
                        <a:rPr lang="en-US" sz="1200">
                          <a:latin typeface="Calibri"/>
                        </a:rPr>
                        <a:t>1-    User Enter program</a:t>
                      </a:r>
                    </a:p>
                    <a:p>
                      <a:pPr algn="just" indent="0"/>
                      <a:r>
                        <a:rPr lang="en-US" sz="1200">
                          <a:latin typeface="Calibri"/>
                        </a:rPr>
                        <a:t>2-    User clicks sign-up</a:t>
                      </a:r>
                    </a:p>
                  </a:txBody>
                  <a:tcPr marL="0" marR="0" marT="0" marB="0" anchor="b">
                    <a:solidFill>
                      <a:srgbClr val="DEEAF6"/>
                    </a:solidFill>
                  </a:tcPr>
                </a:tc>
                <a:tc>
                  <a:txBody>
                    <a:bodyPr lIns="0" tIns="0" rIns="0" bIns="0">
                      <a:noAutofit/>
                    </a:bodyPr>
                    <a:p>
                      <a:endParaRPr sz="2300"/>
                    </a:p>
                  </a:txBody>
                  <a:tcPr marL="0" marR="0" marT="0" marB="0">
                    <a:solidFill>
                      <a:srgbClr val="DEEAF6"/>
                    </a:solidFill>
                  </a:tcPr>
                </a:tc>
              </a:tr>
              <a:tr h="457200">
                <a:tc>
                  <a:txBody>
                    <a:bodyPr lIns="0" tIns="0" rIns="0" bIns="0">
                      <a:noAutofit/>
                    </a:bodyPr>
                    <a:p>
                      <a:endParaRPr sz="2200"/>
                    </a:p>
                  </a:txBody>
                  <a:tcPr marL="0" marR="0" marT="0" marB="0">
                    <a:solidFill>
                      <a:srgbClr val="DEEAF6"/>
                    </a:solidFill>
                  </a:tcPr>
                </a:tc>
                <a:tc>
                  <a:txBody>
                    <a:bodyPr lIns="0" tIns="0" rIns="0" bIns="0">
                      <a:noAutofit/>
                    </a:bodyPr>
                    <a:p>
                      <a:pPr algn="just" indent="0">
                        <a:spcAft>
                          <a:spcPts val="420"/>
                        </a:spcAft>
                      </a:pPr>
                      <a:r>
                        <a:rPr lang="en-US" sz="1200">
                          <a:latin typeface="Calibri"/>
                        </a:rPr>
                        <a:t>3-    System displays fields will be filled</a:t>
                      </a:r>
                    </a:p>
                    <a:p>
                      <a:pPr algn="just" indent="0"/>
                      <a:r>
                        <a:rPr lang="en-US" sz="1200">
                          <a:latin typeface="Calibri"/>
                        </a:rPr>
                        <a:t>4-    System ask user to enter his data</a:t>
                      </a:r>
                    </a:p>
                  </a:txBody>
                  <a:tcPr marL="0" marR="0" marT="0" marB="0">
                    <a:solidFill>
                      <a:srgbClr val="DEEAF6"/>
                    </a:solidFill>
                  </a:tcPr>
                </a:tc>
              </a:tr>
              <a:tr h="246888">
                <a:tc>
                  <a:txBody>
                    <a:bodyPr lIns="0" tIns="0" rIns="0" bIns="0">
                      <a:noAutofit/>
                    </a:bodyPr>
                    <a:p>
                      <a:pPr algn="just" indent="0"/>
                      <a:r>
                        <a:rPr lang="en-US" sz="1200">
                          <a:latin typeface="Calibri"/>
                        </a:rPr>
                        <a:t>5- User enter his data</a:t>
                      </a:r>
                    </a:p>
                  </a:txBody>
                  <a:tcPr marL="0" marR="0" marT="0" marB="0">
                    <a:solidFill>
                      <a:srgbClr val="DEEAF6"/>
                    </a:solidFill>
                  </a:tcPr>
                </a:tc>
                <a:tc>
                  <a:txBody>
                    <a:bodyPr lIns="0" tIns="0" rIns="0" bIns="0">
                      <a:noAutofit/>
                    </a:bodyPr>
                    <a:p>
                      <a:endParaRPr sz="1200"/>
                    </a:p>
                  </a:txBody>
                  <a:tcPr marL="0" marR="0" marT="0" marB="0">
                    <a:solidFill>
                      <a:srgbClr val="DEEAF6"/>
                    </a:solidFill>
                  </a:tcPr>
                </a:tc>
              </a:tr>
              <a:tr h="451104">
                <a:tc>
                  <a:txBody>
                    <a:bodyPr lIns="0" tIns="0" rIns="0" bIns="0">
                      <a:noAutofit/>
                    </a:bodyPr>
                    <a:p>
                      <a:endParaRPr sz="2200"/>
                    </a:p>
                  </a:txBody>
                  <a:tcPr marL="0" marR="0" marT="0" marB="0">
                    <a:solidFill>
                      <a:srgbClr val="DEEAF6"/>
                    </a:solidFill>
                  </a:tcPr>
                </a:tc>
                <a:tc>
                  <a:txBody>
                    <a:bodyPr lIns="0" tIns="0" rIns="0" bIns="0">
                      <a:noAutofit/>
                    </a:bodyPr>
                    <a:p>
                      <a:pPr algn="just" indent="0">
                        <a:spcAft>
                          <a:spcPts val="420"/>
                        </a:spcAft>
                      </a:pPr>
                      <a:r>
                        <a:rPr lang="en-US" sz="1200">
                          <a:latin typeface="Calibri"/>
                        </a:rPr>
                        <a:t>6-    System process and verify data</a:t>
                      </a:r>
                    </a:p>
                    <a:p>
                      <a:pPr algn="just" indent="0"/>
                      <a:r>
                        <a:rPr lang="en-US" sz="1200">
                          <a:latin typeface="Calibri"/>
                        </a:rPr>
                        <a:t>7-    System saves new data in database</a:t>
                      </a:r>
                    </a:p>
                  </a:txBody>
                  <a:tcPr marL="0" marR="0" marT="0" marB="0" anchor="b">
                    <a:solidFill>
                      <a:srgbClr val="DEEAF6"/>
                    </a:solidFill>
                  </a:tcPr>
                </a:tc>
              </a:tr>
            </a:tbl>
          </a:graphicData>
        </a:graphic>
      </p:graphicFrame>
      <p:sp>
        <p:nvSpPr>
          <p:cNvPr id="7" name=""/>
          <p:cNvSpPr/>
          <p:nvPr/>
        </p:nvSpPr>
        <p:spPr>
          <a:xfrm>
            <a:off x="1365504" y="7211568"/>
            <a:ext cx="1429512" cy="179832"/>
          </a:xfrm>
          <a:prstGeom prst="rect">
            <a:avLst/>
          </a:prstGeom>
        </p:spPr>
        <p:txBody>
          <a:bodyPr lIns="0" tIns="0" rIns="0" bIns="0" wrap="none">
            <a:noAutofit/>
          </a:bodyPr>
          <a:p>
            <a:pPr indent="0"/>
            <a:r>
              <a:rPr lang="en-US" b="1" sz="1300">
                <a:solidFill>
                  <a:srgbClr val="1F3864"/>
                </a:solidFill>
                <a:latin typeface="Calibri"/>
              </a:rPr>
              <a:t>Exceptional Scenario</a:t>
            </a:r>
          </a:p>
        </p:txBody>
      </p:sp>
      <p:graphicFrame>
        <p:nvGraphicFramePr>
          <p:cNvPr id="8" name=""/>
          <p:cNvGraphicFramePr>
            <a:graphicFrameLocks noGrp="1"/>
          </p:cNvGraphicFramePr>
          <p:nvPr/>
        </p:nvGraphicFramePr>
        <p:xfrm>
          <a:off x="1508760" y="7431024"/>
          <a:ext cx="5443728" cy="1545336"/>
        </p:xfrm>
        <a:graphic>
          <a:graphicData uri="http://schemas.openxmlformats.org/drawingml/2006/table">
            <a:tbl>
              <a:tblPr/>
              <a:tblGrid>
                <a:gridCol w="2776728"/>
                <a:gridCol w="2667000"/>
              </a:tblGrid>
              <a:tr h="195072">
                <a:tc>
                  <a:txBody>
                    <a:bodyPr lIns="0" tIns="0" rIns="0" bIns="0">
                      <a:noAutofit/>
                    </a:bodyPr>
                    <a:p>
                      <a:pPr marL="838200" indent="0"/>
                      <a:r>
                        <a:rPr lang="en-US" b="1" sz="1300">
                          <a:solidFill>
                            <a:srgbClr val="FFFFFF"/>
                          </a:solidFill>
                          <a:latin typeface="Calibri"/>
                        </a:rPr>
                        <a:t>Actor Action</a:t>
                      </a:r>
                    </a:p>
                  </a:txBody>
                  <a:tcPr marL="0" marR="0" marT="0" marB="0" anchor="b">
                    <a:solidFill>
                      <a:srgbClr val="4473C5"/>
                    </a:solidFill>
                  </a:tcPr>
                </a:tc>
                <a:tc>
                  <a:txBody>
                    <a:bodyPr lIns="0" tIns="0" rIns="0" bIns="0">
                      <a:noAutofit/>
                    </a:bodyPr>
                    <a:p>
                      <a:pPr algn="ctr" indent="0"/>
                      <a:r>
                        <a:rPr lang="en-US" b="1" sz="1300">
                          <a:solidFill>
                            <a:srgbClr val="FFFFFF"/>
                          </a:solidFill>
                          <a:latin typeface="Calibri"/>
                        </a:rPr>
                        <a:t>System Response</a:t>
                      </a:r>
                    </a:p>
                  </a:txBody>
                  <a:tcPr marL="0" marR="0" marT="0" marB="0" anchor="b">
                    <a:solidFill>
                      <a:srgbClr val="4473C5"/>
                    </a:solidFill>
                  </a:tcPr>
                </a:tc>
              </a:tr>
              <a:tr h="469392">
                <a:tc>
                  <a:txBody>
                    <a:bodyPr lIns="0" tIns="0" rIns="0" bIns="0">
                      <a:noAutofit/>
                    </a:bodyPr>
                    <a:p>
                      <a:pPr algn="just" indent="0">
                        <a:spcAft>
                          <a:spcPts val="420"/>
                        </a:spcAft>
                      </a:pPr>
                      <a:r>
                        <a:rPr lang="en-US" sz="1200">
                          <a:latin typeface="Calibri"/>
                        </a:rPr>
                        <a:t>1-    User Enter program</a:t>
                      </a:r>
                    </a:p>
                    <a:p>
                      <a:pPr algn="just" indent="0"/>
                      <a:r>
                        <a:rPr lang="en-US" sz="1200">
                          <a:latin typeface="Calibri"/>
                        </a:rPr>
                        <a:t>2-    User clicks sign-up</a:t>
                      </a:r>
                    </a:p>
                  </a:txBody>
                  <a:tcPr marL="0" marR="0" marT="0" marB="0" anchor="b">
                    <a:solidFill>
                      <a:srgbClr val="DEEAF6"/>
                    </a:solidFill>
                  </a:tcPr>
                </a:tc>
                <a:tc>
                  <a:txBody>
                    <a:bodyPr lIns="0" tIns="0" rIns="0" bIns="0">
                      <a:noAutofit/>
                    </a:bodyPr>
                    <a:p>
                      <a:endParaRPr sz="2300"/>
                    </a:p>
                  </a:txBody>
                  <a:tcPr marL="0" marR="0" marT="0" marB="0">
                    <a:solidFill>
                      <a:srgbClr val="DEEAF6"/>
                    </a:solidFill>
                  </a:tcPr>
                </a:tc>
              </a:tr>
              <a:tr h="460248">
                <a:tc>
                  <a:txBody>
                    <a:bodyPr lIns="0" tIns="0" rIns="0" bIns="0">
                      <a:noAutofit/>
                    </a:bodyPr>
                    <a:p>
                      <a:endParaRPr sz="2200"/>
                    </a:p>
                  </a:txBody>
                  <a:tcPr marL="0" marR="0" marT="0" marB="0">
                    <a:solidFill>
                      <a:srgbClr val="DEEAF6"/>
                    </a:solidFill>
                  </a:tcPr>
                </a:tc>
                <a:tc>
                  <a:txBody>
                    <a:bodyPr lIns="0" tIns="0" rIns="0" bIns="0">
                      <a:noAutofit/>
                    </a:bodyPr>
                    <a:p>
                      <a:pPr algn="just" indent="0">
                        <a:spcAft>
                          <a:spcPts val="420"/>
                        </a:spcAft>
                      </a:pPr>
                      <a:r>
                        <a:rPr lang="en-US" sz="1200">
                          <a:latin typeface="Calibri"/>
                        </a:rPr>
                        <a:t>3-    System displays fields will be filled</a:t>
                      </a:r>
                    </a:p>
                    <a:p>
                      <a:pPr algn="just" indent="0"/>
                      <a:r>
                        <a:rPr lang="en-US" sz="1200">
                          <a:latin typeface="Calibri"/>
                        </a:rPr>
                        <a:t>4-    System ask user to enter his data</a:t>
                      </a:r>
                    </a:p>
                  </a:txBody>
                  <a:tcPr marL="0" marR="0" marT="0" marB="0">
                    <a:solidFill>
                      <a:srgbClr val="DEEAF6"/>
                    </a:solidFill>
                  </a:tcPr>
                </a:tc>
              </a:tr>
              <a:tr h="210312">
                <a:tc>
                  <a:txBody>
                    <a:bodyPr lIns="0" tIns="0" rIns="0" bIns="0">
                      <a:noAutofit/>
                    </a:bodyPr>
                    <a:p>
                      <a:pPr algn="just" indent="0"/>
                      <a:r>
                        <a:rPr lang="en-US" sz="1200">
                          <a:latin typeface="Calibri"/>
                        </a:rPr>
                        <a:t>5- user input random (not correct data)</a:t>
                      </a:r>
                    </a:p>
                  </a:txBody>
                  <a:tcPr marL="0" marR="0" marT="0" marB="0" anchor="b">
                    <a:solidFill>
                      <a:srgbClr val="DEEAF6"/>
                    </a:solidFill>
                  </a:tcPr>
                </a:tc>
                <a:tc>
                  <a:txBody>
                    <a:bodyPr lIns="0" tIns="0" rIns="0" bIns="0">
                      <a:noAutofit/>
                    </a:bodyPr>
                    <a:p>
                      <a:endParaRPr sz="1000"/>
                    </a:p>
                  </a:txBody>
                  <a:tcPr marL="0" marR="0" marT="0" marB="0">
                    <a:solidFill>
                      <a:srgbClr val="DEEAF6"/>
                    </a:solidFill>
                  </a:tcPr>
                </a:tc>
              </a:tr>
              <a:tr h="210312">
                <a:tc>
                  <a:txBody>
                    <a:bodyPr lIns="0" tIns="0" rIns="0" bIns="0">
                      <a:noAutofit/>
                    </a:bodyPr>
                    <a:p>
                      <a:endParaRPr sz="1000"/>
                    </a:p>
                  </a:txBody>
                  <a:tcPr marL="0" marR="0" marT="0" marB="0">
                    <a:solidFill>
                      <a:srgbClr val="DEEAF6"/>
                    </a:solidFill>
                  </a:tcPr>
                </a:tc>
                <a:tc>
                  <a:txBody>
                    <a:bodyPr lIns="0" tIns="0" rIns="0" bIns="0">
                      <a:noAutofit/>
                    </a:bodyPr>
                    <a:p>
                      <a:pPr algn="just" indent="0"/>
                      <a:r>
                        <a:rPr lang="en-US" sz="1200">
                          <a:latin typeface="Calibri"/>
                        </a:rPr>
                        <a:t>6- System process and Verify data</a:t>
                      </a:r>
                    </a:p>
                  </a:txBody>
                  <a:tcPr marL="0" marR="0" marT="0" marB="0" anchor="b">
                    <a:solidFill>
                      <a:srgbClr val="DEEAF6"/>
                    </a:solidFill>
                  </a:tcPr>
                </a:tc>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sp>
        <p:nvSpPr>
          <p:cNvPr id="2" name=""/>
          <p:cNvSpPr/>
          <p:nvPr/>
        </p:nvSpPr>
        <p:spPr>
          <a:xfrm>
            <a:off x="4282440" y="935736"/>
            <a:ext cx="2651760" cy="515112"/>
          </a:xfrm>
          <a:prstGeom prst="rect">
            <a:avLst/>
          </a:prstGeom>
          <a:solidFill>
            <a:srgbClr val="DEEAF6"/>
          </a:solidFill>
        </p:spPr>
        <p:txBody>
          <a:bodyPr lIns="0" tIns="0" rIns="0" bIns="0">
            <a:noAutofit/>
          </a:bodyPr>
          <a:p>
            <a:pPr algn="just" indent="0">
              <a:lnSpc>
                <a:spcPts val="1464"/>
              </a:lnSpc>
            </a:pPr>
            <a:r>
              <a:rPr lang="en-US" sz="1200">
                <a:latin typeface="Calibri"/>
              </a:rPr>
              <a:t>7- Data isn't correct (email is wrong, etc..)</a:t>
            </a:r>
          </a:p>
          <a:p>
            <a:pPr algn="just" indent="0">
              <a:lnSpc>
                <a:spcPts val="1464"/>
              </a:lnSpc>
              <a:spcAft>
                <a:spcPts val="3360"/>
              </a:spcAft>
            </a:pPr>
            <a:r>
              <a:rPr lang="en-US" sz="1200">
                <a:latin typeface="Calibri"/>
              </a:rPr>
              <a:t>8- System display message with wrong data and ask for real valid data</a:t>
            </a:r>
          </a:p>
        </p:txBody>
      </p:sp>
      <p:sp>
        <p:nvSpPr>
          <p:cNvPr id="3" name=""/>
          <p:cNvSpPr/>
          <p:nvPr/>
        </p:nvSpPr>
        <p:spPr>
          <a:xfrm>
            <a:off x="1130808" y="2103120"/>
            <a:ext cx="1444752" cy="192024"/>
          </a:xfrm>
          <a:prstGeom prst="rect">
            <a:avLst/>
          </a:prstGeom>
        </p:spPr>
        <p:txBody>
          <a:bodyPr lIns="0" tIns="0" rIns="0" bIns="0" wrap="none">
            <a:noAutofit/>
          </a:bodyPr>
          <a:p>
            <a:pPr indent="0">
              <a:spcBef>
                <a:spcPts val="3360"/>
              </a:spcBef>
            </a:pPr>
            <a:r>
              <a:rPr lang="en-US" b="1" sz="1300">
                <a:solidFill>
                  <a:srgbClr val="1F3864"/>
                </a:solidFill>
                <a:latin typeface="Calibri"/>
              </a:rPr>
              <a:t>• Data Dictionary:</a:t>
            </a:r>
          </a:p>
        </p:txBody>
      </p:sp>
      <p:graphicFrame>
        <p:nvGraphicFramePr>
          <p:cNvPr id="4" name=""/>
          <p:cNvGraphicFramePr>
            <a:graphicFrameLocks noGrp="1"/>
          </p:cNvGraphicFramePr>
          <p:nvPr/>
        </p:nvGraphicFramePr>
        <p:xfrm>
          <a:off x="1316736" y="2392680"/>
          <a:ext cx="5635752" cy="1261872"/>
        </p:xfrm>
        <a:graphic>
          <a:graphicData uri="http://schemas.openxmlformats.org/drawingml/2006/table">
            <a:tbl>
              <a:tblPr/>
              <a:tblGrid>
                <a:gridCol w="1527048"/>
                <a:gridCol w="1786128"/>
                <a:gridCol w="2322576"/>
              </a:tblGrid>
              <a:tr h="195072">
                <a:tc>
                  <a:txBody>
                    <a:bodyPr lIns="0" tIns="0" rIns="0" bIns="0">
                      <a:noAutofit/>
                    </a:bodyPr>
                    <a:p>
                      <a:pPr indent="0"/>
                      <a:r>
                        <a:rPr lang="en-US" b="1" sz="1300">
                          <a:solidFill>
                            <a:srgbClr val="FFFFFF"/>
                          </a:solidFill>
                          <a:latin typeface="Calibri"/>
                        </a:rPr>
                        <a:t>Element Label</a:t>
                      </a:r>
                    </a:p>
                  </a:txBody>
                  <a:tcPr marL="0" marR="0" marT="0" marB="0" anchor="b">
                    <a:solidFill>
                      <a:srgbClr val="203864"/>
                    </a:solidFill>
                  </a:tcPr>
                </a:tc>
                <a:tc>
                  <a:txBody>
                    <a:bodyPr lIns="0" tIns="0" rIns="0" bIns="0">
                      <a:noAutofit/>
                    </a:bodyPr>
                    <a:p>
                      <a:pPr algn="ctr" marR="152400" indent="0"/>
                      <a:r>
                        <a:rPr lang="en-US" b="1" sz="1300">
                          <a:solidFill>
                            <a:srgbClr val="FFFFFF"/>
                          </a:solidFill>
                          <a:latin typeface="Calibri"/>
                        </a:rPr>
                        <a:t>Type/Length</a:t>
                      </a:r>
                    </a:p>
                  </a:txBody>
                  <a:tcPr marL="0" marR="0" marT="0" marB="0" anchor="b">
                    <a:solidFill>
                      <a:srgbClr val="203864"/>
                    </a:solidFill>
                  </a:tcPr>
                </a:tc>
                <a:tc>
                  <a:txBody>
                    <a:bodyPr lIns="0" tIns="0" rIns="0" bIns="0">
                      <a:noAutofit/>
                    </a:bodyPr>
                    <a:p>
                      <a:pPr indent="0"/>
                      <a:r>
                        <a:rPr lang="en-US" b="1" sz="1300">
                          <a:solidFill>
                            <a:srgbClr val="FFFFFF"/>
                          </a:solidFill>
                          <a:latin typeface="Calibri"/>
                        </a:rPr>
                        <a:t>Data Validation / Business Rule</a:t>
                      </a:r>
                    </a:p>
                  </a:txBody>
                  <a:tcPr marL="0" marR="0" marT="0" marB="0" anchor="b">
                    <a:solidFill>
                      <a:srgbClr val="203864"/>
                    </a:solidFill>
                  </a:tcPr>
                </a:tc>
              </a:tr>
              <a:tr h="228600">
                <a:tc>
                  <a:txBody>
                    <a:bodyPr lIns="0" tIns="0" rIns="0" bIns="0">
                      <a:noAutofit/>
                    </a:bodyPr>
                    <a:p>
                      <a:pPr indent="0"/>
                      <a:r>
                        <a:rPr lang="en-US" sz="1200">
                          <a:latin typeface="Calibri"/>
                        </a:rPr>
                        <a:t>Email</a:t>
                      </a:r>
                    </a:p>
                  </a:txBody>
                  <a:tcPr marL="0" marR="0" marT="0" marB="0" anchor="b">
                    <a:solidFill>
                      <a:srgbClr val="CAF1FF"/>
                    </a:solidFill>
                  </a:tcPr>
                </a:tc>
                <a:tc>
                  <a:txBody>
                    <a:bodyPr lIns="0" tIns="0" rIns="0" bIns="0">
                      <a:noAutofit/>
                    </a:bodyPr>
                    <a:p>
                      <a:pPr algn="ctr" marR="152400" indent="0"/>
                      <a:r>
                        <a:rPr lang="en-US" sz="1200">
                          <a:latin typeface="Calibri"/>
                        </a:rPr>
                        <a:t>&lt;=80 Char</a:t>
                      </a:r>
                    </a:p>
                  </a:txBody>
                  <a:tcPr marL="0" marR="0" marT="0" marB="0" anchor="b">
                    <a:solidFill>
                      <a:srgbClr val="CAF1FF"/>
                    </a:solidFill>
                  </a:tcPr>
                </a:tc>
                <a:tc>
                  <a:txBody>
                    <a:bodyPr lIns="0" tIns="0" rIns="0" bIns="0">
                      <a:noAutofit/>
                    </a:bodyPr>
                    <a:p>
                      <a:pPr indent="0"/>
                      <a:r>
                        <a:rPr lang="en-US" sz="1200">
                          <a:latin typeface="Calibri"/>
                        </a:rPr>
                        <a:t>Text must contain @ and extension</a:t>
                      </a:r>
                    </a:p>
                  </a:txBody>
                  <a:tcPr marL="0" marR="0" marT="0" marB="0" anchor="b">
                    <a:solidFill>
                      <a:srgbClr val="CAF1FF"/>
                    </a:solidFill>
                  </a:tcPr>
                </a:tc>
              </a:tr>
              <a:tr h="222504">
                <a:tc>
                  <a:txBody>
                    <a:bodyPr lIns="0" tIns="0" rIns="0" bIns="0">
                      <a:noAutofit/>
                    </a:bodyPr>
                    <a:p>
                      <a:pPr indent="0"/>
                      <a:r>
                        <a:rPr lang="en-US" sz="1200">
                          <a:latin typeface="Calibri"/>
                        </a:rPr>
                        <a:t>Full Name</a:t>
                      </a:r>
                    </a:p>
                  </a:txBody>
                  <a:tcPr marL="0" marR="0" marT="0" marB="0" anchor="b">
                    <a:solidFill>
                      <a:srgbClr val="CAF1FF"/>
                    </a:solidFill>
                  </a:tcPr>
                </a:tc>
                <a:tc>
                  <a:txBody>
                    <a:bodyPr lIns="0" tIns="0" rIns="0" bIns="0">
                      <a:noAutofit/>
                    </a:bodyPr>
                    <a:p>
                      <a:pPr algn="ctr" marR="152400" indent="0"/>
                      <a:r>
                        <a:rPr lang="en-US" sz="1200">
                          <a:latin typeface="Calibri"/>
                        </a:rPr>
                        <a:t>&lt;= 100 char</a:t>
                      </a:r>
                    </a:p>
                  </a:txBody>
                  <a:tcPr marL="0" marR="0" marT="0" marB="0" anchor="b">
                    <a:solidFill>
                      <a:srgbClr val="CAF1FF"/>
                    </a:solidFill>
                  </a:tcPr>
                </a:tc>
                <a:tc>
                  <a:txBody>
                    <a:bodyPr lIns="0" tIns="0" rIns="0" bIns="0">
                      <a:noAutofit/>
                    </a:bodyPr>
                    <a:p>
                      <a:pPr indent="0"/>
                      <a:r>
                        <a:rPr lang="en-US" sz="1200">
                          <a:latin typeface="Calibri"/>
                        </a:rPr>
                        <a:t>Text</a:t>
                      </a:r>
                    </a:p>
                  </a:txBody>
                  <a:tcPr marL="0" marR="0" marT="0" marB="0" anchor="b">
                    <a:solidFill>
                      <a:srgbClr val="CAF1FF"/>
                    </a:solidFill>
                  </a:tcPr>
                </a:tc>
              </a:tr>
              <a:tr h="405384">
                <a:tc>
                  <a:txBody>
                    <a:bodyPr lIns="0" tIns="0" rIns="0" bIns="0">
                      <a:noAutofit/>
                    </a:bodyPr>
                    <a:p>
                      <a:pPr indent="0"/>
                      <a:r>
                        <a:rPr lang="en-US" sz="1200">
                          <a:latin typeface="Calibri"/>
                        </a:rPr>
                        <a:t>Password field</a:t>
                      </a:r>
                    </a:p>
                  </a:txBody>
                  <a:tcPr marL="0" marR="0" marT="0" marB="0" anchor="ctr">
                    <a:solidFill>
                      <a:srgbClr val="CAF1FF"/>
                    </a:solidFill>
                  </a:tcPr>
                </a:tc>
                <a:tc>
                  <a:txBody>
                    <a:bodyPr lIns="0" tIns="0" rIns="0" bIns="0" vert="vert270">
                      <a:noAutofit/>
                    </a:bodyPr>
                    <a:p>
                      <a:pPr algn="ctr" indent="0"/>
                      <a:r>
                        <a:rPr lang="en-US" sz="700">
                          <a:latin typeface="Calibri"/>
                        </a:rPr>
                        <a:t>V</a:t>
                      </a:r>
                    </a:p>
                    <a:p>
                      <a:pPr algn="ctr" indent="0">
                        <a:spcAft>
                          <a:spcPts val="630"/>
                        </a:spcAft>
                      </a:pPr>
                      <a:r>
                        <a:rPr lang="en-US" sz="700">
                          <a:latin typeface="Calibri"/>
                        </a:rPr>
                        <a:t>II</a:t>
                      </a:r>
                    </a:p>
                    <a:p>
                      <a:pPr algn="ctr" indent="0"/>
                      <a:r>
                        <a:rPr lang="en-US" sz="700">
                          <a:latin typeface="Calibri"/>
                        </a:rPr>
                        <a:t>NJ</a:t>
                      </a:r>
                    </a:p>
                  </a:txBody>
                  <a:tcPr marL="0" marR="0" marT="0" marB="0" anchor="b">
                    <a:solidFill>
                      <a:srgbClr val="CAF1FF"/>
                    </a:solidFill>
                  </a:tcPr>
                </a:tc>
                <a:tc>
                  <a:txBody>
                    <a:bodyPr lIns="0" tIns="0" rIns="0" bIns="0">
                      <a:noAutofit/>
                    </a:bodyPr>
                    <a:p>
                      <a:pPr indent="0">
                        <a:lnSpc>
                          <a:spcPts val="1464"/>
                        </a:lnSpc>
                      </a:pPr>
                      <a:r>
                        <a:rPr lang="en-US" sz="1200">
                          <a:latin typeface="Calibri"/>
                        </a:rPr>
                        <a:t>Must include uppercase, number, special char</a:t>
                      </a:r>
                    </a:p>
                  </a:txBody>
                  <a:tcPr marL="0" marR="0" marT="0" marB="0" anchor="b">
                    <a:solidFill>
                      <a:srgbClr val="CAF1FF"/>
                    </a:solidFill>
                  </a:tcPr>
                </a:tc>
              </a:tr>
              <a:tr h="210312">
                <a:tc>
                  <a:txBody>
                    <a:bodyPr lIns="0" tIns="0" rIns="0" bIns="0">
                      <a:noAutofit/>
                    </a:bodyPr>
                    <a:p>
                      <a:pPr indent="0"/>
                      <a:r>
                        <a:rPr lang="en-US" sz="1200">
                          <a:latin typeface="Calibri"/>
                        </a:rPr>
                        <a:t>Credit card</a:t>
                      </a:r>
                    </a:p>
                  </a:txBody>
                  <a:tcPr marL="0" marR="0" marT="0" marB="0" anchor="b">
                    <a:solidFill>
                      <a:srgbClr val="CAF1FF"/>
                    </a:solidFill>
                  </a:tcPr>
                </a:tc>
                <a:tc>
                  <a:txBody>
                    <a:bodyPr lIns="0" tIns="0" rIns="0" bIns="0">
                      <a:noAutofit/>
                    </a:bodyPr>
                    <a:p>
                      <a:pPr algn="ctr" marR="152400" indent="0"/>
                      <a:r>
                        <a:rPr lang="en-US" sz="1200">
                          <a:latin typeface="Calibri"/>
                        </a:rPr>
                        <a:t>xx/yy/zz</a:t>
                      </a:r>
                    </a:p>
                  </a:txBody>
                  <a:tcPr marL="0" marR="0" marT="0" marB="0" anchor="b">
                    <a:solidFill>
                      <a:srgbClr val="CAF1FF"/>
                    </a:solidFill>
                  </a:tcPr>
                </a:tc>
                <a:tc>
                  <a:txBody>
                    <a:bodyPr lIns="0" tIns="0" rIns="0" bIns="0">
                      <a:noAutofit/>
                    </a:bodyPr>
                    <a:p>
                      <a:pPr indent="0"/>
                      <a:r>
                        <a:rPr lang="en-US" sz="1200">
                          <a:latin typeface="Calibri"/>
                        </a:rPr>
                        <a:t>Must be valid Credit card</a:t>
                      </a:r>
                    </a:p>
                  </a:txBody>
                  <a:tcPr marL="0" marR="0" marT="0" marB="0" anchor="b">
                    <a:solidFill>
                      <a:srgbClr val="CAF1FF"/>
                    </a:solidFill>
                  </a:tcPr>
                </a:tc>
              </a:tr>
            </a:tbl>
          </a:graphicData>
        </a:graphic>
      </p:graphicFrame>
      <p:sp>
        <p:nvSpPr>
          <p:cNvPr id="5" name=""/>
          <p:cNvSpPr/>
          <p:nvPr/>
        </p:nvSpPr>
        <p:spPr>
          <a:xfrm>
            <a:off x="1088136" y="4047744"/>
            <a:ext cx="1005840" cy="185928"/>
          </a:xfrm>
          <a:prstGeom prst="rect">
            <a:avLst/>
          </a:prstGeom>
        </p:spPr>
        <p:txBody>
          <a:bodyPr lIns="0" tIns="0" rIns="0" bIns="0" wrap="none">
            <a:noAutofit/>
          </a:bodyPr>
          <a:p>
            <a:pPr indent="0">
              <a:spcBef>
                <a:spcPts val="2100"/>
              </a:spcBef>
            </a:pPr>
            <a:r>
              <a:rPr lang="en-US" b="1" sz="1300">
                <a:solidFill>
                  <a:srgbClr val="1F3864"/>
                </a:solidFill>
                <a:latin typeface="Calibri"/>
              </a:rPr>
              <a:t>User Story #2</a:t>
            </a:r>
          </a:p>
        </p:txBody>
      </p:sp>
      <p:graphicFrame>
        <p:nvGraphicFramePr>
          <p:cNvPr id="6" name=""/>
          <p:cNvGraphicFramePr>
            <a:graphicFrameLocks noGrp="1"/>
          </p:cNvGraphicFramePr>
          <p:nvPr/>
        </p:nvGraphicFramePr>
        <p:xfrm>
          <a:off x="1490472" y="4264152"/>
          <a:ext cx="5462016" cy="2990088"/>
        </p:xfrm>
        <a:graphic>
          <a:graphicData uri="http://schemas.openxmlformats.org/drawingml/2006/table">
            <a:tbl>
              <a:tblPr/>
              <a:tblGrid>
                <a:gridCol w="1447800"/>
                <a:gridCol w="4014216"/>
              </a:tblGrid>
              <a:tr h="228600">
                <a:tc>
                  <a:txBody>
                    <a:bodyPr lIns="0" tIns="0" rIns="0" bIns="0">
                      <a:noAutofit/>
                    </a:bodyPr>
                    <a:p>
                      <a:pPr indent="0"/>
                      <a:r>
                        <a:rPr lang="en-US" b="1" sz="1300">
                          <a:latin typeface="Calibri"/>
                        </a:rPr>
                        <a:t>User Story ID</a:t>
                      </a:r>
                    </a:p>
                  </a:txBody>
                  <a:tcPr marL="0" marR="0" marT="0" marB="0" anchor="b">
                    <a:solidFill>
                      <a:srgbClr val="01B0F1"/>
                    </a:solidFill>
                  </a:tcPr>
                </a:tc>
                <a:tc>
                  <a:txBody>
                    <a:bodyPr lIns="0" tIns="0" rIns="0" bIns="0">
                      <a:noAutofit/>
                    </a:bodyPr>
                    <a:p>
                      <a:pPr indent="0"/>
                      <a:r>
                        <a:rPr lang="en-US" sz="1200">
                          <a:latin typeface="Calibri"/>
                        </a:rPr>
                        <a:t>US #2</a:t>
                      </a:r>
                    </a:p>
                  </a:txBody>
                  <a:tcPr marL="0" marR="0" marT="0" marB="0" anchor="b">
                    <a:solidFill>
                      <a:srgbClr val="CAF1FF"/>
                    </a:solidFill>
                  </a:tcPr>
                </a:tc>
              </a:tr>
              <a:tr h="210312">
                <a:tc>
                  <a:txBody>
                    <a:bodyPr lIns="0" tIns="0" rIns="0" bIns="0">
                      <a:noAutofit/>
                    </a:bodyPr>
                    <a:p>
                      <a:pPr indent="0"/>
                      <a:r>
                        <a:rPr lang="en-US" b="1" sz="1300">
                          <a:latin typeface="Calibri"/>
                        </a:rPr>
                        <a:t>User Story Name</a:t>
                      </a:r>
                    </a:p>
                  </a:txBody>
                  <a:tcPr marL="0" marR="0" marT="0" marB="0" anchor="b">
                    <a:solidFill>
                      <a:srgbClr val="01B0F1"/>
                    </a:solidFill>
                  </a:tcPr>
                </a:tc>
                <a:tc>
                  <a:txBody>
                    <a:bodyPr lIns="0" tIns="0" rIns="0" bIns="0">
                      <a:noAutofit/>
                    </a:bodyPr>
                    <a:p>
                      <a:pPr indent="0"/>
                      <a:r>
                        <a:rPr lang="en-US" sz="1200">
                          <a:latin typeface="Calibri"/>
                        </a:rPr>
                        <a:t>Log in</a:t>
                      </a:r>
                    </a:p>
                  </a:txBody>
                  <a:tcPr marL="0" marR="0" marT="0" marB="0" anchor="b">
                    <a:solidFill>
                      <a:srgbClr val="CAF1FF"/>
                    </a:solidFill>
                  </a:tcPr>
                </a:tc>
              </a:tr>
              <a:tr h="231648">
                <a:tc>
                  <a:txBody>
                    <a:bodyPr lIns="0" tIns="0" rIns="0" bIns="0">
                      <a:noAutofit/>
                    </a:bodyPr>
                    <a:p>
                      <a:pPr indent="0"/>
                      <a:r>
                        <a:rPr lang="en-US" b="1" sz="1300">
                          <a:latin typeface="Calibri"/>
                        </a:rPr>
                        <a:t>Actors</a:t>
                      </a:r>
                    </a:p>
                  </a:txBody>
                  <a:tcPr marL="0" marR="0" marT="0" marB="0" anchor="b">
                    <a:solidFill>
                      <a:srgbClr val="01B0F1"/>
                    </a:solidFill>
                  </a:tcPr>
                </a:tc>
                <a:tc>
                  <a:txBody>
                    <a:bodyPr lIns="0" tIns="0" rIns="0" bIns="0">
                      <a:noAutofit/>
                    </a:bodyPr>
                    <a:p>
                      <a:endParaRPr sz="1100"/>
                    </a:p>
                  </a:txBody>
                  <a:tcPr marL="0" marR="0" marT="0" marB="0">
                    <a:solidFill>
                      <a:srgbClr val="CAF1FF"/>
                    </a:solidFill>
                  </a:tcPr>
                </a:tc>
              </a:tr>
              <a:tr h="728472">
                <a:tc>
                  <a:txBody>
                    <a:bodyPr lIns="0" tIns="0" rIns="0" bIns="0">
                      <a:noAutofit/>
                    </a:bodyPr>
                    <a:p>
                      <a:pPr indent="0"/>
                      <a:r>
                        <a:rPr lang="en-US" b="1" sz="1300">
                          <a:latin typeface="Calibri"/>
                        </a:rPr>
                        <a:t>Description</a:t>
                      </a:r>
                    </a:p>
                  </a:txBody>
                  <a:tcPr marL="0" marR="0" marT="0" marB="0" anchor="ctr">
                    <a:solidFill>
                      <a:srgbClr val="01B0F1"/>
                    </a:solidFill>
                  </a:tcPr>
                </a:tc>
                <a:tc>
                  <a:txBody>
                    <a:bodyPr lIns="0" tIns="0" rIns="0" bIns="0">
                      <a:noAutofit/>
                    </a:bodyPr>
                    <a:p>
                      <a:pPr indent="0">
                        <a:lnSpc>
                          <a:spcPts val="1800"/>
                        </a:lnSpc>
                      </a:pPr>
                      <a:r>
                        <a:rPr lang="en-US" b="1" sz="1300">
                          <a:latin typeface="Calibri"/>
                        </a:rPr>
                        <a:t>As </a:t>
                      </a:r>
                      <a:r>
                        <a:rPr lang="en-US" sz="1200">
                          <a:latin typeface="Calibri"/>
                        </a:rPr>
                        <a:t>a user</a:t>
                      </a:r>
                    </a:p>
                    <a:p>
                      <a:pPr marR="1333500" indent="0">
                        <a:lnSpc>
                          <a:spcPts val="1800"/>
                        </a:lnSpc>
                      </a:pPr>
                      <a:r>
                        <a:rPr lang="en-US" b="1" sz="1300">
                          <a:latin typeface="Calibri"/>
                        </a:rPr>
                        <a:t>I like </a:t>
                      </a:r>
                      <a:r>
                        <a:rPr lang="en-US" sz="1200">
                          <a:latin typeface="Calibri"/>
                        </a:rPr>
                        <a:t>to log in to a app and use services </a:t>
                      </a:r>
                      <a:r>
                        <a:rPr lang="en-US" b="1" sz="1300">
                          <a:latin typeface="Calibri"/>
                        </a:rPr>
                        <a:t>So </a:t>
                      </a:r>
                      <a:r>
                        <a:rPr lang="en-US" sz="1200">
                          <a:latin typeface="Calibri"/>
                        </a:rPr>
                        <a:t>I will Enter with my email and pass</a:t>
                      </a:r>
                    </a:p>
                  </a:txBody>
                  <a:tcPr marL="0" marR="0" marT="0" marB="0">
                    <a:solidFill>
                      <a:srgbClr val="CAF1FF"/>
                    </a:solidFill>
                  </a:tcPr>
                </a:tc>
              </a:tr>
              <a:tr h="210312">
                <a:tc>
                  <a:txBody>
                    <a:bodyPr lIns="0" tIns="0" rIns="0" bIns="0">
                      <a:noAutofit/>
                    </a:bodyPr>
                    <a:p>
                      <a:pPr indent="0"/>
                      <a:r>
                        <a:rPr lang="en-US" b="1" sz="1300">
                          <a:latin typeface="Calibri"/>
                        </a:rPr>
                        <a:t>Per condition</a:t>
                      </a:r>
                    </a:p>
                  </a:txBody>
                  <a:tcPr marL="0" marR="0" marT="0" marB="0" anchor="b">
                    <a:solidFill>
                      <a:srgbClr val="01B0F1"/>
                    </a:solidFill>
                  </a:tcPr>
                </a:tc>
                <a:tc>
                  <a:txBody>
                    <a:bodyPr lIns="0" tIns="0" rIns="0" bIns="0">
                      <a:noAutofit/>
                    </a:bodyPr>
                    <a:p>
                      <a:pPr indent="0"/>
                      <a:r>
                        <a:rPr lang="en-US" sz="1200">
                          <a:latin typeface="Calibri"/>
                        </a:rPr>
                        <a:t>Input data must be valid</a:t>
                      </a:r>
                    </a:p>
                  </a:txBody>
                  <a:tcPr marL="0" marR="0" marT="0" marB="0" anchor="b">
                    <a:solidFill>
                      <a:srgbClr val="CAF1FF"/>
                    </a:solidFill>
                  </a:tcPr>
                </a:tc>
              </a:tr>
              <a:tr h="225552">
                <a:tc>
                  <a:txBody>
                    <a:bodyPr lIns="0" tIns="0" rIns="0" bIns="0">
                      <a:noAutofit/>
                    </a:bodyPr>
                    <a:p>
                      <a:pPr indent="0"/>
                      <a:r>
                        <a:rPr lang="en-US" b="1" sz="1300">
                          <a:latin typeface="Calibri"/>
                        </a:rPr>
                        <a:t>Post condition</a:t>
                      </a:r>
                    </a:p>
                  </a:txBody>
                  <a:tcPr marL="0" marR="0" marT="0" marB="0" anchor="b">
                    <a:solidFill>
                      <a:srgbClr val="01B0F1"/>
                    </a:solidFill>
                  </a:tcPr>
                </a:tc>
                <a:tc>
                  <a:txBody>
                    <a:bodyPr lIns="0" tIns="0" rIns="0" bIns="0">
                      <a:noAutofit/>
                    </a:bodyPr>
                    <a:p>
                      <a:endParaRPr sz="1100"/>
                    </a:p>
                  </a:txBody>
                  <a:tcPr marL="0" marR="0" marT="0" marB="0">
                    <a:solidFill>
                      <a:srgbClr val="CAF1FF"/>
                    </a:solidFill>
                  </a:tcPr>
                </a:tc>
              </a:tr>
              <a:tr h="1155192">
                <a:tc>
                  <a:txBody>
                    <a:bodyPr lIns="0" tIns="0" rIns="0" bIns="0">
                      <a:noAutofit/>
                    </a:bodyPr>
                    <a:p>
                      <a:pPr indent="0"/>
                      <a:r>
                        <a:rPr lang="en-US" b="1" sz="1300">
                          <a:latin typeface="Calibri"/>
                        </a:rPr>
                        <a:t>Acceptance Criteria</a:t>
                      </a:r>
                    </a:p>
                  </a:txBody>
                  <a:tcPr marL="0" marR="0" marT="0" marB="0" anchor="ctr">
                    <a:solidFill>
                      <a:srgbClr val="01B0F1"/>
                    </a:solidFill>
                  </a:tcPr>
                </a:tc>
                <a:tc>
                  <a:txBody>
                    <a:bodyPr lIns="0" tIns="0" rIns="0" bIns="0">
                      <a:noAutofit/>
                    </a:bodyPr>
                    <a:p>
                      <a:pPr indent="0">
                        <a:lnSpc>
                          <a:spcPts val="1608"/>
                        </a:lnSpc>
                      </a:pPr>
                      <a:r>
                        <a:rPr lang="en-US" b="1" sz="1300">
                          <a:latin typeface="Calibri"/>
                        </a:rPr>
                        <a:t>Given </a:t>
                      </a:r>
                      <a:r>
                        <a:rPr lang="en-US" sz="1200">
                          <a:latin typeface="Calibri"/>
                        </a:rPr>
                        <a:t>I’m a logged-out system user and I’m on the Sign-In page</a:t>
                      </a:r>
                    </a:p>
                    <a:p>
                      <a:pPr indent="0">
                        <a:lnSpc>
                          <a:spcPts val="1584"/>
                        </a:lnSpc>
                      </a:pPr>
                      <a:r>
                        <a:rPr lang="en-US" b="1" sz="1300">
                          <a:latin typeface="Calibri"/>
                        </a:rPr>
                        <a:t>When </a:t>
                      </a:r>
                      <a:r>
                        <a:rPr lang="en-US" sz="1200">
                          <a:latin typeface="Calibri"/>
                        </a:rPr>
                        <a:t>I fill in the "Email” and "Password” fields with my authentication credentials and I click the Sign-In button</a:t>
                      </a:r>
                    </a:p>
                    <a:p>
                      <a:pPr indent="0"/>
                      <a:r>
                        <a:rPr lang="en-US" b="1" sz="1300">
                          <a:latin typeface="Calibri"/>
                        </a:rPr>
                        <a:t>Then </a:t>
                      </a:r>
                      <a:r>
                        <a:rPr lang="en-US" sz="1200">
                          <a:latin typeface="Calibri"/>
                        </a:rPr>
                        <a:t>the system signs me in</a:t>
                      </a:r>
                    </a:p>
                  </a:txBody>
                  <a:tcPr marL="0" marR="0" marT="0" marB="0">
                    <a:solidFill>
                      <a:srgbClr val="CAF1FF"/>
                    </a:solidFill>
                  </a:tcPr>
                </a:tc>
              </a:tr>
            </a:tbl>
          </a:graphicData>
        </a:graphic>
      </p:graphicFrame>
      <p:sp>
        <p:nvSpPr>
          <p:cNvPr id="7" name=""/>
          <p:cNvSpPr/>
          <p:nvPr/>
        </p:nvSpPr>
        <p:spPr>
          <a:xfrm>
            <a:off x="1130808" y="7589520"/>
            <a:ext cx="957072" cy="161544"/>
          </a:xfrm>
          <a:prstGeom prst="rect">
            <a:avLst/>
          </a:prstGeom>
        </p:spPr>
        <p:txBody>
          <a:bodyPr lIns="0" tIns="0" rIns="0" bIns="0" wrap="none">
            <a:noAutofit/>
          </a:bodyPr>
          <a:p>
            <a:pPr indent="0">
              <a:spcBef>
                <a:spcPts val="1680"/>
              </a:spcBef>
              <a:spcAft>
                <a:spcPts val="630"/>
              </a:spcAft>
            </a:pPr>
            <a:r>
              <a:rPr lang="en-US" b="1" sz="1300">
                <a:latin typeface="Calibri"/>
              </a:rPr>
              <a:t>• </a:t>
            </a:r>
            <a:r>
              <a:rPr lang="en-US" b="1" sz="1300">
                <a:solidFill>
                  <a:srgbClr val="1F3864"/>
                </a:solidFill>
                <a:latin typeface="Calibri"/>
              </a:rPr>
              <a:t>Scenarios</a:t>
            </a:r>
          </a:p>
        </p:txBody>
      </p:sp>
      <p:sp>
        <p:nvSpPr>
          <p:cNvPr id="8" name=""/>
          <p:cNvSpPr/>
          <p:nvPr/>
        </p:nvSpPr>
        <p:spPr>
          <a:xfrm>
            <a:off x="1365504" y="7882128"/>
            <a:ext cx="1155192" cy="152400"/>
          </a:xfrm>
          <a:prstGeom prst="rect">
            <a:avLst/>
          </a:prstGeom>
        </p:spPr>
        <p:txBody>
          <a:bodyPr lIns="0" tIns="0" rIns="0" bIns="0" wrap="none">
            <a:noAutofit/>
          </a:bodyPr>
          <a:p>
            <a:pPr indent="0">
              <a:spcBef>
                <a:spcPts val="630"/>
              </a:spcBef>
            </a:pPr>
            <a:r>
              <a:rPr lang="en-US" b="1" sz="1300">
                <a:solidFill>
                  <a:srgbClr val="1F3864"/>
                </a:solidFill>
                <a:latin typeface="Calibri"/>
              </a:rPr>
              <a:t>Normal Scenario</a:t>
            </a:r>
          </a:p>
        </p:txBody>
      </p:sp>
      <p:graphicFrame>
        <p:nvGraphicFramePr>
          <p:cNvPr id="9" name=""/>
          <p:cNvGraphicFramePr>
            <a:graphicFrameLocks noGrp="1"/>
          </p:cNvGraphicFramePr>
          <p:nvPr/>
        </p:nvGraphicFramePr>
        <p:xfrm>
          <a:off x="1508760" y="8101584"/>
          <a:ext cx="5443728" cy="655320"/>
        </p:xfrm>
        <a:graphic>
          <a:graphicData uri="http://schemas.openxmlformats.org/drawingml/2006/table">
            <a:tbl>
              <a:tblPr/>
              <a:tblGrid>
                <a:gridCol w="2776728"/>
                <a:gridCol w="2667000"/>
              </a:tblGrid>
              <a:tr h="195072">
                <a:tc>
                  <a:txBody>
                    <a:bodyPr lIns="0" tIns="0" rIns="0" bIns="0">
                      <a:noAutofit/>
                    </a:bodyPr>
                    <a:p>
                      <a:pPr marL="838200" indent="0"/>
                      <a:r>
                        <a:rPr lang="en-US" b="1" sz="1300">
                          <a:solidFill>
                            <a:srgbClr val="FFFFFF"/>
                          </a:solidFill>
                          <a:latin typeface="Calibri"/>
                        </a:rPr>
                        <a:t>Actor Action</a:t>
                      </a:r>
                    </a:p>
                  </a:txBody>
                  <a:tcPr marL="0" marR="0" marT="0" marB="0" anchor="b">
                    <a:solidFill>
                      <a:srgbClr val="4473C5"/>
                    </a:solidFill>
                  </a:tcPr>
                </a:tc>
                <a:tc>
                  <a:txBody>
                    <a:bodyPr lIns="0" tIns="0" rIns="0" bIns="0">
                      <a:noAutofit/>
                    </a:bodyPr>
                    <a:p>
                      <a:pPr algn="ctr" indent="0"/>
                      <a:r>
                        <a:rPr lang="en-US" b="1" sz="1300">
                          <a:solidFill>
                            <a:srgbClr val="FFFFFF"/>
                          </a:solidFill>
                          <a:latin typeface="Calibri"/>
                        </a:rPr>
                        <a:t>System Response</a:t>
                      </a:r>
                    </a:p>
                  </a:txBody>
                  <a:tcPr marL="0" marR="0" marT="0" marB="0" anchor="b">
                    <a:solidFill>
                      <a:srgbClr val="4473C5"/>
                    </a:solidFill>
                  </a:tcPr>
                </a:tc>
              </a:tr>
              <a:tr h="460248">
                <a:tc>
                  <a:txBody>
                    <a:bodyPr lIns="0" tIns="0" rIns="0" bIns="0">
                      <a:noAutofit/>
                    </a:bodyPr>
                    <a:p>
                      <a:pPr algn="just" indent="0">
                        <a:spcAft>
                          <a:spcPts val="420"/>
                        </a:spcAft>
                      </a:pPr>
                      <a:r>
                        <a:rPr lang="en-US" sz="1200">
                          <a:latin typeface="Calibri"/>
                        </a:rPr>
                        <a:t>1-    User Enter program</a:t>
                      </a:r>
                    </a:p>
                    <a:p>
                      <a:pPr algn="just" indent="0"/>
                      <a:r>
                        <a:rPr lang="en-US" sz="1200">
                          <a:latin typeface="Calibri"/>
                        </a:rPr>
                        <a:t>2-    User clicks log-in</a:t>
                      </a:r>
                    </a:p>
                  </a:txBody>
                  <a:tcPr marL="0" marR="0" marT="0" marB="0" anchor="b">
                    <a:solidFill>
                      <a:srgbClr val="DEEAF6"/>
                    </a:solidFill>
                  </a:tcPr>
                </a:tc>
                <a:tc>
                  <a:txBody>
                    <a:bodyPr lIns="0" tIns="0" rIns="0" bIns="0">
                      <a:noAutofit/>
                    </a:bodyPr>
                    <a:p>
                      <a:endParaRPr sz="2200"/>
                    </a:p>
                  </a:txBody>
                  <a:tcPr marL="0" marR="0" marT="0" marB="0">
                    <a:solidFill>
                      <a:srgbClr val="DEEAF6"/>
                    </a:solidFill>
                  </a:tcPr>
                </a:tc>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graphicFrame>
        <p:nvGraphicFramePr>
          <p:cNvPr id="2" name=""/>
          <p:cNvGraphicFramePr>
            <a:graphicFrameLocks noGrp="1"/>
          </p:cNvGraphicFramePr>
          <p:nvPr/>
        </p:nvGraphicFramePr>
        <p:xfrm>
          <a:off x="1508760" y="908304"/>
          <a:ext cx="5443728" cy="1575816"/>
        </p:xfrm>
        <a:graphic>
          <a:graphicData uri="http://schemas.openxmlformats.org/drawingml/2006/table">
            <a:tbl>
              <a:tblPr/>
              <a:tblGrid>
                <a:gridCol w="2776728"/>
                <a:gridCol w="2667000"/>
              </a:tblGrid>
              <a:tr h="667512">
                <a:tc>
                  <a:txBody>
                    <a:bodyPr lIns="0" tIns="0" rIns="0" bIns="0">
                      <a:noAutofit/>
                    </a:bodyPr>
                    <a:p>
                      <a:endParaRPr sz="3200"/>
                    </a:p>
                  </a:txBody>
                  <a:tcPr marL="0" marR="0" marT="0" marB="0">
                    <a:solidFill>
                      <a:srgbClr val="DEEAF6"/>
                    </a:solidFill>
                  </a:tcPr>
                </a:tc>
                <a:tc>
                  <a:txBody>
                    <a:bodyPr lIns="0" tIns="0" rIns="0" bIns="0">
                      <a:noAutofit/>
                    </a:bodyPr>
                    <a:p>
                      <a:pPr indent="0">
                        <a:lnSpc>
                          <a:spcPts val="1680"/>
                        </a:lnSpc>
                      </a:pPr>
                      <a:r>
                        <a:rPr lang="en-US" sz="1200">
                          <a:latin typeface="Calibri"/>
                        </a:rPr>
                        <a:t>3-    System displays (Email &amp; password) Fields</a:t>
                      </a:r>
                    </a:p>
                    <a:p>
                      <a:pPr algn="just" indent="0">
                        <a:lnSpc>
                          <a:spcPts val="1680"/>
                        </a:lnSpc>
                      </a:pPr>
                      <a:r>
                        <a:rPr lang="en-US" sz="1200">
                          <a:latin typeface="Calibri"/>
                        </a:rPr>
                        <a:t>4-    System ask user to enter log-in data</a:t>
                      </a:r>
                    </a:p>
                  </a:txBody>
                  <a:tcPr marL="0" marR="0" marT="0" marB="0">
                    <a:solidFill>
                      <a:srgbClr val="DEEAF6"/>
                    </a:solidFill>
                  </a:tcPr>
                </a:tc>
              </a:tr>
              <a:tr h="240792">
                <a:tc>
                  <a:txBody>
                    <a:bodyPr lIns="0" tIns="0" rIns="0" bIns="0">
                      <a:noAutofit/>
                    </a:bodyPr>
                    <a:p>
                      <a:pPr indent="0"/>
                      <a:r>
                        <a:rPr lang="en-US" sz="1200">
                          <a:latin typeface="Calibri"/>
                        </a:rPr>
                        <a:t>5- User enter his data</a:t>
                      </a:r>
                    </a:p>
                  </a:txBody>
                  <a:tcPr marL="0" marR="0" marT="0" marB="0">
                    <a:solidFill>
                      <a:srgbClr val="DEEAF6"/>
                    </a:solidFill>
                  </a:tcPr>
                </a:tc>
                <a:tc>
                  <a:txBody>
                    <a:bodyPr lIns="0" tIns="0" rIns="0" bIns="0">
                      <a:noAutofit/>
                    </a:bodyPr>
                    <a:p>
                      <a:endParaRPr sz="1200"/>
                    </a:p>
                  </a:txBody>
                  <a:tcPr marL="0" marR="0" marT="0" marB="0">
                    <a:solidFill>
                      <a:srgbClr val="DEEAF6"/>
                    </a:solidFill>
                  </a:tcPr>
                </a:tc>
              </a:tr>
              <a:tr h="667512">
                <a:tc>
                  <a:txBody>
                    <a:bodyPr lIns="0" tIns="0" rIns="0" bIns="0">
                      <a:noAutofit/>
                    </a:bodyPr>
                    <a:p>
                      <a:endParaRPr sz="3200"/>
                    </a:p>
                  </a:txBody>
                  <a:tcPr marL="0" marR="0" marT="0" marB="0">
                    <a:solidFill>
                      <a:srgbClr val="DEEAF6"/>
                    </a:solidFill>
                  </a:tcPr>
                </a:tc>
                <a:tc>
                  <a:txBody>
                    <a:bodyPr lIns="0" tIns="0" rIns="0" bIns="0">
                      <a:noAutofit/>
                    </a:bodyPr>
                    <a:p>
                      <a:pPr algn="just" indent="0">
                        <a:lnSpc>
                          <a:spcPts val="1704"/>
                        </a:lnSpc>
                      </a:pPr>
                      <a:r>
                        <a:rPr lang="en-US" sz="1200">
                          <a:latin typeface="Calibri"/>
                        </a:rPr>
                        <a:t>6-    System process and verify exists data</a:t>
                      </a:r>
                    </a:p>
                    <a:p>
                      <a:pPr indent="0">
                        <a:lnSpc>
                          <a:spcPts val="1704"/>
                        </a:lnSpc>
                      </a:pPr>
                      <a:r>
                        <a:rPr lang="en-US" sz="1200">
                          <a:latin typeface="Calibri"/>
                        </a:rPr>
                        <a:t>7-    System enter the user and direct him to home page</a:t>
                      </a:r>
                    </a:p>
                  </a:txBody>
                  <a:tcPr marL="0" marR="0" marT="0" marB="0" anchor="b">
                    <a:solidFill>
                      <a:srgbClr val="DEEAF6"/>
                    </a:solidFill>
                  </a:tcPr>
                </a:tc>
              </a:tr>
            </a:tbl>
          </a:graphicData>
        </a:graphic>
      </p:graphicFrame>
      <p:sp>
        <p:nvSpPr>
          <p:cNvPr id="3" name=""/>
          <p:cNvSpPr/>
          <p:nvPr/>
        </p:nvSpPr>
        <p:spPr>
          <a:xfrm>
            <a:off x="1130808" y="2621280"/>
            <a:ext cx="1664208" cy="179832"/>
          </a:xfrm>
          <a:prstGeom prst="rect">
            <a:avLst/>
          </a:prstGeom>
        </p:spPr>
        <p:txBody>
          <a:bodyPr lIns="0" tIns="0" rIns="0" bIns="0" wrap="none">
            <a:noAutofit/>
          </a:bodyPr>
          <a:p>
            <a:pPr indent="0">
              <a:spcBef>
                <a:spcPts val="630"/>
              </a:spcBef>
            </a:pPr>
            <a:r>
              <a:rPr lang="en-US" b="1" sz="1300">
                <a:solidFill>
                  <a:srgbClr val="1F3864"/>
                </a:solidFill>
                <a:latin typeface="Calibri"/>
              </a:rPr>
              <a:t>• Exceptional Scenario</a:t>
            </a:r>
          </a:p>
        </p:txBody>
      </p:sp>
      <p:graphicFrame>
        <p:nvGraphicFramePr>
          <p:cNvPr id="4" name=""/>
          <p:cNvGraphicFramePr>
            <a:graphicFrameLocks noGrp="1"/>
          </p:cNvGraphicFramePr>
          <p:nvPr/>
        </p:nvGraphicFramePr>
        <p:xfrm>
          <a:off x="1508760" y="2840736"/>
          <a:ext cx="5443728" cy="2691384"/>
        </p:xfrm>
        <a:graphic>
          <a:graphicData uri="http://schemas.openxmlformats.org/drawingml/2006/table">
            <a:tbl>
              <a:tblPr/>
              <a:tblGrid>
                <a:gridCol w="2776728"/>
                <a:gridCol w="2667000"/>
              </a:tblGrid>
              <a:tr h="195072">
                <a:tc>
                  <a:txBody>
                    <a:bodyPr lIns="0" tIns="0" rIns="0" bIns="0">
                      <a:noAutofit/>
                    </a:bodyPr>
                    <a:p>
                      <a:pPr marL="838200" indent="0"/>
                      <a:r>
                        <a:rPr lang="en-US" b="1" sz="1300">
                          <a:solidFill>
                            <a:srgbClr val="FFFFFF"/>
                          </a:solidFill>
                          <a:latin typeface="Calibri"/>
                        </a:rPr>
                        <a:t>Actor Action</a:t>
                      </a:r>
                    </a:p>
                  </a:txBody>
                  <a:tcPr marL="0" marR="0" marT="0" marB="0" anchor="b">
                    <a:solidFill>
                      <a:srgbClr val="4473C5"/>
                    </a:solidFill>
                  </a:tcPr>
                </a:tc>
                <a:tc>
                  <a:txBody>
                    <a:bodyPr lIns="0" tIns="0" rIns="0" bIns="0">
                      <a:noAutofit/>
                    </a:bodyPr>
                    <a:p>
                      <a:pPr algn="ctr" indent="0"/>
                      <a:r>
                        <a:rPr lang="en-US" b="1" sz="1300">
                          <a:solidFill>
                            <a:srgbClr val="FFFFFF"/>
                          </a:solidFill>
                          <a:latin typeface="Calibri"/>
                        </a:rPr>
                        <a:t>System Response</a:t>
                      </a:r>
                    </a:p>
                  </a:txBody>
                  <a:tcPr marL="0" marR="0" marT="0" marB="0" anchor="b">
                    <a:solidFill>
                      <a:srgbClr val="4473C5"/>
                    </a:solidFill>
                  </a:tcPr>
                </a:tc>
              </a:tr>
              <a:tr h="469392">
                <a:tc>
                  <a:txBody>
                    <a:bodyPr lIns="0" tIns="0" rIns="0" bIns="0">
                      <a:noAutofit/>
                    </a:bodyPr>
                    <a:p>
                      <a:pPr algn="just" indent="0">
                        <a:spcAft>
                          <a:spcPts val="420"/>
                        </a:spcAft>
                      </a:pPr>
                      <a:r>
                        <a:rPr lang="en-US" sz="1200">
                          <a:latin typeface="Calibri"/>
                        </a:rPr>
                        <a:t>1-    User Enter program</a:t>
                      </a:r>
                    </a:p>
                    <a:p>
                      <a:pPr algn="just" indent="0"/>
                      <a:r>
                        <a:rPr lang="en-US" sz="1200">
                          <a:latin typeface="Calibri"/>
                        </a:rPr>
                        <a:t>2-    User clicks log-in</a:t>
                      </a:r>
                    </a:p>
                  </a:txBody>
                  <a:tcPr marL="0" marR="0" marT="0" marB="0" anchor="b">
                    <a:solidFill>
                      <a:srgbClr val="DEEAF6"/>
                    </a:solidFill>
                  </a:tcPr>
                </a:tc>
                <a:tc>
                  <a:txBody>
                    <a:bodyPr lIns="0" tIns="0" rIns="0" bIns="0">
                      <a:noAutofit/>
                    </a:bodyPr>
                    <a:p>
                      <a:endParaRPr sz="2300"/>
                    </a:p>
                  </a:txBody>
                  <a:tcPr marL="0" marR="0" marT="0" marB="0">
                    <a:solidFill>
                      <a:srgbClr val="DEEAF6"/>
                    </a:solidFill>
                  </a:tcPr>
                </a:tc>
              </a:tr>
              <a:tr h="676656">
                <a:tc>
                  <a:txBody>
                    <a:bodyPr lIns="0" tIns="0" rIns="0" bIns="0">
                      <a:noAutofit/>
                    </a:bodyPr>
                    <a:p>
                      <a:endParaRPr sz="3200"/>
                    </a:p>
                  </a:txBody>
                  <a:tcPr marL="0" marR="0" marT="0" marB="0">
                    <a:solidFill>
                      <a:srgbClr val="DEEAF6"/>
                    </a:solidFill>
                  </a:tcPr>
                </a:tc>
                <a:tc>
                  <a:txBody>
                    <a:bodyPr lIns="0" tIns="0" rIns="0" bIns="0">
                      <a:noAutofit/>
                    </a:bodyPr>
                    <a:p>
                      <a:pPr indent="0">
                        <a:lnSpc>
                          <a:spcPts val="1680"/>
                        </a:lnSpc>
                      </a:pPr>
                      <a:r>
                        <a:rPr lang="en-US" sz="1200">
                          <a:latin typeface="Calibri"/>
                        </a:rPr>
                        <a:t>3-    System displays (Email &amp; password) Fields</a:t>
                      </a:r>
                    </a:p>
                    <a:p>
                      <a:pPr algn="just" indent="0">
                        <a:lnSpc>
                          <a:spcPts val="1680"/>
                        </a:lnSpc>
                      </a:pPr>
                      <a:r>
                        <a:rPr lang="en-US" sz="1200">
                          <a:latin typeface="Calibri"/>
                        </a:rPr>
                        <a:t>4-    System ask user to enter log-in data</a:t>
                      </a:r>
                    </a:p>
                  </a:txBody>
                  <a:tcPr marL="0" marR="0" marT="0" marB="0">
                    <a:solidFill>
                      <a:srgbClr val="DEEAF6"/>
                    </a:solidFill>
                  </a:tcPr>
                </a:tc>
              </a:tr>
              <a:tr h="213360">
                <a:tc>
                  <a:txBody>
                    <a:bodyPr lIns="0" tIns="0" rIns="0" bIns="0">
                      <a:noAutofit/>
                    </a:bodyPr>
                    <a:p>
                      <a:pPr algn="just" indent="0"/>
                      <a:r>
                        <a:rPr lang="en-US" sz="1200">
                          <a:latin typeface="Calibri"/>
                        </a:rPr>
                        <a:t>5- User Enters invalid (Email or password)</a:t>
                      </a:r>
                    </a:p>
                  </a:txBody>
                  <a:tcPr marL="0" marR="0" marT="0" marB="0" anchor="b">
                    <a:solidFill>
                      <a:srgbClr val="DEEAF6"/>
                    </a:solidFill>
                  </a:tcPr>
                </a:tc>
                <a:tc>
                  <a:txBody>
                    <a:bodyPr lIns="0" tIns="0" rIns="0" bIns="0">
                      <a:noAutofit/>
                    </a:bodyPr>
                    <a:p>
                      <a:endParaRPr sz="1100"/>
                    </a:p>
                  </a:txBody>
                  <a:tcPr marL="0" marR="0" marT="0" marB="0">
                    <a:solidFill>
                      <a:srgbClr val="DEEAF6"/>
                    </a:solidFill>
                  </a:tcPr>
                </a:tc>
              </a:tr>
              <a:tr h="1136904">
                <a:tc>
                  <a:txBody>
                    <a:bodyPr lIns="0" tIns="0" rIns="0" bIns="0">
                      <a:noAutofit/>
                    </a:bodyPr>
                    <a:p>
                      <a:endParaRPr sz="5400"/>
                    </a:p>
                  </a:txBody>
                  <a:tcPr marL="0" marR="0" marT="0" marB="0">
                    <a:solidFill>
                      <a:srgbClr val="DEEAF6"/>
                    </a:solidFill>
                  </a:tcPr>
                </a:tc>
                <a:tc>
                  <a:txBody>
                    <a:bodyPr lIns="0" tIns="0" rIns="0" bIns="0">
                      <a:noAutofit/>
                    </a:bodyPr>
                    <a:p>
                      <a:pPr indent="0">
                        <a:lnSpc>
                          <a:spcPts val="1464"/>
                        </a:lnSpc>
                      </a:pPr>
                      <a:r>
                        <a:rPr lang="en-US" sz="1200">
                          <a:latin typeface="Calibri"/>
                        </a:rPr>
                        <a:t>6-    System process and Verify (Email or password)</a:t>
                      </a:r>
                    </a:p>
                    <a:p>
                      <a:pPr indent="0">
                        <a:lnSpc>
                          <a:spcPts val="1464"/>
                        </a:lnSpc>
                      </a:pPr>
                      <a:r>
                        <a:rPr lang="en-US" sz="1200">
                          <a:latin typeface="Calibri"/>
                        </a:rPr>
                        <a:t>7-    Email doesn't exist in database or wrong password</a:t>
                      </a:r>
                    </a:p>
                    <a:p>
                      <a:pPr indent="0">
                        <a:lnSpc>
                          <a:spcPts val="1464"/>
                        </a:lnSpc>
                      </a:pPr>
                      <a:r>
                        <a:rPr lang="en-US" sz="1200">
                          <a:latin typeface="Calibri"/>
                        </a:rPr>
                        <a:t>8- System display message with problem and ask user to fix it</a:t>
                      </a:r>
                    </a:p>
                  </a:txBody>
                  <a:tcPr marL="0" marR="0" marT="0" marB="0" anchor="b">
                    <a:solidFill>
                      <a:srgbClr val="DEEAF6"/>
                    </a:solidFill>
                  </a:tcPr>
                </a:tc>
              </a:tr>
            </a:tbl>
          </a:graphicData>
        </a:graphic>
      </p:graphicFrame>
      <p:sp>
        <p:nvSpPr>
          <p:cNvPr id="5" name=""/>
          <p:cNvSpPr/>
          <p:nvPr/>
        </p:nvSpPr>
        <p:spPr>
          <a:xfrm>
            <a:off x="1130808" y="5769864"/>
            <a:ext cx="1234440" cy="185928"/>
          </a:xfrm>
          <a:prstGeom prst="rect">
            <a:avLst/>
          </a:prstGeom>
        </p:spPr>
        <p:txBody>
          <a:bodyPr lIns="0" tIns="0" rIns="0" bIns="0" wrap="none">
            <a:noAutofit/>
          </a:bodyPr>
          <a:p>
            <a:pPr indent="0">
              <a:spcBef>
                <a:spcPts val="1260"/>
              </a:spcBef>
            </a:pPr>
            <a:r>
              <a:rPr lang="en-US" b="1" sz="1300">
                <a:solidFill>
                  <a:srgbClr val="1F3864"/>
                </a:solidFill>
                <a:latin typeface="Calibri"/>
              </a:rPr>
              <a:t>• User Story #3</a:t>
            </a:r>
          </a:p>
        </p:txBody>
      </p:sp>
      <p:graphicFrame>
        <p:nvGraphicFramePr>
          <p:cNvPr id="6" name=""/>
          <p:cNvGraphicFramePr>
            <a:graphicFrameLocks noGrp="1"/>
          </p:cNvGraphicFramePr>
          <p:nvPr/>
        </p:nvGraphicFramePr>
        <p:xfrm>
          <a:off x="1490472" y="6025896"/>
          <a:ext cx="5462016" cy="2776728"/>
        </p:xfrm>
        <a:graphic>
          <a:graphicData uri="http://schemas.openxmlformats.org/drawingml/2006/table">
            <a:tbl>
              <a:tblPr/>
              <a:tblGrid>
                <a:gridCol w="1447800"/>
                <a:gridCol w="4014216"/>
              </a:tblGrid>
              <a:tr h="228600">
                <a:tc>
                  <a:txBody>
                    <a:bodyPr lIns="0" tIns="0" rIns="0" bIns="0">
                      <a:noAutofit/>
                    </a:bodyPr>
                    <a:p>
                      <a:pPr indent="0"/>
                      <a:r>
                        <a:rPr lang="en-US" b="1" sz="1300">
                          <a:latin typeface="Calibri"/>
                        </a:rPr>
                        <a:t>User Story ID</a:t>
                      </a:r>
                    </a:p>
                  </a:txBody>
                  <a:tcPr marL="0" marR="0" marT="0" marB="0" anchor="b">
                    <a:solidFill>
                      <a:srgbClr val="01B0F1"/>
                    </a:solidFill>
                  </a:tcPr>
                </a:tc>
                <a:tc>
                  <a:txBody>
                    <a:bodyPr lIns="0" tIns="0" rIns="0" bIns="0">
                      <a:noAutofit/>
                    </a:bodyPr>
                    <a:p>
                      <a:pPr indent="0"/>
                      <a:r>
                        <a:rPr lang="en-US" sz="1200">
                          <a:latin typeface="Calibri"/>
                        </a:rPr>
                        <a:t>US #3</a:t>
                      </a:r>
                    </a:p>
                  </a:txBody>
                  <a:tcPr marL="0" marR="0" marT="0" marB="0" anchor="b">
                    <a:solidFill>
                      <a:srgbClr val="CAF1FF"/>
                    </a:solidFill>
                  </a:tcPr>
                </a:tc>
              </a:tr>
              <a:tr h="210312">
                <a:tc>
                  <a:txBody>
                    <a:bodyPr lIns="0" tIns="0" rIns="0" bIns="0">
                      <a:noAutofit/>
                    </a:bodyPr>
                    <a:p>
                      <a:pPr indent="0"/>
                      <a:r>
                        <a:rPr lang="en-US" b="1" sz="1300">
                          <a:latin typeface="Calibri"/>
                        </a:rPr>
                        <a:t>User Story Name</a:t>
                      </a:r>
                    </a:p>
                  </a:txBody>
                  <a:tcPr marL="0" marR="0" marT="0" marB="0" anchor="b">
                    <a:solidFill>
                      <a:srgbClr val="01B0F1"/>
                    </a:solidFill>
                  </a:tcPr>
                </a:tc>
                <a:tc>
                  <a:txBody>
                    <a:bodyPr lIns="0" tIns="0" rIns="0" bIns="0">
                      <a:noAutofit/>
                    </a:bodyPr>
                    <a:p>
                      <a:pPr indent="0"/>
                      <a:r>
                        <a:rPr lang="en-US" sz="1200">
                          <a:latin typeface="Calibri"/>
                        </a:rPr>
                        <a:t>Add income</a:t>
                      </a:r>
                    </a:p>
                  </a:txBody>
                  <a:tcPr marL="0" marR="0" marT="0" marB="0" anchor="b">
                    <a:solidFill>
                      <a:srgbClr val="CAF1FF"/>
                    </a:solidFill>
                  </a:tcPr>
                </a:tc>
              </a:tr>
              <a:tr h="231648">
                <a:tc>
                  <a:txBody>
                    <a:bodyPr lIns="0" tIns="0" rIns="0" bIns="0">
                      <a:noAutofit/>
                    </a:bodyPr>
                    <a:p>
                      <a:pPr indent="0"/>
                      <a:r>
                        <a:rPr lang="en-US" b="1" sz="1300">
                          <a:latin typeface="Calibri"/>
                        </a:rPr>
                        <a:t>Actors</a:t>
                      </a:r>
                    </a:p>
                  </a:txBody>
                  <a:tcPr marL="0" marR="0" marT="0" marB="0" anchor="b">
                    <a:solidFill>
                      <a:srgbClr val="01B0F1"/>
                    </a:solidFill>
                  </a:tcPr>
                </a:tc>
                <a:tc>
                  <a:txBody>
                    <a:bodyPr lIns="0" tIns="0" rIns="0" bIns="0">
                      <a:noAutofit/>
                    </a:bodyPr>
                    <a:p>
                      <a:endParaRPr sz="1100"/>
                    </a:p>
                  </a:txBody>
                  <a:tcPr marL="0" marR="0" marT="0" marB="0">
                    <a:solidFill>
                      <a:srgbClr val="CAF1FF"/>
                    </a:solidFill>
                  </a:tcPr>
                </a:tc>
              </a:tr>
              <a:tr h="920496">
                <a:tc>
                  <a:txBody>
                    <a:bodyPr lIns="0" tIns="0" rIns="0" bIns="0">
                      <a:noAutofit/>
                    </a:bodyPr>
                    <a:p>
                      <a:pPr indent="0"/>
                      <a:r>
                        <a:rPr lang="en-US" b="1" sz="1300">
                          <a:latin typeface="Calibri"/>
                        </a:rPr>
                        <a:t>Description</a:t>
                      </a:r>
                    </a:p>
                  </a:txBody>
                  <a:tcPr marL="0" marR="0" marT="0" marB="0" anchor="ctr">
                    <a:solidFill>
                      <a:srgbClr val="01B0F1"/>
                    </a:solidFill>
                  </a:tcPr>
                </a:tc>
                <a:tc>
                  <a:txBody>
                    <a:bodyPr lIns="0" tIns="0" rIns="0" bIns="0">
                      <a:noAutofit/>
                    </a:bodyPr>
                    <a:p>
                      <a:pPr indent="0">
                        <a:spcAft>
                          <a:spcPts val="420"/>
                        </a:spcAft>
                      </a:pPr>
                      <a:r>
                        <a:rPr lang="en-US" b="1" sz="1300">
                          <a:latin typeface="Calibri"/>
                        </a:rPr>
                        <a:t>As </a:t>
                      </a:r>
                      <a:r>
                        <a:rPr lang="en-US" sz="1200">
                          <a:latin typeface="Calibri"/>
                        </a:rPr>
                        <a:t>a user</a:t>
                      </a:r>
                    </a:p>
                    <a:p>
                      <a:pPr indent="0">
                        <a:spcAft>
                          <a:spcPts val="420"/>
                        </a:spcAft>
                      </a:pPr>
                      <a:r>
                        <a:rPr lang="en-US" b="1" sz="1300">
                          <a:latin typeface="Calibri"/>
                        </a:rPr>
                        <a:t>I like </a:t>
                      </a:r>
                      <a:r>
                        <a:rPr lang="en-US" sz="1200">
                          <a:latin typeface="Calibri"/>
                        </a:rPr>
                        <a:t>to enter my income and budget to be managed</a:t>
                      </a:r>
                    </a:p>
                    <a:p>
                      <a:pPr indent="0">
                        <a:lnSpc>
                          <a:spcPts val="1512"/>
                        </a:lnSpc>
                      </a:pPr>
                      <a:r>
                        <a:rPr lang="en-US" b="1" sz="1300">
                          <a:latin typeface="Calibri"/>
                        </a:rPr>
                        <a:t>So </a:t>
                      </a:r>
                      <a:r>
                        <a:rPr lang="en-US" sz="1200">
                          <a:latin typeface="Calibri"/>
                        </a:rPr>
                        <a:t>I will Enter with my total income and different resources to it</a:t>
                      </a:r>
                    </a:p>
                  </a:txBody>
                  <a:tcPr marL="0" marR="0" marT="0" marB="0">
                    <a:solidFill>
                      <a:srgbClr val="CAF1FF"/>
                    </a:solidFill>
                  </a:tcPr>
                </a:tc>
              </a:tr>
              <a:tr h="210312">
                <a:tc>
                  <a:txBody>
                    <a:bodyPr lIns="0" tIns="0" rIns="0" bIns="0">
                      <a:noAutofit/>
                    </a:bodyPr>
                    <a:p>
                      <a:pPr indent="0"/>
                      <a:r>
                        <a:rPr lang="en-US" b="1" sz="1300">
                          <a:latin typeface="Calibri"/>
                        </a:rPr>
                        <a:t>Per condition</a:t>
                      </a:r>
                    </a:p>
                  </a:txBody>
                  <a:tcPr marL="0" marR="0" marT="0" marB="0" anchor="b">
                    <a:solidFill>
                      <a:srgbClr val="01B0F1"/>
                    </a:solidFill>
                  </a:tcPr>
                </a:tc>
                <a:tc>
                  <a:txBody>
                    <a:bodyPr lIns="0" tIns="0" rIns="0" bIns="0">
                      <a:noAutofit/>
                    </a:bodyPr>
                    <a:p>
                      <a:pPr indent="0"/>
                      <a:r>
                        <a:rPr lang="en-US" sz="1200">
                          <a:latin typeface="Calibri"/>
                        </a:rPr>
                        <a:t>Already loged-in</a:t>
                      </a:r>
                    </a:p>
                  </a:txBody>
                  <a:tcPr marL="0" marR="0" marT="0" marB="0" anchor="b">
                    <a:solidFill>
                      <a:srgbClr val="CAF1FF"/>
                    </a:solidFill>
                  </a:tcPr>
                </a:tc>
              </a:tr>
              <a:tr h="222504">
                <a:tc>
                  <a:txBody>
                    <a:bodyPr lIns="0" tIns="0" rIns="0" bIns="0">
                      <a:noAutofit/>
                    </a:bodyPr>
                    <a:p>
                      <a:pPr indent="0"/>
                      <a:r>
                        <a:rPr lang="en-US" b="1" sz="1300">
                          <a:latin typeface="Calibri"/>
                        </a:rPr>
                        <a:t>Post condition</a:t>
                      </a:r>
                    </a:p>
                  </a:txBody>
                  <a:tcPr marL="0" marR="0" marT="0" marB="0" anchor="b">
                    <a:solidFill>
                      <a:srgbClr val="01B0F1"/>
                    </a:solidFill>
                  </a:tcPr>
                </a:tc>
                <a:tc>
                  <a:txBody>
                    <a:bodyPr lIns="0" tIns="0" rIns="0" bIns="0">
                      <a:noAutofit/>
                    </a:bodyPr>
                    <a:p>
                      <a:endParaRPr sz="1100"/>
                    </a:p>
                  </a:txBody>
                  <a:tcPr marL="0" marR="0" marT="0" marB="0">
                    <a:solidFill>
                      <a:srgbClr val="CAF1FF"/>
                    </a:solidFill>
                  </a:tcPr>
                </a:tc>
              </a:tr>
              <a:tr h="752856">
                <a:tc>
                  <a:txBody>
                    <a:bodyPr lIns="0" tIns="0" rIns="0" bIns="0">
                      <a:noAutofit/>
                    </a:bodyPr>
                    <a:p>
                      <a:pPr indent="0"/>
                      <a:r>
                        <a:rPr lang="en-US" b="1" sz="1300">
                          <a:latin typeface="Calibri"/>
                        </a:rPr>
                        <a:t>Acceptance Criteria</a:t>
                      </a:r>
                    </a:p>
                  </a:txBody>
                  <a:tcPr marL="0" marR="0" marT="0" marB="0" anchor="ctr">
                    <a:solidFill>
                      <a:srgbClr val="01B0F1"/>
                    </a:solidFill>
                  </a:tcPr>
                </a:tc>
                <a:tc>
                  <a:txBody>
                    <a:bodyPr lIns="0" tIns="0" rIns="0" bIns="0">
                      <a:noAutofit/>
                    </a:bodyPr>
                    <a:p>
                      <a:pPr indent="0">
                        <a:lnSpc>
                          <a:spcPts val="1896"/>
                        </a:lnSpc>
                      </a:pPr>
                      <a:r>
                        <a:rPr lang="en-US" b="1" sz="1300">
                          <a:latin typeface="Calibri"/>
                        </a:rPr>
                        <a:t>Given </a:t>
                      </a:r>
                      <a:r>
                        <a:rPr lang="en-US" sz="1200">
                          <a:latin typeface="Calibri"/>
                        </a:rPr>
                        <a:t>a enter income page or option </a:t>
                      </a:r>
                      <a:r>
                        <a:rPr lang="en-US" b="1" sz="1300">
                          <a:latin typeface="Calibri"/>
                        </a:rPr>
                        <a:t>When </a:t>
                      </a:r>
                      <a:r>
                        <a:rPr lang="en-US" sz="1200">
                          <a:latin typeface="Calibri"/>
                        </a:rPr>
                        <a:t>I enter my total income</a:t>
                      </a:r>
                    </a:p>
                    <a:p>
                      <a:pPr indent="0">
                        <a:lnSpc>
                          <a:spcPts val="1896"/>
                        </a:lnSpc>
                      </a:pPr>
                      <a:r>
                        <a:rPr lang="en-US" b="1" sz="1300">
                          <a:latin typeface="Calibri"/>
                        </a:rPr>
                        <a:t>Then </a:t>
                      </a:r>
                      <a:r>
                        <a:rPr lang="en-US" sz="1200">
                          <a:latin typeface="Calibri"/>
                        </a:rPr>
                        <a:t>the system saves it and display a success message</a:t>
                      </a:r>
                    </a:p>
                  </a:txBody>
                  <a:tcPr marL="0" marR="0" marT="0" marB="0">
                    <a:solidFill>
                      <a:srgbClr val="CAF1FF"/>
                    </a:solidFill>
                  </a:tcPr>
                </a:tc>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sp>
        <p:nvSpPr>
          <p:cNvPr id="2" name=""/>
          <p:cNvSpPr/>
          <p:nvPr/>
        </p:nvSpPr>
        <p:spPr>
          <a:xfrm>
            <a:off x="1130808" y="950976"/>
            <a:ext cx="1240536" cy="185928"/>
          </a:xfrm>
          <a:prstGeom prst="rect">
            <a:avLst/>
          </a:prstGeom>
        </p:spPr>
        <p:txBody>
          <a:bodyPr lIns="0" tIns="0" rIns="0" bIns="0" wrap="none">
            <a:noAutofit/>
          </a:bodyPr>
          <a:p>
            <a:pPr indent="0"/>
            <a:r>
              <a:rPr lang="en-US" b="1" sz="1400">
                <a:solidFill>
                  <a:srgbClr val="1F3864"/>
                </a:solidFill>
                <a:latin typeface="Calibri"/>
              </a:rPr>
              <a:t>• User Story #4</a:t>
            </a:r>
          </a:p>
        </p:txBody>
      </p:sp>
      <p:graphicFrame>
        <p:nvGraphicFramePr>
          <p:cNvPr id="3" name=""/>
          <p:cNvGraphicFramePr>
            <a:graphicFrameLocks noGrp="1"/>
          </p:cNvGraphicFramePr>
          <p:nvPr/>
        </p:nvGraphicFramePr>
        <p:xfrm>
          <a:off x="1490472" y="1207008"/>
          <a:ext cx="5462016" cy="2785872"/>
        </p:xfrm>
        <a:graphic>
          <a:graphicData uri="http://schemas.openxmlformats.org/drawingml/2006/table">
            <a:tbl>
              <a:tblPr/>
              <a:tblGrid>
                <a:gridCol w="1447800"/>
                <a:gridCol w="4014216"/>
              </a:tblGrid>
              <a:tr h="228600">
                <a:tc>
                  <a:txBody>
                    <a:bodyPr lIns="0" tIns="0" rIns="0" bIns="0">
                      <a:noAutofit/>
                    </a:bodyPr>
                    <a:p>
                      <a:pPr indent="0"/>
                      <a:r>
                        <a:rPr lang="en-US" b="1" sz="1300">
                          <a:latin typeface="Calibri"/>
                        </a:rPr>
                        <a:t>User Story ID</a:t>
                      </a:r>
                    </a:p>
                  </a:txBody>
                  <a:tcPr marL="0" marR="0" marT="0" marB="0" anchor="b">
                    <a:solidFill>
                      <a:srgbClr val="01B0F1"/>
                    </a:solidFill>
                  </a:tcPr>
                </a:tc>
                <a:tc>
                  <a:txBody>
                    <a:bodyPr lIns="0" tIns="0" rIns="0" bIns="0">
                      <a:noAutofit/>
                    </a:bodyPr>
                    <a:p>
                      <a:pPr indent="0"/>
                      <a:r>
                        <a:rPr lang="en-US" sz="1200">
                          <a:latin typeface="Calibri"/>
                        </a:rPr>
                        <a:t>US #4</a:t>
                      </a:r>
                    </a:p>
                  </a:txBody>
                  <a:tcPr marL="0" marR="0" marT="0" marB="0" anchor="b">
                    <a:solidFill>
                      <a:srgbClr val="CAF1FF"/>
                    </a:solidFill>
                  </a:tcPr>
                </a:tc>
              </a:tr>
              <a:tr h="210312">
                <a:tc>
                  <a:txBody>
                    <a:bodyPr lIns="0" tIns="0" rIns="0" bIns="0">
                      <a:noAutofit/>
                    </a:bodyPr>
                    <a:p>
                      <a:pPr indent="0"/>
                      <a:r>
                        <a:rPr lang="en-US" b="1" sz="1300">
                          <a:latin typeface="Calibri"/>
                        </a:rPr>
                        <a:t>User Story Name</a:t>
                      </a:r>
                    </a:p>
                  </a:txBody>
                  <a:tcPr marL="0" marR="0" marT="0" marB="0" anchor="b">
                    <a:solidFill>
                      <a:srgbClr val="01B0F1"/>
                    </a:solidFill>
                  </a:tcPr>
                </a:tc>
                <a:tc>
                  <a:txBody>
                    <a:bodyPr lIns="0" tIns="0" rIns="0" bIns="0">
                      <a:noAutofit/>
                    </a:bodyPr>
                    <a:p>
                      <a:pPr indent="0"/>
                      <a:r>
                        <a:rPr lang="en-US" sz="1200">
                          <a:latin typeface="Calibri"/>
                        </a:rPr>
                        <a:t>Set Budget</a:t>
                      </a:r>
                    </a:p>
                  </a:txBody>
                  <a:tcPr marL="0" marR="0" marT="0" marB="0" anchor="b">
                    <a:solidFill>
                      <a:srgbClr val="CAF1FF"/>
                    </a:solidFill>
                  </a:tcPr>
                </a:tc>
              </a:tr>
              <a:tr h="243840">
                <a:tc>
                  <a:txBody>
                    <a:bodyPr lIns="0" tIns="0" rIns="0" bIns="0">
                      <a:noAutofit/>
                    </a:bodyPr>
                    <a:p>
                      <a:pPr indent="0"/>
                      <a:r>
                        <a:rPr lang="en-US" b="1" sz="1300">
                          <a:latin typeface="Calibri"/>
                        </a:rPr>
                        <a:t>Actors</a:t>
                      </a:r>
                    </a:p>
                  </a:txBody>
                  <a:tcPr marL="0" marR="0" marT="0" marB="0" anchor="b">
                    <a:solidFill>
                      <a:srgbClr val="01B0F1"/>
                    </a:solidFill>
                  </a:tcPr>
                </a:tc>
                <a:tc>
                  <a:txBody>
                    <a:bodyPr lIns="0" tIns="0" rIns="0" bIns="0">
                      <a:noAutofit/>
                    </a:bodyPr>
                    <a:p>
                      <a:endParaRPr sz="1200"/>
                    </a:p>
                  </a:txBody>
                  <a:tcPr marL="0" marR="0" marT="0" marB="0">
                    <a:solidFill>
                      <a:srgbClr val="CAF1FF"/>
                    </a:solidFill>
                  </a:tcPr>
                </a:tc>
              </a:tr>
              <a:tr h="710184">
                <a:tc>
                  <a:txBody>
                    <a:bodyPr lIns="0" tIns="0" rIns="0" bIns="0">
                      <a:noAutofit/>
                    </a:bodyPr>
                    <a:p>
                      <a:pPr indent="0"/>
                      <a:r>
                        <a:rPr lang="en-US" b="1" sz="1300">
                          <a:latin typeface="Calibri"/>
                        </a:rPr>
                        <a:t>Description</a:t>
                      </a:r>
                    </a:p>
                  </a:txBody>
                  <a:tcPr marL="0" marR="0" marT="0" marB="0" anchor="ctr">
                    <a:solidFill>
                      <a:srgbClr val="01B0F1"/>
                    </a:solidFill>
                  </a:tcPr>
                </a:tc>
                <a:tc>
                  <a:txBody>
                    <a:bodyPr lIns="0" tIns="0" rIns="0" bIns="0">
                      <a:noAutofit/>
                    </a:bodyPr>
                    <a:p>
                      <a:pPr indent="0">
                        <a:lnSpc>
                          <a:spcPts val="1800"/>
                        </a:lnSpc>
                      </a:pPr>
                      <a:r>
                        <a:rPr lang="en-US" b="1" sz="1300">
                          <a:latin typeface="Calibri"/>
                        </a:rPr>
                        <a:t>As </a:t>
                      </a:r>
                      <a:r>
                        <a:rPr lang="en-US" sz="1200">
                          <a:latin typeface="Calibri"/>
                        </a:rPr>
                        <a:t>a user</a:t>
                      </a:r>
                    </a:p>
                    <a:p>
                      <a:pPr marR="317500" indent="0">
                        <a:lnSpc>
                          <a:spcPts val="1800"/>
                        </a:lnSpc>
                      </a:pPr>
                      <a:r>
                        <a:rPr lang="en-US" b="1" sz="1300">
                          <a:latin typeface="Calibri"/>
                        </a:rPr>
                        <a:t>I like </a:t>
                      </a:r>
                      <a:r>
                        <a:rPr lang="en-US" sz="1200">
                          <a:latin typeface="Calibri"/>
                        </a:rPr>
                        <a:t>to set a monthly budget for different categories </a:t>
                      </a:r>
                      <a:r>
                        <a:rPr lang="en-US" b="1" sz="1300">
                          <a:latin typeface="Calibri"/>
                        </a:rPr>
                        <a:t>So </a:t>
                      </a:r>
                      <a:r>
                        <a:rPr lang="en-US" sz="1200">
                          <a:latin typeface="Calibri"/>
                        </a:rPr>
                        <a:t>I can control my spending.</a:t>
                      </a:r>
                    </a:p>
                  </a:txBody>
                  <a:tcPr marL="0" marR="0" marT="0" marB="0">
                    <a:solidFill>
                      <a:srgbClr val="CAF1FF"/>
                    </a:solidFill>
                  </a:tcPr>
                </a:tc>
              </a:tr>
              <a:tr h="219456">
                <a:tc>
                  <a:txBody>
                    <a:bodyPr lIns="0" tIns="0" rIns="0" bIns="0">
                      <a:noAutofit/>
                    </a:bodyPr>
                    <a:p>
                      <a:pPr indent="0"/>
                      <a:r>
                        <a:rPr lang="en-US" b="1" sz="1300">
                          <a:latin typeface="Calibri"/>
                        </a:rPr>
                        <a:t>Per condition</a:t>
                      </a:r>
                    </a:p>
                  </a:txBody>
                  <a:tcPr marL="0" marR="0" marT="0" marB="0" anchor="b">
                    <a:solidFill>
                      <a:srgbClr val="01B0F1"/>
                    </a:solidFill>
                  </a:tcPr>
                </a:tc>
                <a:tc>
                  <a:txBody>
                    <a:bodyPr lIns="0" tIns="0" rIns="0" bIns="0">
                      <a:noAutofit/>
                    </a:bodyPr>
                    <a:p>
                      <a:endParaRPr sz="1100"/>
                    </a:p>
                  </a:txBody>
                  <a:tcPr marL="0" marR="0" marT="0" marB="0">
                    <a:solidFill>
                      <a:srgbClr val="CAF1FF"/>
                    </a:solidFill>
                  </a:tcPr>
                </a:tc>
              </a:tr>
              <a:tr h="219456">
                <a:tc>
                  <a:txBody>
                    <a:bodyPr lIns="0" tIns="0" rIns="0" bIns="0">
                      <a:noAutofit/>
                    </a:bodyPr>
                    <a:p>
                      <a:pPr indent="0"/>
                      <a:r>
                        <a:rPr lang="en-US" b="1" sz="1300">
                          <a:latin typeface="Calibri"/>
                        </a:rPr>
                        <a:t>Post condition</a:t>
                      </a:r>
                    </a:p>
                  </a:txBody>
                  <a:tcPr marL="0" marR="0" marT="0" marB="0" anchor="b">
                    <a:solidFill>
                      <a:srgbClr val="01B0F1"/>
                    </a:solidFill>
                  </a:tcPr>
                </a:tc>
                <a:tc>
                  <a:txBody>
                    <a:bodyPr lIns="0" tIns="0" rIns="0" bIns="0">
                      <a:noAutofit/>
                    </a:bodyPr>
                    <a:p>
                      <a:endParaRPr sz="1100"/>
                    </a:p>
                  </a:txBody>
                  <a:tcPr marL="0" marR="0" marT="0" marB="0">
                    <a:solidFill>
                      <a:srgbClr val="CAF1FF"/>
                    </a:solidFill>
                  </a:tcPr>
                </a:tc>
              </a:tr>
              <a:tr h="954024">
                <a:tc>
                  <a:txBody>
                    <a:bodyPr lIns="0" tIns="0" rIns="0" bIns="0">
                      <a:noAutofit/>
                    </a:bodyPr>
                    <a:p>
                      <a:pPr indent="0"/>
                      <a:r>
                        <a:rPr lang="en-US" b="1" sz="1300">
                          <a:latin typeface="Calibri"/>
                        </a:rPr>
                        <a:t>Acceptance Criteria</a:t>
                      </a:r>
                    </a:p>
                  </a:txBody>
                  <a:tcPr marL="0" marR="0" marT="0" marB="0" anchor="ctr">
                    <a:solidFill>
                      <a:srgbClr val="01B0F1"/>
                    </a:solidFill>
                  </a:tcPr>
                </a:tc>
                <a:tc>
                  <a:txBody>
                    <a:bodyPr lIns="0" tIns="0" rIns="0" bIns="0">
                      <a:noAutofit/>
                    </a:bodyPr>
                    <a:p>
                      <a:pPr indent="0">
                        <a:lnSpc>
                          <a:spcPts val="1896"/>
                        </a:lnSpc>
                      </a:pPr>
                      <a:r>
                        <a:rPr lang="en-US" b="1" sz="1300">
                          <a:latin typeface="Calibri"/>
                        </a:rPr>
                        <a:t>Given </a:t>
                      </a:r>
                      <a:r>
                        <a:rPr lang="en-US" sz="1200">
                          <a:latin typeface="Calibri"/>
                        </a:rPr>
                        <a:t>page for save money</a:t>
                      </a:r>
                    </a:p>
                    <a:p>
                      <a:pPr indent="0">
                        <a:lnSpc>
                          <a:spcPts val="1896"/>
                        </a:lnSpc>
                      </a:pPr>
                      <a:r>
                        <a:rPr lang="en-US" b="1" sz="1300">
                          <a:latin typeface="Calibri"/>
                        </a:rPr>
                        <a:t>When </a:t>
                      </a:r>
                      <a:r>
                        <a:rPr lang="en-US" sz="1200">
                          <a:latin typeface="Calibri"/>
                        </a:rPr>
                        <a:t>I enter my income and target</a:t>
                      </a:r>
                    </a:p>
                    <a:p>
                      <a:pPr indent="0">
                        <a:lnSpc>
                          <a:spcPts val="1896"/>
                        </a:lnSpc>
                      </a:pPr>
                      <a:r>
                        <a:rPr lang="en-US" b="1" sz="1300">
                          <a:latin typeface="Calibri"/>
                        </a:rPr>
                        <a:t>Then </a:t>
                      </a:r>
                      <a:r>
                        <a:rPr lang="en-US" sz="1200">
                          <a:latin typeface="Calibri"/>
                        </a:rPr>
                        <a:t>the system start make a calculations to reach my</a:t>
                      </a:r>
                    </a:p>
                    <a:p>
                      <a:pPr indent="0"/>
                      <a:r>
                        <a:rPr lang="en-US" sz="1200">
                          <a:latin typeface="Calibri"/>
                        </a:rPr>
                        <a:t>target</a:t>
                      </a:r>
                    </a:p>
                  </a:txBody>
                  <a:tcPr marL="0" marR="0" marT="0" marB="0">
                    <a:solidFill>
                      <a:srgbClr val="CAF1FF"/>
                    </a:solidFill>
                  </a:tcPr>
                </a:tc>
              </a:tr>
            </a:tbl>
          </a:graphicData>
        </a:graphic>
      </p:graphicFrame>
      <p:sp>
        <p:nvSpPr>
          <p:cNvPr id="4" name=""/>
          <p:cNvSpPr/>
          <p:nvPr/>
        </p:nvSpPr>
        <p:spPr>
          <a:xfrm>
            <a:off x="1133856" y="4053840"/>
            <a:ext cx="1234440" cy="185928"/>
          </a:xfrm>
          <a:prstGeom prst="rect">
            <a:avLst/>
          </a:prstGeom>
        </p:spPr>
        <p:txBody>
          <a:bodyPr lIns="0" tIns="0" rIns="0" bIns="0" wrap="none">
            <a:noAutofit/>
          </a:bodyPr>
          <a:p>
            <a:pPr indent="0">
              <a:spcBef>
                <a:spcPts val="420"/>
              </a:spcBef>
            </a:pPr>
            <a:r>
              <a:rPr lang="en-US" b="1" sz="1300">
                <a:solidFill>
                  <a:srgbClr val="1F3864"/>
                </a:solidFill>
                <a:latin typeface="Calibri"/>
              </a:rPr>
              <a:t>• User Story #5</a:t>
            </a:r>
          </a:p>
        </p:txBody>
      </p:sp>
      <p:graphicFrame>
        <p:nvGraphicFramePr>
          <p:cNvPr id="5" name=""/>
          <p:cNvGraphicFramePr>
            <a:graphicFrameLocks noGrp="1"/>
          </p:cNvGraphicFramePr>
          <p:nvPr/>
        </p:nvGraphicFramePr>
        <p:xfrm>
          <a:off x="1490472" y="4309872"/>
          <a:ext cx="5462016" cy="2810256"/>
        </p:xfrm>
        <a:graphic>
          <a:graphicData uri="http://schemas.openxmlformats.org/drawingml/2006/table">
            <a:tbl>
              <a:tblPr/>
              <a:tblGrid>
                <a:gridCol w="1447800"/>
                <a:gridCol w="4014216"/>
              </a:tblGrid>
              <a:tr h="228600">
                <a:tc>
                  <a:txBody>
                    <a:bodyPr lIns="0" tIns="0" rIns="0" bIns="0">
                      <a:noAutofit/>
                    </a:bodyPr>
                    <a:p>
                      <a:pPr indent="0"/>
                      <a:r>
                        <a:rPr lang="en-US" b="1" sz="1300">
                          <a:latin typeface="Calibri"/>
                        </a:rPr>
                        <a:t>User Story ID</a:t>
                      </a:r>
                    </a:p>
                  </a:txBody>
                  <a:tcPr marL="0" marR="0" marT="0" marB="0" anchor="b">
                    <a:solidFill>
                      <a:srgbClr val="01B0F1"/>
                    </a:solidFill>
                  </a:tcPr>
                </a:tc>
                <a:tc>
                  <a:txBody>
                    <a:bodyPr lIns="0" tIns="0" rIns="0" bIns="0">
                      <a:noAutofit/>
                    </a:bodyPr>
                    <a:p>
                      <a:pPr indent="0"/>
                      <a:r>
                        <a:rPr lang="en-US" sz="1200">
                          <a:latin typeface="Calibri"/>
                        </a:rPr>
                        <a:t>US #5</a:t>
                      </a:r>
                    </a:p>
                  </a:txBody>
                  <a:tcPr marL="0" marR="0" marT="0" marB="0" anchor="b">
                    <a:solidFill>
                      <a:srgbClr val="CAF1FF"/>
                    </a:solidFill>
                  </a:tcPr>
                </a:tc>
              </a:tr>
              <a:tr h="213360">
                <a:tc>
                  <a:txBody>
                    <a:bodyPr lIns="0" tIns="0" rIns="0" bIns="0">
                      <a:noAutofit/>
                    </a:bodyPr>
                    <a:p>
                      <a:pPr indent="0"/>
                      <a:r>
                        <a:rPr lang="en-US" b="1" sz="1300">
                          <a:latin typeface="Calibri"/>
                        </a:rPr>
                        <a:t>User Story Name</a:t>
                      </a:r>
                    </a:p>
                  </a:txBody>
                  <a:tcPr marL="0" marR="0" marT="0" marB="0" anchor="b">
                    <a:solidFill>
                      <a:srgbClr val="01B0F1"/>
                    </a:solidFill>
                  </a:tcPr>
                </a:tc>
                <a:tc>
                  <a:txBody>
                    <a:bodyPr lIns="0" tIns="0" rIns="0" bIns="0">
                      <a:noAutofit/>
                    </a:bodyPr>
                    <a:p>
                      <a:pPr indent="0"/>
                      <a:r>
                        <a:rPr lang="en-US" sz="1200">
                          <a:latin typeface="Calibri"/>
                        </a:rPr>
                        <a:t>Automatic Bill Payments</a:t>
                      </a:r>
                    </a:p>
                  </a:txBody>
                  <a:tcPr marL="0" marR="0" marT="0" marB="0" anchor="b">
                    <a:solidFill>
                      <a:srgbClr val="CAF1FF"/>
                    </a:solidFill>
                  </a:tcPr>
                </a:tc>
              </a:tr>
              <a:tr h="234696">
                <a:tc>
                  <a:txBody>
                    <a:bodyPr lIns="0" tIns="0" rIns="0" bIns="0">
                      <a:noAutofit/>
                    </a:bodyPr>
                    <a:p>
                      <a:pPr indent="0"/>
                      <a:r>
                        <a:rPr lang="en-US" b="1" sz="1300">
                          <a:latin typeface="Calibri"/>
                        </a:rPr>
                        <a:t>Actors</a:t>
                      </a:r>
                    </a:p>
                  </a:txBody>
                  <a:tcPr marL="0" marR="0" marT="0" marB="0" anchor="b">
                    <a:solidFill>
                      <a:srgbClr val="01B0F1"/>
                    </a:solidFill>
                  </a:tcPr>
                </a:tc>
                <a:tc>
                  <a:txBody>
                    <a:bodyPr lIns="0" tIns="0" rIns="0" bIns="0">
                      <a:noAutofit/>
                    </a:bodyPr>
                    <a:p>
                      <a:pPr algn="just" indent="0"/>
                      <a:r>
                        <a:rPr lang="en-US" sz="1200">
                          <a:latin typeface="Calibri"/>
                        </a:rPr>
                        <a:t>User</a:t>
                      </a:r>
                    </a:p>
                  </a:txBody>
                  <a:tcPr marL="0" marR="0" marT="0" marB="0" anchor="b">
                    <a:solidFill>
                      <a:srgbClr val="CAF1FF"/>
                    </a:solidFill>
                  </a:tcPr>
                </a:tc>
              </a:tr>
              <a:tr h="740664">
                <a:tc>
                  <a:txBody>
                    <a:bodyPr lIns="0" tIns="0" rIns="0" bIns="0">
                      <a:noAutofit/>
                    </a:bodyPr>
                    <a:p>
                      <a:pPr indent="0"/>
                      <a:r>
                        <a:rPr lang="en-US" b="1" sz="1300">
                          <a:latin typeface="Calibri"/>
                        </a:rPr>
                        <a:t>Description</a:t>
                      </a:r>
                    </a:p>
                  </a:txBody>
                  <a:tcPr marL="0" marR="0" marT="0" marB="0" anchor="ctr">
                    <a:solidFill>
                      <a:srgbClr val="01B0F1"/>
                    </a:solidFill>
                  </a:tcPr>
                </a:tc>
                <a:tc>
                  <a:txBody>
                    <a:bodyPr lIns="0" tIns="0" rIns="0" bIns="0">
                      <a:noAutofit/>
                    </a:bodyPr>
                    <a:p>
                      <a:pPr algn="just" indent="0">
                        <a:spcAft>
                          <a:spcPts val="420"/>
                        </a:spcAft>
                      </a:pPr>
                      <a:r>
                        <a:rPr lang="en-US" b="1" sz="1300">
                          <a:latin typeface="Calibri"/>
                        </a:rPr>
                        <a:t>As </a:t>
                      </a:r>
                      <a:r>
                        <a:rPr lang="en-US" sz="1200">
                          <a:latin typeface="Calibri"/>
                        </a:rPr>
                        <a:t>a user</a:t>
                      </a:r>
                    </a:p>
                    <a:p>
                      <a:pPr algn="just" indent="0">
                        <a:spcAft>
                          <a:spcPts val="420"/>
                        </a:spcAft>
                      </a:pPr>
                      <a:r>
                        <a:rPr lang="en-US" b="1" sz="1300">
                          <a:latin typeface="Calibri"/>
                        </a:rPr>
                        <a:t>I like </a:t>
                      </a:r>
                      <a:r>
                        <a:rPr lang="en-US" sz="1200">
                          <a:latin typeface="Calibri"/>
                        </a:rPr>
                        <a:t>to set up recurring bill payments</a:t>
                      </a:r>
                    </a:p>
                    <a:p>
                      <a:pPr algn="just" indent="0"/>
                      <a:r>
                        <a:rPr lang="en-US" b="1" sz="1300">
                          <a:latin typeface="Calibri"/>
                        </a:rPr>
                        <a:t>So </a:t>
                      </a:r>
                      <a:r>
                        <a:rPr lang="en-US" sz="1200">
                          <a:latin typeface="Calibri"/>
                        </a:rPr>
                        <a:t>I don't have to manually enter them every month.</a:t>
                      </a:r>
                    </a:p>
                  </a:txBody>
                  <a:tcPr marL="0" marR="0" marT="0" marB="0">
                    <a:solidFill>
                      <a:srgbClr val="CAF1FF"/>
                    </a:solidFill>
                  </a:tcPr>
                </a:tc>
              </a:tr>
              <a:tr h="213360">
                <a:tc>
                  <a:txBody>
                    <a:bodyPr lIns="0" tIns="0" rIns="0" bIns="0">
                      <a:noAutofit/>
                    </a:bodyPr>
                    <a:p>
                      <a:pPr indent="0"/>
                      <a:r>
                        <a:rPr lang="en-US" b="1" sz="1300">
                          <a:latin typeface="Calibri"/>
                        </a:rPr>
                        <a:t>Per condition</a:t>
                      </a:r>
                    </a:p>
                  </a:txBody>
                  <a:tcPr marL="0" marR="0" marT="0" marB="0" anchor="b">
                    <a:solidFill>
                      <a:srgbClr val="01B0F1"/>
                    </a:solidFill>
                  </a:tcPr>
                </a:tc>
                <a:tc>
                  <a:txBody>
                    <a:bodyPr lIns="0" tIns="0" rIns="0" bIns="0">
                      <a:noAutofit/>
                    </a:bodyPr>
                    <a:p>
                      <a:endParaRPr sz="1100"/>
                    </a:p>
                  </a:txBody>
                  <a:tcPr marL="0" marR="0" marT="0" marB="0">
                    <a:solidFill>
                      <a:srgbClr val="CAF1FF"/>
                    </a:solidFill>
                  </a:tcPr>
                </a:tc>
              </a:tr>
              <a:tr h="216408">
                <a:tc>
                  <a:txBody>
                    <a:bodyPr lIns="0" tIns="0" rIns="0" bIns="0">
                      <a:noAutofit/>
                    </a:bodyPr>
                    <a:p>
                      <a:pPr indent="0"/>
                      <a:r>
                        <a:rPr lang="en-US" b="1" sz="1300">
                          <a:latin typeface="Calibri"/>
                        </a:rPr>
                        <a:t>Post condition</a:t>
                      </a:r>
                    </a:p>
                  </a:txBody>
                  <a:tcPr marL="0" marR="0" marT="0" marB="0" anchor="b">
                    <a:solidFill>
                      <a:srgbClr val="01B0F1"/>
                    </a:solidFill>
                  </a:tcPr>
                </a:tc>
                <a:tc>
                  <a:txBody>
                    <a:bodyPr lIns="0" tIns="0" rIns="0" bIns="0">
                      <a:noAutofit/>
                    </a:bodyPr>
                    <a:p>
                      <a:endParaRPr sz="1100"/>
                    </a:p>
                  </a:txBody>
                  <a:tcPr marL="0" marR="0" marT="0" marB="0">
                    <a:solidFill>
                      <a:srgbClr val="CAF1FF"/>
                    </a:solidFill>
                  </a:tcPr>
                </a:tc>
              </a:tr>
              <a:tr h="963168">
                <a:tc>
                  <a:txBody>
                    <a:bodyPr lIns="0" tIns="0" rIns="0" bIns="0">
                      <a:noAutofit/>
                    </a:bodyPr>
                    <a:p>
                      <a:pPr indent="0"/>
                      <a:r>
                        <a:rPr lang="en-US" b="1" sz="1300">
                          <a:latin typeface="Calibri"/>
                        </a:rPr>
                        <a:t>Acceptance Criteria</a:t>
                      </a:r>
                    </a:p>
                  </a:txBody>
                  <a:tcPr marL="0" marR="0" marT="0" marB="0" anchor="ctr">
                    <a:solidFill>
                      <a:srgbClr val="01B0F1"/>
                    </a:solidFill>
                  </a:tcPr>
                </a:tc>
                <a:tc>
                  <a:txBody>
                    <a:bodyPr lIns="0" tIns="0" rIns="0" bIns="0">
                      <a:noAutofit/>
                    </a:bodyPr>
                    <a:p>
                      <a:pPr indent="0">
                        <a:lnSpc>
                          <a:spcPts val="1896"/>
                        </a:lnSpc>
                      </a:pPr>
                      <a:r>
                        <a:rPr lang="en-US" b="1" sz="1300">
                          <a:latin typeface="Calibri"/>
                        </a:rPr>
                        <a:t>Given </a:t>
                      </a:r>
                      <a:r>
                        <a:rPr lang="en-US" sz="1200">
                          <a:latin typeface="Calibri"/>
                        </a:rPr>
                        <a:t>page for Recurring Payments </a:t>
                      </a:r>
                      <a:r>
                        <a:rPr lang="en-US" b="1" sz="1300">
                          <a:latin typeface="Calibri"/>
                        </a:rPr>
                        <a:t>When </a:t>
                      </a:r>
                      <a:r>
                        <a:rPr lang="en-US" sz="1200">
                          <a:latin typeface="Calibri"/>
                        </a:rPr>
                        <a:t>I select a time period</a:t>
                      </a:r>
                    </a:p>
                    <a:p>
                      <a:pPr indent="0">
                        <a:lnSpc>
                          <a:spcPts val="1584"/>
                        </a:lnSpc>
                      </a:pPr>
                      <a:r>
                        <a:rPr lang="en-US" b="1" sz="1300">
                          <a:latin typeface="Calibri"/>
                        </a:rPr>
                        <a:t>Then </a:t>
                      </a:r>
                      <a:r>
                        <a:rPr lang="en-US" sz="1200">
                          <a:latin typeface="Calibri"/>
                        </a:rPr>
                        <a:t>the system should deduct the amount automatically on the due date.</a:t>
                      </a:r>
                    </a:p>
                  </a:txBody>
                  <a:tcPr marL="0" marR="0" marT="0" marB="0">
                    <a:solidFill>
                      <a:srgbClr val="CAF1FF"/>
                    </a:solidFill>
                  </a:tcPr>
                </a:tc>
              </a:tr>
            </a:tbl>
          </a:graphicData>
        </a:graphic>
      </p:graphicFrame>
      <p:sp>
        <p:nvSpPr>
          <p:cNvPr id="6" name=""/>
          <p:cNvSpPr/>
          <p:nvPr/>
        </p:nvSpPr>
        <p:spPr>
          <a:xfrm>
            <a:off x="1130808" y="7522464"/>
            <a:ext cx="1234440" cy="185928"/>
          </a:xfrm>
          <a:prstGeom prst="rect">
            <a:avLst/>
          </a:prstGeom>
        </p:spPr>
        <p:txBody>
          <a:bodyPr lIns="0" tIns="0" rIns="0" bIns="0" wrap="none">
            <a:noAutofit/>
          </a:bodyPr>
          <a:p>
            <a:pPr indent="0">
              <a:spcBef>
                <a:spcPts val="2100"/>
              </a:spcBef>
            </a:pPr>
            <a:r>
              <a:rPr lang="en-US" b="1" sz="1300">
                <a:solidFill>
                  <a:srgbClr val="1F3864"/>
                </a:solidFill>
                <a:latin typeface="Calibri"/>
              </a:rPr>
              <a:t>• User Story #7</a:t>
            </a:r>
          </a:p>
        </p:txBody>
      </p:sp>
      <p:graphicFrame>
        <p:nvGraphicFramePr>
          <p:cNvPr id="7" name=""/>
          <p:cNvGraphicFramePr>
            <a:graphicFrameLocks noGrp="1"/>
          </p:cNvGraphicFramePr>
          <p:nvPr/>
        </p:nvGraphicFramePr>
        <p:xfrm>
          <a:off x="1490472" y="7781544"/>
          <a:ext cx="5462016" cy="1179576"/>
        </p:xfrm>
        <a:graphic>
          <a:graphicData uri="http://schemas.openxmlformats.org/drawingml/2006/table">
            <a:tbl>
              <a:tblPr/>
              <a:tblGrid>
                <a:gridCol w="1447800"/>
                <a:gridCol w="4014216"/>
              </a:tblGrid>
              <a:tr h="228600">
                <a:tc>
                  <a:txBody>
                    <a:bodyPr lIns="0" tIns="0" rIns="0" bIns="0">
                      <a:noAutofit/>
                    </a:bodyPr>
                    <a:p>
                      <a:pPr marL="88900" indent="0"/>
                      <a:r>
                        <a:rPr lang="en-US" b="1" sz="1300">
                          <a:latin typeface="Calibri"/>
                        </a:rPr>
                        <a:t>User Story ID</a:t>
                      </a:r>
                    </a:p>
                  </a:txBody>
                  <a:tcPr marL="0" marR="0" marT="0" marB="0" anchor="b">
                    <a:solidFill>
                      <a:srgbClr val="01B0F1"/>
                    </a:solidFill>
                  </a:tcPr>
                </a:tc>
                <a:tc>
                  <a:txBody>
                    <a:bodyPr lIns="0" tIns="0" rIns="0" bIns="0">
                      <a:noAutofit/>
                    </a:bodyPr>
                    <a:p>
                      <a:pPr indent="0"/>
                      <a:r>
                        <a:rPr lang="en-US" sz="1200">
                          <a:latin typeface="Calibri"/>
                        </a:rPr>
                        <a:t>US #7</a:t>
                      </a:r>
                    </a:p>
                  </a:txBody>
                  <a:tcPr marL="0" marR="0" marT="0" marB="0" anchor="b">
                    <a:solidFill>
                      <a:srgbClr val="CAF1FF"/>
                    </a:solidFill>
                  </a:tcPr>
                </a:tc>
              </a:tr>
              <a:tr h="210312">
                <a:tc>
                  <a:txBody>
                    <a:bodyPr lIns="0" tIns="0" rIns="0" bIns="0">
                      <a:noAutofit/>
                    </a:bodyPr>
                    <a:p>
                      <a:pPr marL="88900" indent="0"/>
                      <a:r>
                        <a:rPr lang="en-US" b="1" sz="1300">
                          <a:latin typeface="Calibri"/>
                        </a:rPr>
                        <a:t>User Story Name</a:t>
                      </a:r>
                    </a:p>
                  </a:txBody>
                  <a:tcPr marL="0" marR="0" marT="0" marB="0" anchor="b">
                    <a:solidFill>
                      <a:srgbClr val="01B0F1"/>
                    </a:solidFill>
                  </a:tcPr>
                </a:tc>
                <a:tc>
                  <a:txBody>
                    <a:bodyPr lIns="0" tIns="0" rIns="0" bIns="0">
                      <a:noAutofit/>
                    </a:bodyPr>
                    <a:p>
                      <a:pPr indent="0"/>
                      <a:r>
                        <a:rPr lang="en-US" sz="1200">
                          <a:latin typeface="Calibri"/>
                        </a:rPr>
                        <a:t>View Spending Reports</a:t>
                      </a:r>
                    </a:p>
                  </a:txBody>
                  <a:tcPr marL="0" marR="0" marT="0" marB="0" anchor="b">
                    <a:solidFill>
                      <a:srgbClr val="CAF1FF"/>
                    </a:solidFill>
                  </a:tcPr>
                </a:tc>
              </a:tr>
              <a:tr h="231648">
                <a:tc>
                  <a:txBody>
                    <a:bodyPr lIns="0" tIns="0" rIns="0" bIns="0">
                      <a:noAutofit/>
                    </a:bodyPr>
                    <a:p>
                      <a:pPr marL="88900" indent="0"/>
                      <a:r>
                        <a:rPr lang="en-US" b="1" sz="1300">
                          <a:latin typeface="Calibri"/>
                        </a:rPr>
                        <a:t>Actors</a:t>
                      </a:r>
                    </a:p>
                  </a:txBody>
                  <a:tcPr marL="0" marR="0" marT="0" marB="0" anchor="b">
                    <a:solidFill>
                      <a:srgbClr val="01B0F1"/>
                    </a:solidFill>
                  </a:tcPr>
                </a:tc>
                <a:tc>
                  <a:txBody>
                    <a:bodyPr lIns="0" tIns="0" rIns="0" bIns="0">
                      <a:noAutofit/>
                    </a:bodyPr>
                    <a:p>
                      <a:endParaRPr sz="1100"/>
                    </a:p>
                  </a:txBody>
                  <a:tcPr marL="0" marR="0" marT="0" marB="0">
                    <a:solidFill>
                      <a:srgbClr val="CAF1FF"/>
                    </a:solidFill>
                  </a:tcPr>
                </a:tc>
              </a:tr>
              <a:tr h="509016">
                <a:tc>
                  <a:txBody>
                    <a:bodyPr lIns="0" tIns="0" rIns="0" bIns="0">
                      <a:noAutofit/>
                    </a:bodyPr>
                    <a:p>
                      <a:pPr marL="88900" indent="0"/>
                      <a:r>
                        <a:rPr lang="en-US" b="1" sz="1300">
                          <a:latin typeface="Calibri"/>
                        </a:rPr>
                        <a:t>Description</a:t>
                      </a:r>
                    </a:p>
                  </a:txBody>
                  <a:tcPr marL="0" marR="0" marT="0" marB="0" anchor="ctr">
                    <a:solidFill>
                      <a:srgbClr val="01B0F1"/>
                    </a:solidFill>
                  </a:tcPr>
                </a:tc>
                <a:tc>
                  <a:txBody>
                    <a:bodyPr lIns="0" tIns="0" rIns="0" bIns="0">
                      <a:noAutofit/>
                    </a:bodyPr>
                    <a:p>
                      <a:pPr indent="0">
                        <a:spcAft>
                          <a:spcPts val="420"/>
                        </a:spcAft>
                      </a:pPr>
                      <a:r>
                        <a:rPr lang="en-US" b="1" sz="1300">
                          <a:latin typeface="Calibri"/>
                        </a:rPr>
                        <a:t>As </a:t>
                      </a:r>
                      <a:r>
                        <a:rPr lang="en-US" sz="1200">
                          <a:latin typeface="Calibri"/>
                        </a:rPr>
                        <a:t>a user</a:t>
                      </a:r>
                    </a:p>
                    <a:p>
                      <a:pPr indent="0"/>
                      <a:r>
                        <a:rPr lang="en-US" b="1" sz="1300">
                          <a:latin typeface="Calibri"/>
                        </a:rPr>
                        <a:t>I like </a:t>
                      </a:r>
                      <a:r>
                        <a:rPr lang="en-US" sz="1200">
                          <a:latin typeface="Calibri"/>
                        </a:rPr>
                        <a:t>to see and monitor my treatments and mange my budget</a:t>
                      </a:r>
                    </a:p>
                  </a:txBody>
                  <a:tcPr marL="0" marR="0" marT="0" marB="0">
                    <a:solidFill>
                      <a:srgbClr val="CAF1FF"/>
                    </a:solidFill>
                  </a:tcPr>
                </a:tc>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pic>
        <p:nvPicPr>
          <p:cNvPr id="2" name=""/>
          <p:cNvPicPr>
            <a:picLocks noChangeAspect="1"/>
          </p:cNvPicPr>
          <p:nvPr/>
        </p:nvPicPr>
        <p:blipFill>
          <a:blip r:embed="rPictId0"/>
          <a:stretch>
            <a:fillRect/>
          </a:stretch>
        </p:blipFill>
        <p:spPr>
          <a:xfrm>
            <a:off x="1371600" y="3749040"/>
            <a:ext cx="6126480" cy="4428744"/>
          </a:xfrm>
          <a:prstGeom prst="rect">
            <a:avLst/>
          </a:prstGeom>
        </p:spPr>
      </p:pic>
      <p:graphicFrame>
        <p:nvGraphicFramePr>
          <p:cNvPr id="3" name=""/>
          <p:cNvGraphicFramePr>
            <a:graphicFrameLocks noGrp="1"/>
          </p:cNvGraphicFramePr>
          <p:nvPr/>
        </p:nvGraphicFramePr>
        <p:xfrm>
          <a:off x="1490472" y="908304"/>
          <a:ext cx="5462016" cy="1652016"/>
        </p:xfrm>
        <a:graphic>
          <a:graphicData uri="http://schemas.openxmlformats.org/drawingml/2006/table">
            <a:tbl>
              <a:tblPr/>
              <a:tblGrid>
                <a:gridCol w="1444752"/>
                <a:gridCol w="4017264"/>
              </a:tblGrid>
              <a:tr h="256032">
                <a:tc>
                  <a:txBody>
                    <a:bodyPr lIns="0" tIns="0" rIns="0" bIns="0">
                      <a:noAutofit/>
                    </a:bodyPr>
                    <a:p>
                      <a:endParaRPr sz="1300"/>
                    </a:p>
                  </a:txBody>
                  <a:tcPr marL="0" marR="0" marT="0" marB="0">
                    <a:solidFill>
                      <a:srgbClr val="01B0F1"/>
                    </a:solidFill>
                  </a:tcPr>
                </a:tc>
                <a:tc>
                  <a:txBody>
                    <a:bodyPr lIns="0" tIns="0" rIns="0" bIns="0">
                      <a:noAutofit/>
                    </a:bodyPr>
                    <a:p>
                      <a:pPr indent="0"/>
                      <a:r>
                        <a:rPr lang="en-US" b="1" sz="1300">
                          <a:latin typeface="Calibri"/>
                        </a:rPr>
                        <a:t>So </a:t>
                      </a:r>
                      <a:r>
                        <a:rPr lang="en-US" sz="1200">
                          <a:latin typeface="Calibri"/>
                        </a:rPr>
                        <a:t>I can analyze my financial situation.</a:t>
                      </a:r>
                    </a:p>
                  </a:txBody>
                  <a:tcPr marL="0" marR="0" marT="0" marB="0">
                    <a:solidFill>
                      <a:srgbClr val="CAF1FF"/>
                    </a:solidFill>
                  </a:tcPr>
                </a:tc>
              </a:tr>
              <a:tr h="216408">
                <a:tc>
                  <a:txBody>
                    <a:bodyPr lIns="0" tIns="0" rIns="0" bIns="0">
                      <a:noAutofit/>
                    </a:bodyPr>
                    <a:p>
                      <a:pPr indent="0"/>
                      <a:r>
                        <a:rPr lang="en-US" b="1" sz="1300">
                          <a:latin typeface="Calibri"/>
                        </a:rPr>
                        <a:t>Per condition</a:t>
                      </a:r>
                    </a:p>
                  </a:txBody>
                  <a:tcPr marL="0" marR="0" marT="0" marB="0" anchor="b">
                    <a:solidFill>
                      <a:srgbClr val="01B0F1"/>
                    </a:solidFill>
                  </a:tcPr>
                </a:tc>
                <a:tc>
                  <a:txBody>
                    <a:bodyPr lIns="0" tIns="0" rIns="0" bIns="0">
                      <a:noAutofit/>
                    </a:bodyPr>
                    <a:p>
                      <a:endParaRPr sz="1100"/>
                    </a:p>
                  </a:txBody>
                  <a:tcPr marL="0" marR="0" marT="0" marB="0">
                    <a:solidFill>
                      <a:srgbClr val="CAF1FF"/>
                    </a:solidFill>
                  </a:tcPr>
                </a:tc>
              </a:tr>
              <a:tr h="216408">
                <a:tc>
                  <a:txBody>
                    <a:bodyPr lIns="0" tIns="0" rIns="0" bIns="0">
                      <a:noAutofit/>
                    </a:bodyPr>
                    <a:p>
                      <a:pPr indent="0"/>
                      <a:r>
                        <a:rPr lang="en-US" b="1" sz="1300">
                          <a:latin typeface="Calibri"/>
                        </a:rPr>
                        <a:t>Post condition</a:t>
                      </a:r>
                    </a:p>
                  </a:txBody>
                  <a:tcPr marL="0" marR="0" marT="0" marB="0" anchor="b">
                    <a:solidFill>
                      <a:srgbClr val="01B0F1"/>
                    </a:solidFill>
                  </a:tcPr>
                </a:tc>
                <a:tc>
                  <a:txBody>
                    <a:bodyPr lIns="0" tIns="0" rIns="0" bIns="0">
                      <a:noAutofit/>
                    </a:bodyPr>
                    <a:p>
                      <a:endParaRPr sz="1100"/>
                    </a:p>
                  </a:txBody>
                  <a:tcPr marL="0" marR="0" marT="0" marB="0">
                    <a:solidFill>
                      <a:srgbClr val="CAF1FF"/>
                    </a:solidFill>
                  </a:tcPr>
                </a:tc>
              </a:tr>
              <a:tr h="963168">
                <a:tc>
                  <a:txBody>
                    <a:bodyPr lIns="0" tIns="0" rIns="0" bIns="0">
                      <a:noAutofit/>
                    </a:bodyPr>
                    <a:p>
                      <a:pPr indent="0"/>
                      <a:r>
                        <a:rPr lang="en-US" b="1" sz="1300">
                          <a:latin typeface="Calibri"/>
                        </a:rPr>
                        <a:t>Acceptance Criteria</a:t>
                      </a:r>
                    </a:p>
                  </a:txBody>
                  <a:tcPr marL="0" marR="0" marT="0" marB="0" anchor="ctr">
                    <a:solidFill>
                      <a:srgbClr val="01B0F1"/>
                    </a:solidFill>
                  </a:tcPr>
                </a:tc>
                <a:tc>
                  <a:txBody>
                    <a:bodyPr lIns="0" tIns="0" rIns="0" bIns="0">
                      <a:noAutofit/>
                    </a:bodyPr>
                    <a:p>
                      <a:pPr marR="1574800" indent="0">
                        <a:lnSpc>
                          <a:spcPts val="1920"/>
                        </a:lnSpc>
                      </a:pPr>
                      <a:r>
                        <a:rPr lang="en-US" b="1" sz="1300">
                          <a:latin typeface="Calibri"/>
                        </a:rPr>
                        <a:t>Given </a:t>
                      </a:r>
                      <a:r>
                        <a:rPr lang="en-US" sz="1200">
                          <a:latin typeface="Calibri"/>
                        </a:rPr>
                        <a:t>page for report </a:t>
                      </a:r>
                      <a:r>
                        <a:rPr lang="en-US" b="1" sz="1300">
                          <a:latin typeface="Calibri"/>
                        </a:rPr>
                        <a:t>When </a:t>
                      </a:r>
                      <a:r>
                        <a:rPr lang="en-US" sz="1200">
                          <a:latin typeface="Calibri"/>
                        </a:rPr>
                        <a:t>I select a time period</a:t>
                      </a:r>
                    </a:p>
                    <a:p>
                      <a:pPr indent="0">
                        <a:lnSpc>
                          <a:spcPts val="1584"/>
                        </a:lnSpc>
                      </a:pPr>
                      <a:r>
                        <a:rPr lang="en-US" b="1" sz="1300">
                          <a:latin typeface="Calibri"/>
                        </a:rPr>
                        <a:t>Then </a:t>
                      </a:r>
                      <a:r>
                        <a:rPr lang="en-US" sz="1200">
                          <a:latin typeface="Calibri"/>
                        </a:rPr>
                        <a:t>the system must display graphs, summary for this period</a:t>
                      </a:r>
                    </a:p>
                  </a:txBody>
                  <a:tcPr marL="0" marR="0" marT="0" marB="0">
                    <a:solidFill>
                      <a:srgbClr val="CAF1FF"/>
                    </a:solidFill>
                  </a:tcPr>
                </a:tc>
              </a:tr>
            </a:tbl>
          </a:graphicData>
        </a:graphic>
      </p:graphicFrame>
      <p:sp>
        <p:nvSpPr>
          <p:cNvPr id="4" name=""/>
          <p:cNvSpPr/>
          <p:nvPr/>
        </p:nvSpPr>
        <p:spPr>
          <a:xfrm>
            <a:off x="902208" y="3142488"/>
            <a:ext cx="1923288" cy="201168"/>
          </a:xfrm>
          <a:prstGeom prst="rect">
            <a:avLst/>
          </a:prstGeom>
        </p:spPr>
        <p:txBody>
          <a:bodyPr lIns="0" tIns="0" rIns="0" bIns="0" wrap="none">
            <a:noAutofit/>
          </a:bodyPr>
          <a:p>
            <a:pPr indent="0"/>
            <a:r>
              <a:rPr lang="en-US" sz="1500">
                <a:solidFill>
                  <a:srgbClr val="2F5496"/>
                </a:solidFill>
                <a:latin typeface="Calibri"/>
              </a:rPr>
              <a:t>System Navigation Map</a:t>
            </a:r>
          </a:p>
        </p:txBody>
      </p:sp>
    </p:spTree>
  </p:cSld>
  <p:clrMapOvr>
    <a:overrideClrMapping bg1="lt1" tx1="dk1" bg2="lt2" tx2="dk2" accent1="accent1" accent2="accent2" accent3="accent3" accent4="accent4" accent5="accent5" accent6="accent6" hlink="hlink" folHlink="folHlink"/>
  </p:clrMapOvr>
</p:sld>
</file>

<file path=ppt/theme/theme.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docProps/core.xml><?xml version="1.0" encoding="utf-8"?>
<cp:coreProperties xmlns:cp="http://schemas.openxmlformats.org/package/2006/metadata/core-properties" xmlns:dc="http://purl.org/dc/elements/1.1/">
  <dc:title/>
  <dc:subject/>
  <dc:creator>ahmed essam</dc:creator>
  <cp:keywords/>
</cp:coreProperties>
</file>